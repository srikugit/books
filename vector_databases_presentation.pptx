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presentation by saying: traditional search asks whether words match; vector search asks whether meanings are close. The deck is structured as a journey: first vectors, then embeddings, then similarity, then the challenge of fast search, then ANN and indexes, and finally RAG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Engage the audience with a quick question: What should a search engine return for cheap family car? A keyword engine may miss documents containing affordable compact SUV because no exact word overlaps. Vector search solves this by comparing meaning instead of only matching tokens. This is the motivation for every topic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tells the audience that the presentation will not jump directly into HNSW. We first need a mental model. A good presentation is a story: we want to find meaning; meaning becomes vectors; similar vectors are searched; brute force is too slow; ANN indexes solve speed; vector databases add the operational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beginners, avoid starting with 768 dimensions. Start with a simple arrow: [3, 2]. Then say: in AI, the same idea scales up. Instead of x and y being human-interpretable axes, the dimensions are learned by a model. Nearby points mean semantically similar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embeddings are a translation layer. They translate human-readable or raw data into a numeric representation. A crucial practical rule: do not mix embeddings from different models in the same index unless you intentionally separate them, because vector spaces are not directly compatible.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Cosine similarity is related to dot product because cosine equals dot product divided by the lengths of both vectors. If vectors are normalized to length 1, dot product and cosine similarity become equivalent. Euclidean distance measures absolute distance. Many text embeddings are used with cosine or dot product; the safest answer is to use the metric recommended by the embedding model or vector database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top-K: if K is 5, the system returns the five nearest vectors. Exact search is like checking every book in a library. ANN is like using a clever map of the library to go directly to the most promising shelves. It may not always return the mathematically perfect nearest result, but it is usually close enough and much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 is a broad category. The index is built in advance. Query time is then a guided search. Emphasize that ANN is not random guessing; it is engineered approximation. We tune parameters to control speed and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HNSW means Hierarchical Navigable Small World. Explain it like a road network: highways for long jumps, city roads for local navigation, streets for final precision. BFS and DFS are general graph traversal strategies; they do not use vector distance as a heuristic to jump toward the query. HNSW is built specifically to navigate toward nearest neighbors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prevents a common misconception. Since HNSW is a graph, people ask why not BFS or DFS. The answer is that BFS/DFS have no notion of vector closeness. HNSW graph construction and search strategy are optimized for nearest-neighbor retrieval.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IVF partitions the vector space into cells or clusters. At query time, it searches only the most relevant cells. HNSW uses a navigable graph. IVF can be attractive at huge scale or when paired with compression; HNSW is popular for high recall and low latency. The best choice depends on data size, memory, latency, recall, filters, and update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ingestion pipeline. For documents, chunking is often the most important quality lever. For each chunk, compute an embedding, store it with metadata such as source, date, access permissions, product, language, tenant, and version. Then build the ANN index. Queries follow a symmetric path: embed the query, search the index, filter/rerank, and return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relational index is excellent when the query predicate is exact or ordered. A vector index is for nearest-neighbor ranking in high-dimensional space. In RDBMS, the key ordering is explicit. In vector DB, the distance function defines the notion of closeness.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Metadata is not a side detail. In enterprise systems, it is often the difference between a demo and production. Security filtering matters: a vector DB must not return content a user is not allowed to see. Metadata also improves latency by narrowing the search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is a great place to engage the audience because everyone understands documents. If chunks are too small, a retrieved sentence may be ambiguous. If chunks are too large, the embedding becomes a blend of multiple topics and the LLM gets irrelevant text. Good chunks are self-contained pieces of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often ask whether 1536 dimensions are better than 768. The correct framing is not dimension alone; it is the embedding model, training data, domain fit, metric, and evaluation set. Larger vectors cost more storage and compute. Smaller vectors can be faster and good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Dense embeddings have most dimensions non-zero and are learned by neural models. Sparse representations have many zeros and usually reflect token weights such as BM25 or learned sparse methods. Dense can understand that car and automobile are related. Sparse can ensure that GSTIN, error code, or product code matches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BM25 is a strong lexical baseline. Vector search is strong for meaning. In enterprise search, hybrid is often better than pure vector search because users search for IDs, abbreviations, names, and exact terminology. You can fuse scores using weighted sums, reciprocal rank fusion, or a reranking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way to explain training: the model repeatedly sees examples of things that belong together and things that do not. It adjusts itself so the vectors for matching pairs move closer while non-matching pairs move farther apart. That is why related words and sentences form clusters without a human manually defining every 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stands for retrieval augmented generation. The vector database is not the LLM; it is the memory lookup layer. The LLM receives retrieved chunks in the prompt and uses them to answer. This is why retrieval quality, chunking, metadata, and hybrid search are critical.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frames the vector DB as a production component. It is not just a library for cosine similarity. It supports persistence, indexes, metadata, filtering, scaling, updates, and sometimes hybrid search and reranking integrations.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rely on vibes. Build a query evaluation set from real user questions. For each question, identify the correct chunks or documents. Then compare chunk sizes, embedding models, similarity metrics, HNSW settings, metadata filtering, hybrid weights, and rerankers.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engineering section by highlighting production reality. Teams often focus on algorithms but underestimate permissions, freshness, deletes, re-embedding after model changes, monitoring, and evaluation. A good vector DB architecture handles these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by bringing the concept back to your organization. Ask the audience to think about a specific internal search problem: documentation, policies, customer tickets, product catalog, code, or knowledge base. Then categorize the bottleneck: words, meaning, filters, permissions, chunking, evaluation, or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02920" y="6547104"/>
            <a:ext cx="11173968" cy="0"/>
          </a:xfrm>
          <a:prstGeom prst="line">
            <a:avLst/>
          </a:prstGeom>
          <a:noFill/>
          <a:ln w="12700">
            <a:solidFill>
              <a:srgbClr val="D1D5DB">
                <a:alpha val="60000"/>
              </a:srgbClr>
            </a:solidFill>
            <a:prstDash val="solid"/>
          </a:ln>
        </p:spPr>
      </p:sp>
      <p:sp>
        <p:nvSpPr>
          <p:cNvPr id="3" name="Text 1"/>
          <p:cNvSpPr/>
          <p:nvPr/>
        </p:nvSpPr>
        <p:spPr>
          <a:xfrm>
            <a:off x="594360" y="6583680"/>
            <a:ext cx="2011680" cy="164592"/>
          </a:xfrm>
          <a:prstGeom prst="rect">
            <a:avLst/>
          </a:prstGeom>
          <a:noFill/>
          <a:ln/>
        </p:spPr>
        <p:txBody>
          <a:bodyPr wrap="square" lIns="0" tIns="0" rIns="0" bIns="0" rtlCol="0" anchor="ctr"/>
          <a:lstStyle/>
          <a:p>
            <a:pPr indent="0" marL="0">
              <a:buNone/>
            </a:pPr>
            <a:r>
              <a:rPr lang="en-US" sz="650" dirty="0">
                <a:solidFill>
                  <a:srgbClr val="6B7280"/>
                </a:solidFill>
                <a:latin typeface="Aptos" pitchFamily="34" charset="0"/>
                <a:ea typeface="Aptos" pitchFamily="34" charset="-122"/>
                <a:cs typeface="Aptos" pitchFamily="34" charset="-120"/>
              </a:rPr>
              <a:t>Vector Databases</a:t>
            </a:r>
            <a:endParaRPr lang="en-US" sz="65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5669280" y="548640"/>
            <a:ext cx="73152" cy="73152"/>
          </a:xfrm>
          <a:prstGeom prst="ellipse">
            <a:avLst/>
          </a:prstGeom>
          <a:solidFill>
            <a:srgbClr val="22D3EE">
              <a:alpha val="95000"/>
            </a:srgbClr>
          </a:solidFill>
          <a:ln w="12700">
            <a:solidFill>
              <a:srgbClr val="0F172A">
                <a:alpha val="0"/>
              </a:srgbClr>
            </a:solidFill>
            <a:prstDash val="solid"/>
          </a:ln>
        </p:spPr>
      </p:sp>
      <p:sp>
        <p:nvSpPr>
          <p:cNvPr id="3" name="Shape 1"/>
          <p:cNvSpPr/>
          <p:nvPr/>
        </p:nvSpPr>
        <p:spPr>
          <a:xfrm>
            <a:off x="6373368" y="603504"/>
            <a:ext cx="73152" cy="73152"/>
          </a:xfrm>
          <a:prstGeom prst="ellipse">
            <a:avLst/>
          </a:prstGeom>
          <a:solidFill>
            <a:srgbClr val="60A5FA">
              <a:alpha val="70000"/>
            </a:srgbClr>
          </a:solidFill>
          <a:ln w="12700">
            <a:solidFill>
              <a:srgbClr val="0F172A">
                <a:alpha val="0"/>
              </a:srgbClr>
            </a:solidFill>
            <a:prstDash val="solid"/>
          </a:ln>
        </p:spPr>
      </p:sp>
      <p:sp>
        <p:nvSpPr>
          <p:cNvPr id="4" name="Shape 2"/>
          <p:cNvSpPr/>
          <p:nvPr/>
        </p:nvSpPr>
        <p:spPr>
          <a:xfrm>
            <a:off x="7077456" y="548640"/>
            <a:ext cx="73152" cy="73152"/>
          </a:xfrm>
          <a:prstGeom prst="ellipse">
            <a:avLst/>
          </a:prstGeom>
          <a:solidFill>
            <a:srgbClr val="60A5FA">
              <a:alpha val="70000"/>
            </a:srgbClr>
          </a:solidFill>
          <a:ln w="12700">
            <a:solidFill>
              <a:srgbClr val="0F172A">
                <a:alpha val="0"/>
              </a:srgbClr>
            </a:solidFill>
            <a:prstDash val="solid"/>
          </a:ln>
        </p:spPr>
      </p:sp>
      <p:sp>
        <p:nvSpPr>
          <p:cNvPr id="5" name="Shape 3"/>
          <p:cNvSpPr/>
          <p:nvPr/>
        </p:nvSpPr>
        <p:spPr>
          <a:xfrm>
            <a:off x="7644384" y="603504"/>
            <a:ext cx="73152" cy="73152"/>
          </a:xfrm>
          <a:prstGeom prst="ellipse">
            <a:avLst/>
          </a:prstGeom>
          <a:solidFill>
            <a:srgbClr val="60A5FA">
              <a:alpha val="70000"/>
            </a:srgbClr>
          </a:solidFill>
          <a:ln w="12700">
            <a:solidFill>
              <a:srgbClr val="0F172A">
                <a:alpha val="0"/>
              </a:srgbClr>
            </a:solidFill>
            <a:prstDash val="solid"/>
          </a:ln>
        </p:spPr>
      </p:sp>
      <p:sp>
        <p:nvSpPr>
          <p:cNvPr id="6" name="Shape 4"/>
          <p:cNvSpPr/>
          <p:nvPr/>
        </p:nvSpPr>
        <p:spPr>
          <a:xfrm>
            <a:off x="8348472" y="548640"/>
            <a:ext cx="73152" cy="73152"/>
          </a:xfrm>
          <a:prstGeom prst="ellipse">
            <a:avLst/>
          </a:prstGeom>
          <a:solidFill>
            <a:srgbClr val="60A5FA">
              <a:alpha val="70000"/>
            </a:srgbClr>
          </a:solidFill>
          <a:ln w="12700">
            <a:solidFill>
              <a:srgbClr val="0F172A">
                <a:alpha val="0"/>
              </a:srgbClr>
            </a:solidFill>
            <a:prstDash val="solid"/>
          </a:ln>
        </p:spPr>
      </p:sp>
      <p:sp>
        <p:nvSpPr>
          <p:cNvPr id="7" name="Shape 5"/>
          <p:cNvSpPr/>
          <p:nvPr/>
        </p:nvSpPr>
        <p:spPr>
          <a:xfrm>
            <a:off x="9052560" y="603504"/>
            <a:ext cx="73152" cy="73152"/>
          </a:xfrm>
          <a:prstGeom prst="ellipse">
            <a:avLst/>
          </a:prstGeom>
          <a:solidFill>
            <a:srgbClr val="22D3EE">
              <a:alpha val="95000"/>
            </a:srgbClr>
          </a:solidFill>
          <a:ln w="12700">
            <a:solidFill>
              <a:srgbClr val="0F172A">
                <a:alpha val="0"/>
              </a:srgbClr>
            </a:solidFill>
            <a:prstDash val="solid"/>
          </a:ln>
        </p:spPr>
      </p:sp>
      <p:sp>
        <p:nvSpPr>
          <p:cNvPr id="8" name="Shape 6"/>
          <p:cNvSpPr/>
          <p:nvPr/>
        </p:nvSpPr>
        <p:spPr>
          <a:xfrm>
            <a:off x="9619488" y="548640"/>
            <a:ext cx="73152" cy="73152"/>
          </a:xfrm>
          <a:prstGeom prst="ellipse">
            <a:avLst/>
          </a:prstGeom>
          <a:solidFill>
            <a:srgbClr val="60A5FA">
              <a:alpha val="70000"/>
            </a:srgbClr>
          </a:solidFill>
          <a:ln w="12700">
            <a:solidFill>
              <a:srgbClr val="0F172A">
                <a:alpha val="0"/>
              </a:srgbClr>
            </a:solidFill>
            <a:prstDash val="solid"/>
          </a:ln>
        </p:spPr>
      </p:sp>
      <p:sp>
        <p:nvSpPr>
          <p:cNvPr id="9" name="Shape 7"/>
          <p:cNvSpPr/>
          <p:nvPr/>
        </p:nvSpPr>
        <p:spPr>
          <a:xfrm>
            <a:off x="10323576" y="603504"/>
            <a:ext cx="73152" cy="73152"/>
          </a:xfrm>
          <a:prstGeom prst="ellipse">
            <a:avLst/>
          </a:prstGeom>
          <a:solidFill>
            <a:srgbClr val="60A5FA">
              <a:alpha val="70000"/>
            </a:srgbClr>
          </a:solidFill>
          <a:ln w="12700">
            <a:solidFill>
              <a:srgbClr val="0F172A">
                <a:alpha val="0"/>
              </a:srgbClr>
            </a:solidFill>
            <a:prstDash val="solid"/>
          </a:ln>
        </p:spPr>
      </p:sp>
      <p:sp>
        <p:nvSpPr>
          <p:cNvPr id="10" name="Shape 8"/>
          <p:cNvSpPr/>
          <p:nvPr/>
        </p:nvSpPr>
        <p:spPr>
          <a:xfrm>
            <a:off x="5760720" y="1417320"/>
            <a:ext cx="73152" cy="73152"/>
          </a:xfrm>
          <a:prstGeom prst="ellipse">
            <a:avLst/>
          </a:prstGeom>
          <a:solidFill>
            <a:srgbClr val="60A5FA">
              <a:alpha val="70000"/>
            </a:srgbClr>
          </a:solidFill>
          <a:ln w="12700">
            <a:solidFill>
              <a:srgbClr val="0F172A">
                <a:alpha val="0"/>
              </a:srgbClr>
            </a:solidFill>
            <a:prstDash val="solid"/>
          </a:ln>
        </p:spPr>
      </p:sp>
      <p:sp>
        <p:nvSpPr>
          <p:cNvPr id="11" name="Shape 9"/>
          <p:cNvSpPr/>
          <p:nvPr/>
        </p:nvSpPr>
        <p:spPr>
          <a:xfrm>
            <a:off x="6327648" y="1472184"/>
            <a:ext cx="73152" cy="73152"/>
          </a:xfrm>
          <a:prstGeom prst="ellipse">
            <a:avLst/>
          </a:prstGeom>
          <a:solidFill>
            <a:srgbClr val="60A5FA">
              <a:alpha val="70000"/>
            </a:srgbClr>
          </a:solidFill>
          <a:ln w="12700">
            <a:solidFill>
              <a:srgbClr val="0F172A">
                <a:alpha val="0"/>
              </a:srgbClr>
            </a:solidFill>
            <a:prstDash val="solid"/>
          </a:ln>
        </p:spPr>
      </p:sp>
      <p:sp>
        <p:nvSpPr>
          <p:cNvPr id="12" name="Shape 10"/>
          <p:cNvSpPr/>
          <p:nvPr/>
        </p:nvSpPr>
        <p:spPr>
          <a:xfrm>
            <a:off x="7031736" y="1417320"/>
            <a:ext cx="73152" cy="73152"/>
          </a:xfrm>
          <a:prstGeom prst="ellipse">
            <a:avLst/>
          </a:prstGeom>
          <a:solidFill>
            <a:srgbClr val="22D3EE">
              <a:alpha val="95000"/>
            </a:srgbClr>
          </a:solidFill>
          <a:ln w="12700">
            <a:solidFill>
              <a:srgbClr val="0F172A">
                <a:alpha val="0"/>
              </a:srgbClr>
            </a:solidFill>
            <a:prstDash val="solid"/>
          </a:ln>
        </p:spPr>
      </p:sp>
      <p:sp>
        <p:nvSpPr>
          <p:cNvPr id="13" name="Shape 11"/>
          <p:cNvSpPr/>
          <p:nvPr/>
        </p:nvSpPr>
        <p:spPr>
          <a:xfrm>
            <a:off x="7735824" y="1472184"/>
            <a:ext cx="73152" cy="73152"/>
          </a:xfrm>
          <a:prstGeom prst="ellipse">
            <a:avLst/>
          </a:prstGeom>
          <a:solidFill>
            <a:srgbClr val="60A5FA">
              <a:alpha val="70000"/>
            </a:srgbClr>
          </a:solidFill>
          <a:ln w="12700">
            <a:solidFill>
              <a:srgbClr val="0F172A">
                <a:alpha val="0"/>
              </a:srgbClr>
            </a:solidFill>
            <a:prstDash val="solid"/>
          </a:ln>
        </p:spPr>
      </p:sp>
      <p:sp>
        <p:nvSpPr>
          <p:cNvPr id="14" name="Shape 12"/>
          <p:cNvSpPr/>
          <p:nvPr/>
        </p:nvSpPr>
        <p:spPr>
          <a:xfrm>
            <a:off x="8302752" y="1417320"/>
            <a:ext cx="73152" cy="73152"/>
          </a:xfrm>
          <a:prstGeom prst="ellipse">
            <a:avLst/>
          </a:prstGeom>
          <a:solidFill>
            <a:srgbClr val="60A5FA">
              <a:alpha val="70000"/>
            </a:srgbClr>
          </a:solidFill>
          <a:ln w="12700">
            <a:solidFill>
              <a:srgbClr val="0F172A">
                <a:alpha val="0"/>
              </a:srgbClr>
            </a:solidFill>
            <a:prstDash val="solid"/>
          </a:ln>
        </p:spPr>
      </p:sp>
      <p:sp>
        <p:nvSpPr>
          <p:cNvPr id="15" name="Shape 13"/>
          <p:cNvSpPr/>
          <p:nvPr/>
        </p:nvSpPr>
        <p:spPr>
          <a:xfrm>
            <a:off x="9006840" y="1472184"/>
            <a:ext cx="73152" cy="73152"/>
          </a:xfrm>
          <a:prstGeom prst="ellipse">
            <a:avLst/>
          </a:prstGeom>
          <a:solidFill>
            <a:srgbClr val="60A5FA">
              <a:alpha val="70000"/>
            </a:srgbClr>
          </a:solidFill>
          <a:ln w="12700">
            <a:solidFill>
              <a:srgbClr val="0F172A">
                <a:alpha val="0"/>
              </a:srgbClr>
            </a:solidFill>
            <a:prstDash val="solid"/>
          </a:ln>
        </p:spPr>
      </p:sp>
      <p:sp>
        <p:nvSpPr>
          <p:cNvPr id="16" name="Shape 14"/>
          <p:cNvSpPr/>
          <p:nvPr/>
        </p:nvSpPr>
        <p:spPr>
          <a:xfrm>
            <a:off x="9710928" y="1417320"/>
            <a:ext cx="73152" cy="73152"/>
          </a:xfrm>
          <a:prstGeom prst="ellipse">
            <a:avLst/>
          </a:prstGeom>
          <a:solidFill>
            <a:srgbClr val="60A5FA">
              <a:alpha val="70000"/>
            </a:srgbClr>
          </a:solidFill>
          <a:ln w="12700">
            <a:solidFill>
              <a:srgbClr val="0F172A">
                <a:alpha val="0"/>
              </a:srgbClr>
            </a:solidFill>
            <a:prstDash val="solid"/>
          </a:ln>
        </p:spPr>
      </p:sp>
      <p:sp>
        <p:nvSpPr>
          <p:cNvPr id="17" name="Shape 15"/>
          <p:cNvSpPr/>
          <p:nvPr/>
        </p:nvSpPr>
        <p:spPr>
          <a:xfrm>
            <a:off x="10277856" y="1472184"/>
            <a:ext cx="73152" cy="73152"/>
          </a:xfrm>
          <a:prstGeom prst="ellipse">
            <a:avLst/>
          </a:prstGeom>
          <a:solidFill>
            <a:srgbClr val="22D3EE">
              <a:alpha val="95000"/>
            </a:srgbClr>
          </a:solidFill>
          <a:ln w="12700">
            <a:solidFill>
              <a:srgbClr val="0F172A">
                <a:alpha val="0"/>
              </a:srgbClr>
            </a:solidFill>
            <a:prstDash val="solid"/>
          </a:ln>
        </p:spPr>
      </p:sp>
      <p:sp>
        <p:nvSpPr>
          <p:cNvPr id="18" name="Shape 16"/>
          <p:cNvSpPr/>
          <p:nvPr/>
        </p:nvSpPr>
        <p:spPr>
          <a:xfrm>
            <a:off x="5715000" y="2286000"/>
            <a:ext cx="73152" cy="73152"/>
          </a:xfrm>
          <a:prstGeom prst="ellipse">
            <a:avLst/>
          </a:prstGeom>
          <a:solidFill>
            <a:srgbClr val="60A5FA">
              <a:alpha val="70000"/>
            </a:srgbClr>
          </a:solidFill>
          <a:ln w="12700">
            <a:solidFill>
              <a:srgbClr val="0F172A">
                <a:alpha val="0"/>
              </a:srgbClr>
            </a:solidFill>
            <a:prstDash val="solid"/>
          </a:ln>
        </p:spPr>
      </p:sp>
      <p:sp>
        <p:nvSpPr>
          <p:cNvPr id="19" name="Shape 17"/>
          <p:cNvSpPr/>
          <p:nvPr/>
        </p:nvSpPr>
        <p:spPr>
          <a:xfrm>
            <a:off x="6419088" y="2340864"/>
            <a:ext cx="73152" cy="73152"/>
          </a:xfrm>
          <a:prstGeom prst="ellipse">
            <a:avLst/>
          </a:prstGeom>
          <a:solidFill>
            <a:srgbClr val="60A5FA">
              <a:alpha val="70000"/>
            </a:srgbClr>
          </a:solidFill>
          <a:ln w="12700">
            <a:solidFill>
              <a:srgbClr val="0F172A">
                <a:alpha val="0"/>
              </a:srgbClr>
            </a:solidFill>
            <a:prstDash val="solid"/>
          </a:ln>
        </p:spPr>
      </p:sp>
      <p:sp>
        <p:nvSpPr>
          <p:cNvPr id="20" name="Shape 18"/>
          <p:cNvSpPr/>
          <p:nvPr/>
        </p:nvSpPr>
        <p:spPr>
          <a:xfrm>
            <a:off x="6986016" y="2286000"/>
            <a:ext cx="73152" cy="73152"/>
          </a:xfrm>
          <a:prstGeom prst="ellipse">
            <a:avLst/>
          </a:prstGeom>
          <a:solidFill>
            <a:srgbClr val="60A5FA">
              <a:alpha val="70000"/>
            </a:srgbClr>
          </a:solidFill>
          <a:ln w="12700">
            <a:solidFill>
              <a:srgbClr val="0F172A">
                <a:alpha val="0"/>
              </a:srgbClr>
            </a:solidFill>
            <a:prstDash val="solid"/>
          </a:ln>
        </p:spPr>
      </p:sp>
      <p:sp>
        <p:nvSpPr>
          <p:cNvPr id="21" name="Shape 19"/>
          <p:cNvSpPr/>
          <p:nvPr/>
        </p:nvSpPr>
        <p:spPr>
          <a:xfrm>
            <a:off x="7690104" y="2340864"/>
            <a:ext cx="73152" cy="73152"/>
          </a:xfrm>
          <a:prstGeom prst="ellipse">
            <a:avLst/>
          </a:prstGeom>
          <a:solidFill>
            <a:srgbClr val="60A5FA">
              <a:alpha val="70000"/>
            </a:srgbClr>
          </a:solidFill>
          <a:ln w="12700">
            <a:solidFill>
              <a:srgbClr val="0F172A">
                <a:alpha val="0"/>
              </a:srgbClr>
            </a:solidFill>
            <a:prstDash val="solid"/>
          </a:ln>
        </p:spPr>
      </p:sp>
      <p:sp>
        <p:nvSpPr>
          <p:cNvPr id="22" name="Shape 20"/>
          <p:cNvSpPr/>
          <p:nvPr/>
        </p:nvSpPr>
        <p:spPr>
          <a:xfrm>
            <a:off x="8394192" y="2286000"/>
            <a:ext cx="73152" cy="73152"/>
          </a:xfrm>
          <a:prstGeom prst="ellipse">
            <a:avLst/>
          </a:prstGeom>
          <a:solidFill>
            <a:srgbClr val="22D3EE">
              <a:alpha val="95000"/>
            </a:srgbClr>
          </a:solidFill>
          <a:ln w="12700">
            <a:solidFill>
              <a:srgbClr val="0F172A">
                <a:alpha val="0"/>
              </a:srgbClr>
            </a:solidFill>
            <a:prstDash val="solid"/>
          </a:ln>
        </p:spPr>
      </p:sp>
      <p:sp>
        <p:nvSpPr>
          <p:cNvPr id="23" name="Shape 21"/>
          <p:cNvSpPr/>
          <p:nvPr/>
        </p:nvSpPr>
        <p:spPr>
          <a:xfrm>
            <a:off x="8961120" y="2340864"/>
            <a:ext cx="73152" cy="73152"/>
          </a:xfrm>
          <a:prstGeom prst="ellipse">
            <a:avLst/>
          </a:prstGeom>
          <a:solidFill>
            <a:srgbClr val="60A5FA">
              <a:alpha val="70000"/>
            </a:srgbClr>
          </a:solidFill>
          <a:ln w="12700">
            <a:solidFill>
              <a:srgbClr val="0F172A">
                <a:alpha val="0"/>
              </a:srgbClr>
            </a:solidFill>
            <a:prstDash val="solid"/>
          </a:ln>
        </p:spPr>
      </p:sp>
      <p:sp>
        <p:nvSpPr>
          <p:cNvPr id="24" name="Shape 22"/>
          <p:cNvSpPr/>
          <p:nvPr/>
        </p:nvSpPr>
        <p:spPr>
          <a:xfrm>
            <a:off x="9665208" y="2286000"/>
            <a:ext cx="73152" cy="73152"/>
          </a:xfrm>
          <a:prstGeom prst="ellipse">
            <a:avLst/>
          </a:prstGeom>
          <a:solidFill>
            <a:srgbClr val="60A5FA">
              <a:alpha val="70000"/>
            </a:srgbClr>
          </a:solidFill>
          <a:ln w="12700">
            <a:solidFill>
              <a:srgbClr val="0F172A">
                <a:alpha val="0"/>
              </a:srgbClr>
            </a:solidFill>
            <a:prstDash val="solid"/>
          </a:ln>
        </p:spPr>
      </p:sp>
      <p:sp>
        <p:nvSpPr>
          <p:cNvPr id="25" name="Shape 23"/>
          <p:cNvSpPr/>
          <p:nvPr/>
        </p:nvSpPr>
        <p:spPr>
          <a:xfrm>
            <a:off x="10369296" y="2340864"/>
            <a:ext cx="73152" cy="73152"/>
          </a:xfrm>
          <a:prstGeom prst="ellipse">
            <a:avLst/>
          </a:prstGeom>
          <a:solidFill>
            <a:srgbClr val="60A5FA">
              <a:alpha val="70000"/>
            </a:srgbClr>
          </a:solidFill>
          <a:ln w="12700">
            <a:solidFill>
              <a:srgbClr val="0F172A">
                <a:alpha val="0"/>
              </a:srgbClr>
            </a:solidFill>
            <a:prstDash val="solid"/>
          </a:ln>
        </p:spPr>
      </p:sp>
      <p:sp>
        <p:nvSpPr>
          <p:cNvPr id="26" name="Shape 24"/>
          <p:cNvSpPr/>
          <p:nvPr/>
        </p:nvSpPr>
        <p:spPr>
          <a:xfrm>
            <a:off x="5669280" y="3154680"/>
            <a:ext cx="73152" cy="73152"/>
          </a:xfrm>
          <a:prstGeom prst="ellipse">
            <a:avLst/>
          </a:prstGeom>
          <a:solidFill>
            <a:srgbClr val="60A5FA">
              <a:alpha val="70000"/>
            </a:srgbClr>
          </a:solidFill>
          <a:ln w="12700">
            <a:solidFill>
              <a:srgbClr val="0F172A">
                <a:alpha val="0"/>
              </a:srgbClr>
            </a:solidFill>
            <a:prstDash val="solid"/>
          </a:ln>
        </p:spPr>
      </p:sp>
      <p:sp>
        <p:nvSpPr>
          <p:cNvPr id="27" name="Shape 25"/>
          <p:cNvSpPr/>
          <p:nvPr/>
        </p:nvSpPr>
        <p:spPr>
          <a:xfrm>
            <a:off x="6373368" y="3209544"/>
            <a:ext cx="73152" cy="73152"/>
          </a:xfrm>
          <a:prstGeom prst="ellipse">
            <a:avLst/>
          </a:prstGeom>
          <a:solidFill>
            <a:srgbClr val="22D3EE">
              <a:alpha val="95000"/>
            </a:srgbClr>
          </a:solidFill>
          <a:ln w="12700">
            <a:solidFill>
              <a:srgbClr val="0F172A">
                <a:alpha val="0"/>
              </a:srgbClr>
            </a:solidFill>
            <a:prstDash val="solid"/>
          </a:ln>
        </p:spPr>
      </p:sp>
      <p:sp>
        <p:nvSpPr>
          <p:cNvPr id="28" name="Shape 26"/>
          <p:cNvSpPr/>
          <p:nvPr/>
        </p:nvSpPr>
        <p:spPr>
          <a:xfrm>
            <a:off x="7077456" y="3154680"/>
            <a:ext cx="73152" cy="73152"/>
          </a:xfrm>
          <a:prstGeom prst="ellipse">
            <a:avLst/>
          </a:prstGeom>
          <a:solidFill>
            <a:srgbClr val="60A5FA">
              <a:alpha val="70000"/>
            </a:srgbClr>
          </a:solidFill>
          <a:ln w="12700">
            <a:solidFill>
              <a:srgbClr val="0F172A">
                <a:alpha val="0"/>
              </a:srgbClr>
            </a:solidFill>
            <a:prstDash val="solid"/>
          </a:ln>
        </p:spPr>
      </p:sp>
      <p:sp>
        <p:nvSpPr>
          <p:cNvPr id="29" name="Shape 27"/>
          <p:cNvSpPr/>
          <p:nvPr/>
        </p:nvSpPr>
        <p:spPr>
          <a:xfrm>
            <a:off x="7644384" y="3209544"/>
            <a:ext cx="73152" cy="73152"/>
          </a:xfrm>
          <a:prstGeom prst="ellipse">
            <a:avLst/>
          </a:prstGeom>
          <a:solidFill>
            <a:srgbClr val="60A5FA">
              <a:alpha val="70000"/>
            </a:srgbClr>
          </a:solidFill>
          <a:ln w="12700">
            <a:solidFill>
              <a:srgbClr val="0F172A">
                <a:alpha val="0"/>
              </a:srgbClr>
            </a:solidFill>
            <a:prstDash val="solid"/>
          </a:ln>
        </p:spPr>
      </p:sp>
      <p:sp>
        <p:nvSpPr>
          <p:cNvPr id="30" name="Shape 28"/>
          <p:cNvSpPr/>
          <p:nvPr/>
        </p:nvSpPr>
        <p:spPr>
          <a:xfrm>
            <a:off x="8348472" y="3154680"/>
            <a:ext cx="73152" cy="73152"/>
          </a:xfrm>
          <a:prstGeom prst="ellipse">
            <a:avLst/>
          </a:prstGeom>
          <a:solidFill>
            <a:srgbClr val="60A5FA">
              <a:alpha val="70000"/>
            </a:srgbClr>
          </a:solidFill>
          <a:ln w="12700">
            <a:solidFill>
              <a:srgbClr val="0F172A">
                <a:alpha val="0"/>
              </a:srgbClr>
            </a:solidFill>
            <a:prstDash val="solid"/>
          </a:ln>
        </p:spPr>
      </p:sp>
      <p:sp>
        <p:nvSpPr>
          <p:cNvPr id="31" name="Shape 29"/>
          <p:cNvSpPr/>
          <p:nvPr/>
        </p:nvSpPr>
        <p:spPr>
          <a:xfrm>
            <a:off x="9052560" y="3209544"/>
            <a:ext cx="73152" cy="73152"/>
          </a:xfrm>
          <a:prstGeom prst="ellipse">
            <a:avLst/>
          </a:prstGeom>
          <a:solidFill>
            <a:srgbClr val="60A5FA">
              <a:alpha val="70000"/>
            </a:srgbClr>
          </a:solidFill>
          <a:ln w="12700">
            <a:solidFill>
              <a:srgbClr val="0F172A">
                <a:alpha val="0"/>
              </a:srgbClr>
            </a:solidFill>
            <a:prstDash val="solid"/>
          </a:ln>
        </p:spPr>
      </p:sp>
      <p:sp>
        <p:nvSpPr>
          <p:cNvPr id="32" name="Shape 30"/>
          <p:cNvSpPr/>
          <p:nvPr/>
        </p:nvSpPr>
        <p:spPr>
          <a:xfrm>
            <a:off x="9619488" y="3154680"/>
            <a:ext cx="73152" cy="73152"/>
          </a:xfrm>
          <a:prstGeom prst="ellipse">
            <a:avLst/>
          </a:prstGeom>
          <a:solidFill>
            <a:srgbClr val="22D3EE">
              <a:alpha val="95000"/>
            </a:srgbClr>
          </a:solidFill>
          <a:ln w="12700">
            <a:solidFill>
              <a:srgbClr val="0F172A">
                <a:alpha val="0"/>
              </a:srgbClr>
            </a:solidFill>
            <a:prstDash val="solid"/>
          </a:ln>
        </p:spPr>
      </p:sp>
      <p:sp>
        <p:nvSpPr>
          <p:cNvPr id="33" name="Shape 31"/>
          <p:cNvSpPr/>
          <p:nvPr/>
        </p:nvSpPr>
        <p:spPr>
          <a:xfrm>
            <a:off x="10323576" y="3209544"/>
            <a:ext cx="73152" cy="73152"/>
          </a:xfrm>
          <a:prstGeom prst="ellipse">
            <a:avLst/>
          </a:prstGeom>
          <a:solidFill>
            <a:srgbClr val="60A5FA">
              <a:alpha val="70000"/>
            </a:srgbClr>
          </a:solidFill>
          <a:ln w="12700">
            <a:solidFill>
              <a:srgbClr val="0F172A">
                <a:alpha val="0"/>
              </a:srgbClr>
            </a:solidFill>
            <a:prstDash val="solid"/>
          </a:ln>
        </p:spPr>
      </p:sp>
      <p:sp>
        <p:nvSpPr>
          <p:cNvPr id="34" name="Shape 32"/>
          <p:cNvSpPr/>
          <p:nvPr/>
        </p:nvSpPr>
        <p:spPr>
          <a:xfrm>
            <a:off x="5715000" y="585216"/>
            <a:ext cx="1956816" cy="164592"/>
          </a:xfrm>
          <a:prstGeom prst="line">
            <a:avLst/>
          </a:prstGeom>
          <a:solidFill>
            <a:srgbClr val="FFFFFF">
              <a:alpha val="0"/>
            </a:srgbClr>
          </a:solidFill>
          <a:ln w="10160">
            <a:solidFill>
              <a:srgbClr val="334155"/>
            </a:solidFill>
            <a:prstDash val="solid"/>
            <a:headEnd type="none"/>
            <a:tailEnd type="none"/>
          </a:ln>
        </p:spPr>
      </p:sp>
      <p:sp>
        <p:nvSpPr>
          <p:cNvPr id="35" name="Shape 33"/>
          <p:cNvSpPr/>
          <p:nvPr/>
        </p:nvSpPr>
        <p:spPr>
          <a:xfrm>
            <a:off x="6373368" y="585216"/>
            <a:ext cx="1956816" cy="164592"/>
          </a:xfrm>
          <a:prstGeom prst="line">
            <a:avLst/>
          </a:prstGeom>
          <a:solidFill>
            <a:srgbClr val="FFFFFF">
              <a:alpha val="0"/>
            </a:srgbClr>
          </a:solidFill>
          <a:ln w="10160">
            <a:solidFill>
              <a:srgbClr val="334155"/>
            </a:solidFill>
            <a:prstDash val="solid"/>
            <a:headEnd type="none"/>
            <a:tailEnd type="none"/>
          </a:ln>
        </p:spPr>
      </p:sp>
      <p:sp>
        <p:nvSpPr>
          <p:cNvPr id="36" name="Shape 34"/>
          <p:cNvSpPr/>
          <p:nvPr/>
        </p:nvSpPr>
        <p:spPr>
          <a:xfrm>
            <a:off x="7031736" y="585216"/>
            <a:ext cx="1956816" cy="164592"/>
          </a:xfrm>
          <a:prstGeom prst="line">
            <a:avLst/>
          </a:prstGeom>
          <a:solidFill>
            <a:srgbClr val="FFFFFF">
              <a:alpha val="0"/>
            </a:srgbClr>
          </a:solidFill>
          <a:ln w="10160">
            <a:solidFill>
              <a:srgbClr val="334155"/>
            </a:solidFill>
            <a:prstDash val="solid"/>
            <a:headEnd type="none"/>
            <a:tailEnd type="none"/>
          </a:ln>
        </p:spPr>
      </p:sp>
      <p:sp>
        <p:nvSpPr>
          <p:cNvPr id="37" name="Shape 35"/>
          <p:cNvSpPr/>
          <p:nvPr/>
        </p:nvSpPr>
        <p:spPr>
          <a:xfrm>
            <a:off x="7690104" y="585216"/>
            <a:ext cx="1956816" cy="164592"/>
          </a:xfrm>
          <a:prstGeom prst="line">
            <a:avLst/>
          </a:prstGeom>
          <a:solidFill>
            <a:srgbClr val="FFFFFF">
              <a:alpha val="0"/>
            </a:srgbClr>
          </a:solidFill>
          <a:ln w="10160">
            <a:solidFill>
              <a:srgbClr val="334155"/>
            </a:solidFill>
            <a:prstDash val="solid"/>
            <a:headEnd type="none"/>
            <a:tailEnd type="none"/>
          </a:ln>
        </p:spPr>
      </p:sp>
      <p:sp>
        <p:nvSpPr>
          <p:cNvPr id="38" name="Shape 36"/>
          <p:cNvSpPr/>
          <p:nvPr/>
        </p:nvSpPr>
        <p:spPr>
          <a:xfrm>
            <a:off x="8348472" y="585216"/>
            <a:ext cx="1956816" cy="1033272"/>
          </a:xfrm>
          <a:prstGeom prst="line">
            <a:avLst/>
          </a:prstGeom>
          <a:solidFill>
            <a:srgbClr val="FFFFFF">
              <a:alpha val="0"/>
            </a:srgbClr>
          </a:solidFill>
          <a:ln w="10160">
            <a:solidFill>
              <a:srgbClr val="334155"/>
            </a:solidFill>
            <a:prstDash val="solid"/>
            <a:headEnd type="none"/>
            <a:tailEnd type="none"/>
          </a:ln>
        </p:spPr>
      </p:sp>
      <p:sp>
        <p:nvSpPr>
          <p:cNvPr id="39" name="Shape 37"/>
          <p:cNvSpPr/>
          <p:nvPr/>
        </p:nvSpPr>
        <p:spPr>
          <a:xfrm>
            <a:off x="9006840" y="585216"/>
            <a:ext cx="-2651760" cy="1033272"/>
          </a:xfrm>
          <a:prstGeom prst="line">
            <a:avLst/>
          </a:prstGeom>
          <a:solidFill>
            <a:srgbClr val="FFFFFF">
              <a:alpha val="0"/>
            </a:srgbClr>
          </a:solidFill>
          <a:ln w="10160">
            <a:solidFill>
              <a:srgbClr val="334155"/>
            </a:solidFill>
            <a:prstDash val="solid"/>
            <a:headEnd type="none"/>
            <a:tailEnd type="none"/>
          </a:ln>
        </p:spPr>
      </p:sp>
      <p:sp>
        <p:nvSpPr>
          <p:cNvPr id="40" name="Shape 38"/>
          <p:cNvSpPr/>
          <p:nvPr/>
        </p:nvSpPr>
        <p:spPr>
          <a:xfrm>
            <a:off x="9665208" y="585216"/>
            <a:ext cx="-2651760" cy="1033272"/>
          </a:xfrm>
          <a:prstGeom prst="line">
            <a:avLst/>
          </a:prstGeom>
          <a:solidFill>
            <a:srgbClr val="FFFFFF">
              <a:alpha val="0"/>
            </a:srgbClr>
          </a:solidFill>
          <a:ln w="10160">
            <a:solidFill>
              <a:srgbClr val="334155"/>
            </a:solidFill>
            <a:prstDash val="solid"/>
            <a:headEnd type="none"/>
            <a:tailEnd type="none"/>
          </a:ln>
        </p:spPr>
      </p:sp>
      <p:sp>
        <p:nvSpPr>
          <p:cNvPr id="41" name="Shape 39"/>
          <p:cNvSpPr/>
          <p:nvPr/>
        </p:nvSpPr>
        <p:spPr>
          <a:xfrm>
            <a:off x="5715000" y="1453896"/>
            <a:ext cx="1956816" cy="164592"/>
          </a:xfrm>
          <a:prstGeom prst="line">
            <a:avLst/>
          </a:prstGeom>
          <a:solidFill>
            <a:srgbClr val="FFFFFF">
              <a:alpha val="0"/>
            </a:srgbClr>
          </a:solidFill>
          <a:ln w="10160">
            <a:solidFill>
              <a:srgbClr val="334155"/>
            </a:solidFill>
            <a:prstDash val="solid"/>
            <a:headEnd type="none"/>
            <a:tailEnd type="none"/>
          </a:ln>
        </p:spPr>
      </p:sp>
      <p:sp>
        <p:nvSpPr>
          <p:cNvPr id="42" name="Shape 40"/>
          <p:cNvSpPr/>
          <p:nvPr/>
        </p:nvSpPr>
        <p:spPr>
          <a:xfrm>
            <a:off x="6373368" y="1453896"/>
            <a:ext cx="1956816" cy="164592"/>
          </a:xfrm>
          <a:prstGeom prst="line">
            <a:avLst/>
          </a:prstGeom>
          <a:solidFill>
            <a:srgbClr val="FFFFFF">
              <a:alpha val="0"/>
            </a:srgbClr>
          </a:solidFill>
          <a:ln w="10160">
            <a:solidFill>
              <a:srgbClr val="334155"/>
            </a:solidFill>
            <a:prstDash val="solid"/>
            <a:headEnd type="none"/>
            <a:tailEnd type="none"/>
          </a:ln>
        </p:spPr>
      </p:sp>
      <p:sp>
        <p:nvSpPr>
          <p:cNvPr id="43" name="Shape 41"/>
          <p:cNvSpPr/>
          <p:nvPr/>
        </p:nvSpPr>
        <p:spPr>
          <a:xfrm>
            <a:off x="7031736" y="1453896"/>
            <a:ext cx="1956816" cy="164592"/>
          </a:xfrm>
          <a:prstGeom prst="line">
            <a:avLst/>
          </a:prstGeom>
          <a:solidFill>
            <a:srgbClr val="FFFFFF">
              <a:alpha val="0"/>
            </a:srgbClr>
          </a:solidFill>
          <a:ln w="10160">
            <a:solidFill>
              <a:srgbClr val="334155"/>
            </a:solidFill>
            <a:prstDash val="solid"/>
            <a:headEnd type="none"/>
            <a:tailEnd type="none"/>
          </a:ln>
        </p:spPr>
      </p:sp>
      <p:sp>
        <p:nvSpPr>
          <p:cNvPr id="44" name="Shape 42"/>
          <p:cNvSpPr/>
          <p:nvPr/>
        </p:nvSpPr>
        <p:spPr>
          <a:xfrm>
            <a:off x="7690104" y="1453896"/>
            <a:ext cx="1956816" cy="164592"/>
          </a:xfrm>
          <a:prstGeom prst="line">
            <a:avLst/>
          </a:prstGeom>
          <a:solidFill>
            <a:srgbClr val="FFFFFF">
              <a:alpha val="0"/>
            </a:srgbClr>
          </a:solidFill>
          <a:ln w="10160">
            <a:solidFill>
              <a:srgbClr val="334155"/>
            </a:solidFill>
            <a:prstDash val="solid"/>
            <a:headEnd type="none"/>
            <a:tailEnd type="none"/>
          </a:ln>
        </p:spPr>
      </p:sp>
      <p:sp>
        <p:nvSpPr>
          <p:cNvPr id="45" name="Shape 43"/>
          <p:cNvSpPr/>
          <p:nvPr/>
        </p:nvSpPr>
        <p:spPr>
          <a:xfrm>
            <a:off x="8348472" y="1453896"/>
            <a:ext cx="1956816" cy="1033272"/>
          </a:xfrm>
          <a:prstGeom prst="line">
            <a:avLst/>
          </a:prstGeom>
          <a:solidFill>
            <a:srgbClr val="FFFFFF">
              <a:alpha val="0"/>
            </a:srgbClr>
          </a:solidFill>
          <a:ln w="10160">
            <a:solidFill>
              <a:srgbClr val="334155"/>
            </a:solidFill>
            <a:prstDash val="solid"/>
            <a:headEnd type="none"/>
            <a:tailEnd type="none"/>
          </a:ln>
        </p:spPr>
      </p:sp>
      <p:sp>
        <p:nvSpPr>
          <p:cNvPr id="46" name="Shape 44"/>
          <p:cNvSpPr/>
          <p:nvPr/>
        </p:nvSpPr>
        <p:spPr>
          <a:xfrm>
            <a:off x="9006840" y="1453896"/>
            <a:ext cx="-2651760" cy="1033272"/>
          </a:xfrm>
          <a:prstGeom prst="line">
            <a:avLst/>
          </a:prstGeom>
          <a:solidFill>
            <a:srgbClr val="FFFFFF">
              <a:alpha val="0"/>
            </a:srgbClr>
          </a:solidFill>
          <a:ln w="10160">
            <a:solidFill>
              <a:srgbClr val="334155"/>
            </a:solidFill>
            <a:prstDash val="solid"/>
            <a:headEnd type="none"/>
            <a:tailEnd type="none"/>
          </a:ln>
        </p:spPr>
      </p:sp>
      <p:sp>
        <p:nvSpPr>
          <p:cNvPr id="47" name="Shape 45"/>
          <p:cNvSpPr/>
          <p:nvPr/>
        </p:nvSpPr>
        <p:spPr>
          <a:xfrm>
            <a:off x="9665208" y="1453896"/>
            <a:ext cx="-2651760" cy="1033272"/>
          </a:xfrm>
          <a:prstGeom prst="line">
            <a:avLst/>
          </a:prstGeom>
          <a:solidFill>
            <a:srgbClr val="FFFFFF">
              <a:alpha val="0"/>
            </a:srgbClr>
          </a:solidFill>
          <a:ln w="10160">
            <a:solidFill>
              <a:srgbClr val="334155"/>
            </a:solidFill>
            <a:prstDash val="solid"/>
            <a:headEnd type="none"/>
            <a:tailEnd type="none"/>
          </a:ln>
        </p:spPr>
      </p:sp>
      <p:sp>
        <p:nvSpPr>
          <p:cNvPr id="48" name="Shape 46"/>
          <p:cNvSpPr/>
          <p:nvPr/>
        </p:nvSpPr>
        <p:spPr>
          <a:xfrm>
            <a:off x="5715000" y="2322576"/>
            <a:ext cx="1956816" cy="164592"/>
          </a:xfrm>
          <a:prstGeom prst="line">
            <a:avLst/>
          </a:prstGeom>
          <a:solidFill>
            <a:srgbClr val="FFFFFF">
              <a:alpha val="0"/>
            </a:srgbClr>
          </a:solidFill>
          <a:ln w="10160">
            <a:solidFill>
              <a:srgbClr val="334155"/>
            </a:solidFill>
            <a:prstDash val="solid"/>
            <a:headEnd type="none"/>
            <a:tailEnd type="none"/>
          </a:ln>
        </p:spPr>
      </p:sp>
      <p:sp>
        <p:nvSpPr>
          <p:cNvPr id="49" name="Shape 47"/>
          <p:cNvSpPr/>
          <p:nvPr/>
        </p:nvSpPr>
        <p:spPr>
          <a:xfrm>
            <a:off x="6373368" y="2322576"/>
            <a:ext cx="1956816" cy="164592"/>
          </a:xfrm>
          <a:prstGeom prst="line">
            <a:avLst/>
          </a:prstGeom>
          <a:solidFill>
            <a:srgbClr val="FFFFFF">
              <a:alpha val="0"/>
            </a:srgbClr>
          </a:solidFill>
          <a:ln w="10160">
            <a:solidFill>
              <a:srgbClr val="334155"/>
            </a:solidFill>
            <a:prstDash val="solid"/>
            <a:headEnd type="none"/>
            <a:tailEnd type="none"/>
          </a:ln>
        </p:spPr>
      </p:sp>
      <p:sp>
        <p:nvSpPr>
          <p:cNvPr id="50" name="Shape 48"/>
          <p:cNvSpPr/>
          <p:nvPr/>
        </p:nvSpPr>
        <p:spPr>
          <a:xfrm>
            <a:off x="7031736" y="2322576"/>
            <a:ext cx="1956816" cy="164592"/>
          </a:xfrm>
          <a:prstGeom prst="line">
            <a:avLst/>
          </a:prstGeom>
          <a:solidFill>
            <a:srgbClr val="FFFFFF">
              <a:alpha val="0"/>
            </a:srgbClr>
          </a:solidFill>
          <a:ln w="10160">
            <a:solidFill>
              <a:srgbClr val="334155"/>
            </a:solidFill>
            <a:prstDash val="solid"/>
            <a:headEnd type="none"/>
            <a:tailEnd type="none"/>
          </a:ln>
        </p:spPr>
      </p:sp>
      <p:sp>
        <p:nvSpPr>
          <p:cNvPr id="51" name="Shape 49"/>
          <p:cNvSpPr/>
          <p:nvPr/>
        </p:nvSpPr>
        <p:spPr>
          <a:xfrm>
            <a:off x="7690104" y="2322576"/>
            <a:ext cx="1956816" cy="164592"/>
          </a:xfrm>
          <a:prstGeom prst="line">
            <a:avLst/>
          </a:prstGeom>
          <a:solidFill>
            <a:srgbClr val="FFFFFF">
              <a:alpha val="0"/>
            </a:srgbClr>
          </a:solidFill>
          <a:ln w="10160">
            <a:solidFill>
              <a:srgbClr val="334155"/>
            </a:solidFill>
            <a:prstDash val="solid"/>
            <a:headEnd type="none"/>
            <a:tailEnd type="none"/>
          </a:ln>
        </p:spPr>
      </p:sp>
      <p:sp>
        <p:nvSpPr>
          <p:cNvPr id="52" name="Text 50"/>
          <p:cNvSpPr/>
          <p:nvPr/>
        </p:nvSpPr>
        <p:spPr>
          <a:xfrm>
            <a:off x="640080" y="960120"/>
            <a:ext cx="5029200" cy="502920"/>
          </a:xfrm>
          <a:prstGeom prst="rect">
            <a:avLst/>
          </a:prstGeom>
          <a:noFill/>
          <a:ln/>
        </p:spPr>
        <p:txBody>
          <a:bodyPr wrap="square" lIns="0" tIns="0" rIns="0" bIns="0" rtlCol="0" anchor="ctr"/>
          <a:lstStyle/>
          <a:p>
            <a:pPr indent="0" marL="0">
              <a:buNone/>
            </a:pPr>
            <a:r>
              <a:rPr lang="en-US" sz="3400" b="1" dirty="0">
                <a:solidFill>
                  <a:srgbClr val="FFFFFF"/>
                </a:solidFill>
              </a:rPr>
              <a:t>Vector Databases</a:t>
            </a:r>
            <a:endParaRPr lang="en-US" sz="3400" dirty="0"/>
          </a:p>
        </p:txBody>
      </p:sp>
      <p:sp>
        <p:nvSpPr>
          <p:cNvPr id="53" name="Text 51"/>
          <p:cNvSpPr/>
          <p:nvPr/>
        </p:nvSpPr>
        <p:spPr>
          <a:xfrm>
            <a:off x="658368" y="1627632"/>
            <a:ext cx="5577840" cy="502920"/>
          </a:xfrm>
          <a:prstGeom prst="rect">
            <a:avLst/>
          </a:prstGeom>
          <a:noFill/>
          <a:ln/>
        </p:spPr>
        <p:txBody>
          <a:bodyPr wrap="square" lIns="0" tIns="0" rIns="0" bIns="0" rtlCol="0" anchor="ctr"/>
          <a:lstStyle/>
          <a:p>
            <a:pPr indent="0" marL="0">
              <a:buNone/>
            </a:pPr>
            <a:r>
              <a:rPr lang="en-US" sz="1600" dirty="0">
                <a:solidFill>
                  <a:srgbClr val="CBD5E1"/>
                </a:solidFill>
              </a:rPr>
              <a:t>From vectors and embeddings to ANN, HNSW, hybrid search, and RAG</a:t>
            </a:r>
            <a:endParaRPr lang="en-US" sz="1600" dirty="0"/>
          </a:p>
        </p:txBody>
      </p:sp>
      <p:sp>
        <p:nvSpPr>
          <p:cNvPr id="54" name="Text 52"/>
          <p:cNvSpPr/>
          <p:nvPr/>
        </p:nvSpPr>
        <p:spPr>
          <a:xfrm>
            <a:off x="658368" y="2395728"/>
            <a:ext cx="4297680" cy="292608"/>
          </a:xfrm>
          <a:prstGeom prst="rect">
            <a:avLst/>
          </a:prstGeom>
          <a:noFill/>
          <a:ln/>
        </p:spPr>
        <p:txBody>
          <a:bodyPr wrap="square" lIns="0" tIns="0" rIns="0" bIns="0" rtlCol="0" anchor="ctr"/>
          <a:lstStyle/>
          <a:p>
            <a:pPr indent="0" marL="0">
              <a:buNone/>
            </a:pPr>
            <a:r>
              <a:rPr lang="en-US" sz="1200" b="1" dirty="0">
                <a:solidFill>
                  <a:srgbClr val="93C5FD"/>
                </a:solidFill>
              </a:rPr>
              <a:t>Presentation-ready deck with speaker notes</a:t>
            </a:r>
            <a:endParaRPr lang="en-US" sz="1200" dirty="0"/>
          </a:p>
        </p:txBody>
      </p:sp>
      <p:sp>
        <p:nvSpPr>
          <p:cNvPr id="55" name="Text 53"/>
          <p:cNvSpPr/>
          <p:nvPr/>
        </p:nvSpPr>
        <p:spPr>
          <a:xfrm>
            <a:off x="658368" y="5413248"/>
            <a:ext cx="8138160" cy="320040"/>
          </a:xfrm>
          <a:prstGeom prst="rect">
            <a:avLst/>
          </a:prstGeom>
          <a:noFill/>
          <a:ln/>
        </p:spPr>
        <p:txBody>
          <a:bodyPr wrap="square" lIns="0" tIns="0" rIns="0" bIns="0" rtlCol="0" anchor="ctr"/>
          <a:lstStyle/>
          <a:p>
            <a:pPr indent="0" marL="0">
              <a:buNone/>
            </a:pPr>
            <a:r>
              <a:rPr lang="en-US" sz="1250" dirty="0">
                <a:solidFill>
                  <a:srgbClr val="E0F2FE"/>
                </a:solidFill>
              </a:rPr>
              <a:t>Goal: make semantic search intuitive before going deep into indexing and production design.</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The story: why keyword search is not enough</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Start with a familiar failure: users and documents often use different words for the same intent.</a:t>
            </a:r>
            <a:endParaRPr lang="en-US" sz="1150" dirty="0"/>
          </a:p>
        </p:txBody>
      </p:sp>
      <p:sp>
        <p:nvSpPr>
          <p:cNvPr id="4" name="Text 2"/>
          <p:cNvSpPr/>
          <p:nvPr/>
        </p:nvSpPr>
        <p:spPr>
          <a:xfrm>
            <a:off x="640080" y="1417320"/>
            <a:ext cx="2377440" cy="301752"/>
          </a:xfrm>
          <a:prstGeom prst="rect">
            <a:avLst/>
          </a:prstGeom>
          <a:solidFill>
            <a:srgbClr val="DBEAFE"/>
          </a:solidFill>
          <a:ln>
            <a:solidFill>
              <a:srgbClr val="DBEAFE"/>
            </a:solidFill>
          </a:ln>
        </p:spPr>
        <p:txBody>
          <a:bodyPr wrap="square" lIns="381" tIns="381" rIns="381" bIns="381" rtlCol="0" anchor="ctr"/>
          <a:lstStyle/>
          <a:p>
            <a:pPr algn="ctr" indent="0" marL="0">
              <a:buNone/>
            </a:pPr>
            <a:r>
              <a:rPr lang="en-US" sz="1250" b="1" dirty="0">
                <a:solidFill>
                  <a:srgbClr val="2563EB"/>
                </a:solidFill>
              </a:rPr>
              <a:t>User says</a:t>
            </a:r>
            <a:endParaRPr lang="en-US" sz="1250" dirty="0"/>
          </a:p>
        </p:txBody>
      </p:sp>
      <p:sp>
        <p:nvSpPr>
          <p:cNvPr id="5" name="Text 3"/>
          <p:cNvSpPr/>
          <p:nvPr/>
        </p:nvSpPr>
        <p:spPr>
          <a:xfrm>
            <a:off x="4754880" y="1417320"/>
            <a:ext cx="2560320" cy="301752"/>
          </a:xfrm>
          <a:prstGeom prst="rect">
            <a:avLst/>
          </a:prstGeom>
          <a:solidFill>
            <a:srgbClr val="D1FAE5"/>
          </a:solidFill>
          <a:ln>
            <a:solidFill>
              <a:srgbClr val="D1FAE5"/>
            </a:solidFill>
          </a:ln>
        </p:spPr>
        <p:txBody>
          <a:bodyPr wrap="square" lIns="381" tIns="381" rIns="381" bIns="381" rtlCol="0" anchor="ctr"/>
          <a:lstStyle/>
          <a:p>
            <a:pPr algn="ctr" indent="0" marL="0">
              <a:buNone/>
            </a:pPr>
            <a:r>
              <a:rPr lang="en-US" sz="1250" b="1" dirty="0">
                <a:solidFill>
                  <a:srgbClr val="059669"/>
                </a:solidFill>
              </a:rPr>
              <a:t>Document says</a:t>
            </a:r>
            <a:endParaRPr lang="en-US" sz="1250" dirty="0"/>
          </a:p>
        </p:txBody>
      </p:sp>
      <p:sp>
        <p:nvSpPr>
          <p:cNvPr id="6" name="Text 4"/>
          <p:cNvSpPr/>
          <p:nvPr/>
        </p:nvSpPr>
        <p:spPr>
          <a:xfrm>
            <a:off x="8869680" y="1417320"/>
            <a:ext cx="2468880" cy="301752"/>
          </a:xfrm>
          <a:prstGeom prst="rect">
            <a:avLst/>
          </a:prstGeom>
          <a:solidFill>
            <a:srgbClr val="EDE9FE"/>
          </a:solidFill>
          <a:ln>
            <a:solidFill>
              <a:srgbClr val="EDE9FE"/>
            </a:solidFill>
          </a:ln>
        </p:spPr>
        <p:txBody>
          <a:bodyPr wrap="square" lIns="381" tIns="381" rIns="381" bIns="381" rtlCol="0" anchor="ctr"/>
          <a:lstStyle/>
          <a:p>
            <a:pPr algn="ctr" indent="0" marL="0">
              <a:buNone/>
            </a:pPr>
            <a:r>
              <a:rPr lang="en-US" sz="1250" b="1" dirty="0">
                <a:solidFill>
                  <a:srgbClr val="7C3AED"/>
                </a:solidFill>
              </a:rPr>
              <a:t>Semantic match</a:t>
            </a:r>
            <a:endParaRPr lang="en-US" sz="1250" dirty="0"/>
          </a:p>
        </p:txBody>
      </p:sp>
      <p:sp>
        <p:nvSpPr>
          <p:cNvPr id="7" name="Text 5"/>
          <p:cNvSpPr/>
          <p:nvPr/>
        </p:nvSpPr>
        <p:spPr>
          <a:xfrm>
            <a:off x="868680" y="2057400"/>
            <a:ext cx="1920240" cy="438912"/>
          </a:xfrm>
          <a:prstGeom prst="rect">
            <a:avLst/>
          </a:prstGeom>
          <a:noFill/>
          <a:ln/>
        </p:spPr>
        <p:txBody>
          <a:bodyPr wrap="square" lIns="0" tIns="0" rIns="0" bIns="0" rtlCol="0" anchor="ctr"/>
          <a:lstStyle/>
          <a:p>
            <a:pPr algn="ctr" indent="0" marL="0">
              <a:buNone/>
            </a:pPr>
            <a:r>
              <a:rPr lang="en-US" sz="1600" b="1" dirty="0">
                <a:solidFill>
                  <a:srgbClr val="111827"/>
                </a:solidFill>
              </a:rPr>
              <a:t>“cheap family car”</a:t>
            </a:r>
            <a:endParaRPr lang="en-US" sz="1600" dirty="0"/>
          </a:p>
        </p:txBody>
      </p:sp>
      <p:sp>
        <p:nvSpPr>
          <p:cNvPr id="8" name="Shape 6"/>
          <p:cNvSpPr/>
          <p:nvPr/>
        </p:nvSpPr>
        <p:spPr>
          <a:xfrm>
            <a:off x="3182112" y="2240280"/>
            <a:ext cx="1389888" cy="0"/>
          </a:xfrm>
          <a:prstGeom prst="line">
            <a:avLst/>
          </a:prstGeom>
          <a:solidFill>
            <a:srgbClr val="FFFFFF">
              <a:alpha val="0"/>
            </a:srgbClr>
          </a:solidFill>
          <a:ln w="15240">
            <a:solidFill>
              <a:srgbClr val="CBD5E1"/>
            </a:solidFill>
            <a:prstDash val="solid"/>
            <a:headEnd type="none"/>
            <a:tailEnd type="triangle"/>
          </a:ln>
        </p:spPr>
      </p:sp>
      <p:sp>
        <p:nvSpPr>
          <p:cNvPr id="9" name="Text 7"/>
          <p:cNvSpPr/>
          <p:nvPr/>
        </p:nvSpPr>
        <p:spPr>
          <a:xfrm>
            <a:off x="4919472" y="2057400"/>
            <a:ext cx="2148840" cy="438912"/>
          </a:xfrm>
          <a:prstGeom prst="rect">
            <a:avLst/>
          </a:prstGeom>
          <a:noFill/>
          <a:ln/>
        </p:spPr>
        <p:txBody>
          <a:bodyPr wrap="square" lIns="0" tIns="0" rIns="0" bIns="0" rtlCol="0" anchor="ctr"/>
          <a:lstStyle/>
          <a:p>
            <a:pPr algn="ctr" indent="0" marL="0">
              <a:buNone/>
            </a:pPr>
            <a:r>
              <a:rPr lang="en-US" sz="1600" b="1" dirty="0">
                <a:solidFill>
                  <a:srgbClr val="111827"/>
                </a:solidFill>
              </a:rPr>
              <a:t>“affordable compact SUV”</a:t>
            </a:r>
            <a:endParaRPr lang="en-US" sz="1600" dirty="0"/>
          </a:p>
        </p:txBody>
      </p:sp>
      <p:sp>
        <p:nvSpPr>
          <p:cNvPr id="10" name="Shape 8"/>
          <p:cNvSpPr/>
          <p:nvPr/>
        </p:nvSpPr>
        <p:spPr>
          <a:xfrm>
            <a:off x="7479792" y="2240280"/>
            <a:ext cx="1188720" cy="0"/>
          </a:xfrm>
          <a:prstGeom prst="line">
            <a:avLst/>
          </a:prstGeom>
          <a:solidFill>
            <a:srgbClr val="FFFFFF">
              <a:alpha val="0"/>
            </a:srgbClr>
          </a:solidFill>
          <a:ln w="15240">
            <a:solidFill>
              <a:srgbClr val="CBD5E1"/>
            </a:solidFill>
            <a:prstDash val="solid"/>
            <a:headEnd type="none"/>
            <a:tailEnd type="triangle"/>
          </a:ln>
        </p:spPr>
      </p:sp>
      <p:sp>
        <p:nvSpPr>
          <p:cNvPr id="11" name="Text 9"/>
          <p:cNvSpPr/>
          <p:nvPr/>
        </p:nvSpPr>
        <p:spPr>
          <a:xfrm>
            <a:off x="9089136" y="1938528"/>
            <a:ext cx="1920240" cy="685800"/>
          </a:xfrm>
          <a:prstGeom prst="rect">
            <a:avLst/>
          </a:prstGeom>
          <a:noFill/>
          <a:ln/>
        </p:spPr>
        <p:txBody>
          <a:bodyPr wrap="square" lIns="508" tIns="508" rIns="508" bIns="508" rtlCol="0" anchor="ctr">
            <a:normAutofit/>
          </a:bodyPr>
          <a:lstStyle/>
          <a:p>
            <a:pPr algn="ctr" indent="0" marL="0">
              <a:buNone/>
            </a:pPr>
            <a:r>
              <a:rPr lang="en-US" sz="1400" b="1" dirty="0">
                <a:solidFill>
                  <a:srgbClr val="111827"/>
                </a:solidFill>
              </a:rPr>
              <a:t>Meaning is close even when words differ</a:t>
            </a:r>
            <a:endParaRPr lang="en-US" sz="1400" dirty="0"/>
          </a:p>
        </p:txBody>
      </p:sp>
      <p:sp>
        <p:nvSpPr>
          <p:cNvPr id="12" name="Text 10"/>
          <p:cNvSpPr/>
          <p:nvPr/>
        </p:nvSpPr>
        <p:spPr>
          <a:xfrm>
            <a:off x="777240" y="3337560"/>
            <a:ext cx="10515600" cy="1463040"/>
          </a:xfrm>
          <a:prstGeom prst="rect">
            <a:avLst/>
          </a:prstGeom>
          <a:noFill/>
          <a:ln/>
        </p:spPr>
        <p:txBody>
          <a:bodyPr wrap="square" lIns="508" tIns="508" rIns="508" bIns="508" rtlCol="0" anchor="t">
            <a:normAutofit/>
          </a:bodyPr>
          <a:lstStyle/>
          <a:p>
            <a:r>
              <a:rPr lang="en-US" sz="1500" dirty="0">
                <a:solidFill>
                  <a:srgbClr val="111827"/>
                </a:solidFill>
              </a:rPr>
              <a:t>Keyword search is precise but brittle when vocabulary differs.
</a:t>
            </a:r>
            <a:endParaRPr lang="en-US" sz="1500" dirty="0"/>
          </a:p>
          <a:p>
            <a:r>
              <a:rPr lang="en-US" sz="1500" dirty="0">
                <a:solidFill>
                  <a:srgbClr val="111827"/>
                </a:solidFill>
              </a:rPr>
              <a:t>Vector search maps text/images/audio into a numerical space where closeness represents related meaning.
</a:t>
            </a:r>
            <a:endParaRPr lang="en-US" sz="1500" dirty="0"/>
          </a:p>
          <a:p>
            <a:r>
              <a:rPr lang="en-US" sz="1500" dirty="0">
                <a:solidFill>
                  <a:srgbClr val="111827"/>
                </a:solidFill>
              </a:rPr>
              <a:t>Vector databases make that search fast, filtered, reliable, and usable in real applications.</a:t>
            </a:r>
            <a:endParaRPr lang="en-US" sz="15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Logical flow for the talk</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A clean path from first principles to production architecture.</a:t>
            </a:r>
            <a:endParaRPr lang="en-US" sz="1150" dirty="0"/>
          </a:p>
        </p:txBody>
      </p:sp>
      <p:sp>
        <p:nvSpPr>
          <p:cNvPr id="4" name="Text 2"/>
          <p:cNvSpPr/>
          <p:nvPr/>
        </p:nvSpPr>
        <p:spPr>
          <a:xfrm>
            <a:off x="685800" y="1645920"/>
            <a:ext cx="502920" cy="502920"/>
          </a:xfrm>
          <a:prstGeom prst="rect">
            <a:avLst/>
          </a:prstGeom>
          <a:solidFill>
            <a:srgbClr val="DBEAFE"/>
          </a:solidFill>
          <a:ln w="13970">
            <a:solidFill>
              <a:srgbClr val="2563EB"/>
            </a:solidFill>
          </a:ln>
        </p:spPr>
        <p:txBody>
          <a:bodyPr wrap="square" lIns="1016" tIns="1016" rIns="1016" bIns="1016" rtlCol="0" anchor="ctr">
            <a:normAutofit/>
          </a:bodyPr>
          <a:lstStyle/>
          <a:p>
            <a:pPr algn="ctr" indent="0" marL="0">
              <a:buNone/>
            </a:pPr>
            <a:r>
              <a:rPr lang="en-US" sz="1600" b="1" dirty="0">
                <a:solidFill>
                  <a:srgbClr val="111827"/>
                </a:solidFill>
              </a:rPr>
              <a:t>1</a:t>
            </a:r>
            <a:endParaRPr lang="en-US" sz="1600" dirty="0"/>
          </a:p>
        </p:txBody>
      </p:sp>
      <p:sp>
        <p:nvSpPr>
          <p:cNvPr id="5" name="Text 3"/>
          <p:cNvSpPr/>
          <p:nvPr/>
        </p:nvSpPr>
        <p:spPr>
          <a:xfrm>
            <a:off x="502920" y="2331720"/>
            <a:ext cx="1417320" cy="228600"/>
          </a:xfrm>
          <a:prstGeom prst="rect">
            <a:avLst/>
          </a:prstGeom>
          <a:noFill/>
          <a:ln/>
        </p:spPr>
        <p:txBody>
          <a:bodyPr wrap="square" lIns="0" tIns="0" rIns="0" bIns="0" rtlCol="0" anchor="ctr"/>
          <a:lstStyle/>
          <a:p>
            <a:pPr algn="ctr" indent="0" marL="0">
              <a:buNone/>
            </a:pPr>
            <a:r>
              <a:rPr lang="en-US" sz="1250" b="1" dirty="0">
                <a:solidFill>
                  <a:srgbClr val="111827"/>
                </a:solidFill>
              </a:rPr>
              <a:t>Vectors</a:t>
            </a:r>
            <a:endParaRPr lang="en-US" sz="1250" dirty="0"/>
          </a:p>
        </p:txBody>
      </p:sp>
      <p:sp>
        <p:nvSpPr>
          <p:cNvPr id="6" name="Text 4"/>
          <p:cNvSpPr/>
          <p:nvPr/>
        </p:nvSpPr>
        <p:spPr>
          <a:xfrm>
            <a:off x="429768" y="2697480"/>
            <a:ext cx="1600200" cy="621792"/>
          </a:xfrm>
          <a:prstGeom prst="rect">
            <a:avLst/>
          </a:prstGeom>
          <a:noFill/>
          <a:ln/>
        </p:spPr>
        <p:txBody>
          <a:bodyPr wrap="square" lIns="254" tIns="254" rIns="254" bIns="254" rtlCol="0" anchor="ctr">
            <a:normAutofit/>
          </a:bodyPr>
          <a:lstStyle/>
          <a:p>
            <a:pPr algn="ctr" indent="0" marL="0">
              <a:buNone/>
            </a:pPr>
            <a:r>
              <a:rPr lang="en-US" sz="920" dirty="0">
                <a:solidFill>
                  <a:srgbClr val="4B5563"/>
                </a:solidFill>
              </a:rPr>
              <a:t>Numbers that represent direction and magnitude</a:t>
            </a:r>
            <a:endParaRPr lang="en-US" sz="920" dirty="0"/>
          </a:p>
        </p:txBody>
      </p:sp>
      <p:sp>
        <p:nvSpPr>
          <p:cNvPr id="7" name="Shape 5"/>
          <p:cNvSpPr/>
          <p:nvPr/>
        </p:nvSpPr>
        <p:spPr>
          <a:xfrm>
            <a:off x="1252728" y="1901952"/>
            <a:ext cx="850392" cy="0"/>
          </a:xfrm>
          <a:prstGeom prst="line">
            <a:avLst/>
          </a:prstGeom>
          <a:solidFill>
            <a:srgbClr val="FFFFFF">
              <a:alpha val="0"/>
            </a:srgbClr>
          </a:solidFill>
          <a:ln w="15240">
            <a:solidFill>
              <a:srgbClr val="CBD5E1"/>
            </a:solidFill>
            <a:prstDash val="solid"/>
            <a:headEnd type="none"/>
            <a:tailEnd type="triangle"/>
          </a:ln>
        </p:spPr>
      </p:sp>
      <p:sp>
        <p:nvSpPr>
          <p:cNvPr id="8" name="Text 6"/>
          <p:cNvSpPr/>
          <p:nvPr/>
        </p:nvSpPr>
        <p:spPr>
          <a:xfrm>
            <a:off x="2560320" y="1645920"/>
            <a:ext cx="502920" cy="502920"/>
          </a:xfrm>
          <a:prstGeom prst="rect">
            <a:avLst/>
          </a:prstGeom>
          <a:solidFill>
            <a:srgbClr val="CFFAFE"/>
          </a:solidFill>
          <a:ln w="13970">
            <a:solidFill>
              <a:srgbClr val="0891B2"/>
            </a:solidFill>
          </a:ln>
        </p:spPr>
        <p:txBody>
          <a:bodyPr wrap="square" lIns="1016" tIns="1016" rIns="1016" bIns="1016" rtlCol="0" anchor="ctr">
            <a:normAutofit/>
          </a:bodyPr>
          <a:lstStyle/>
          <a:p>
            <a:pPr algn="ctr" indent="0" marL="0">
              <a:buNone/>
            </a:pPr>
            <a:r>
              <a:rPr lang="en-US" sz="1600" b="1" dirty="0">
                <a:solidFill>
                  <a:srgbClr val="111827"/>
                </a:solidFill>
              </a:rPr>
              <a:t>2</a:t>
            </a:r>
            <a:endParaRPr lang="en-US" sz="1600" dirty="0"/>
          </a:p>
        </p:txBody>
      </p:sp>
      <p:sp>
        <p:nvSpPr>
          <p:cNvPr id="9" name="Text 7"/>
          <p:cNvSpPr/>
          <p:nvPr/>
        </p:nvSpPr>
        <p:spPr>
          <a:xfrm>
            <a:off x="2377440" y="2331720"/>
            <a:ext cx="1417320" cy="228600"/>
          </a:xfrm>
          <a:prstGeom prst="rect">
            <a:avLst/>
          </a:prstGeom>
          <a:noFill/>
          <a:ln/>
        </p:spPr>
        <p:txBody>
          <a:bodyPr wrap="square" lIns="0" tIns="0" rIns="0" bIns="0" rtlCol="0" anchor="ctr"/>
          <a:lstStyle/>
          <a:p>
            <a:pPr algn="ctr" indent="0" marL="0">
              <a:buNone/>
            </a:pPr>
            <a:r>
              <a:rPr lang="en-US" sz="1250" b="1" dirty="0">
                <a:solidFill>
                  <a:srgbClr val="111827"/>
                </a:solidFill>
              </a:rPr>
              <a:t>Embeddings</a:t>
            </a:r>
            <a:endParaRPr lang="en-US" sz="1250" dirty="0"/>
          </a:p>
        </p:txBody>
      </p:sp>
      <p:sp>
        <p:nvSpPr>
          <p:cNvPr id="10" name="Text 8"/>
          <p:cNvSpPr/>
          <p:nvPr/>
        </p:nvSpPr>
        <p:spPr>
          <a:xfrm>
            <a:off x="2304288" y="2697480"/>
            <a:ext cx="1600200" cy="621792"/>
          </a:xfrm>
          <a:prstGeom prst="rect">
            <a:avLst/>
          </a:prstGeom>
          <a:noFill/>
          <a:ln/>
        </p:spPr>
        <p:txBody>
          <a:bodyPr wrap="square" lIns="254" tIns="254" rIns="254" bIns="254" rtlCol="0" anchor="ctr">
            <a:normAutofit/>
          </a:bodyPr>
          <a:lstStyle/>
          <a:p>
            <a:pPr algn="ctr" indent="0" marL="0">
              <a:buNone/>
            </a:pPr>
            <a:r>
              <a:rPr lang="en-US" sz="920" dirty="0">
                <a:solidFill>
                  <a:srgbClr val="4B5563"/>
                </a:solidFill>
              </a:rPr>
              <a:t>Meaning converted into vectors</a:t>
            </a:r>
            <a:endParaRPr lang="en-US" sz="920" dirty="0"/>
          </a:p>
        </p:txBody>
      </p:sp>
      <p:sp>
        <p:nvSpPr>
          <p:cNvPr id="11" name="Shape 9"/>
          <p:cNvSpPr/>
          <p:nvPr/>
        </p:nvSpPr>
        <p:spPr>
          <a:xfrm>
            <a:off x="3127248" y="1901952"/>
            <a:ext cx="850392" cy="0"/>
          </a:xfrm>
          <a:prstGeom prst="line">
            <a:avLst/>
          </a:prstGeom>
          <a:solidFill>
            <a:srgbClr val="FFFFFF">
              <a:alpha val="0"/>
            </a:srgbClr>
          </a:solidFill>
          <a:ln w="15240">
            <a:solidFill>
              <a:srgbClr val="CBD5E1"/>
            </a:solidFill>
            <a:prstDash val="solid"/>
            <a:headEnd type="none"/>
            <a:tailEnd type="triangle"/>
          </a:ln>
        </p:spPr>
      </p:sp>
      <p:sp>
        <p:nvSpPr>
          <p:cNvPr id="12" name="Text 10"/>
          <p:cNvSpPr/>
          <p:nvPr/>
        </p:nvSpPr>
        <p:spPr>
          <a:xfrm>
            <a:off x="4434840" y="1645920"/>
            <a:ext cx="502920" cy="502920"/>
          </a:xfrm>
          <a:prstGeom prst="rect">
            <a:avLst/>
          </a:prstGeom>
          <a:solidFill>
            <a:srgbClr val="EDE9FE"/>
          </a:solidFill>
          <a:ln w="13970">
            <a:solidFill>
              <a:srgbClr val="7C3AED"/>
            </a:solidFill>
          </a:ln>
        </p:spPr>
        <p:txBody>
          <a:bodyPr wrap="square" lIns="1016" tIns="1016" rIns="1016" bIns="1016" rtlCol="0" anchor="ctr">
            <a:normAutofit/>
          </a:bodyPr>
          <a:lstStyle/>
          <a:p>
            <a:pPr algn="ctr" indent="0" marL="0">
              <a:buNone/>
            </a:pPr>
            <a:r>
              <a:rPr lang="en-US" sz="1600" b="1" dirty="0">
                <a:solidFill>
                  <a:srgbClr val="111827"/>
                </a:solidFill>
              </a:rPr>
              <a:t>3</a:t>
            </a:r>
            <a:endParaRPr lang="en-US" sz="1600" dirty="0"/>
          </a:p>
        </p:txBody>
      </p:sp>
      <p:sp>
        <p:nvSpPr>
          <p:cNvPr id="13" name="Text 11"/>
          <p:cNvSpPr/>
          <p:nvPr/>
        </p:nvSpPr>
        <p:spPr>
          <a:xfrm>
            <a:off x="4251960" y="2331720"/>
            <a:ext cx="1417320" cy="228600"/>
          </a:xfrm>
          <a:prstGeom prst="rect">
            <a:avLst/>
          </a:prstGeom>
          <a:noFill/>
          <a:ln/>
        </p:spPr>
        <p:txBody>
          <a:bodyPr wrap="square" lIns="0" tIns="0" rIns="0" bIns="0" rtlCol="0" anchor="ctr"/>
          <a:lstStyle/>
          <a:p>
            <a:pPr algn="ctr" indent="0" marL="0">
              <a:buNone/>
            </a:pPr>
            <a:r>
              <a:rPr lang="en-US" sz="1250" b="1" dirty="0">
                <a:solidFill>
                  <a:srgbClr val="111827"/>
                </a:solidFill>
              </a:rPr>
              <a:t>Similarity</a:t>
            </a:r>
            <a:endParaRPr lang="en-US" sz="1250" dirty="0"/>
          </a:p>
        </p:txBody>
      </p:sp>
      <p:sp>
        <p:nvSpPr>
          <p:cNvPr id="14" name="Text 12"/>
          <p:cNvSpPr/>
          <p:nvPr/>
        </p:nvSpPr>
        <p:spPr>
          <a:xfrm>
            <a:off x="4178808" y="2697480"/>
            <a:ext cx="1600200" cy="621792"/>
          </a:xfrm>
          <a:prstGeom prst="rect">
            <a:avLst/>
          </a:prstGeom>
          <a:noFill/>
          <a:ln/>
        </p:spPr>
        <p:txBody>
          <a:bodyPr wrap="square" lIns="254" tIns="254" rIns="254" bIns="254" rtlCol="0" anchor="ctr">
            <a:normAutofit/>
          </a:bodyPr>
          <a:lstStyle/>
          <a:p>
            <a:pPr algn="ctr" indent="0" marL="0">
              <a:buNone/>
            </a:pPr>
            <a:r>
              <a:rPr lang="en-US" sz="920" dirty="0">
                <a:solidFill>
                  <a:srgbClr val="4B5563"/>
                </a:solidFill>
              </a:rPr>
              <a:t>Cosine, dot product, Euclidean distance</a:t>
            </a:r>
            <a:endParaRPr lang="en-US" sz="920" dirty="0"/>
          </a:p>
        </p:txBody>
      </p:sp>
      <p:sp>
        <p:nvSpPr>
          <p:cNvPr id="15" name="Shape 13"/>
          <p:cNvSpPr/>
          <p:nvPr/>
        </p:nvSpPr>
        <p:spPr>
          <a:xfrm>
            <a:off x="5001768" y="1901952"/>
            <a:ext cx="850392" cy="0"/>
          </a:xfrm>
          <a:prstGeom prst="line">
            <a:avLst/>
          </a:prstGeom>
          <a:solidFill>
            <a:srgbClr val="FFFFFF">
              <a:alpha val="0"/>
            </a:srgbClr>
          </a:solidFill>
          <a:ln w="15240">
            <a:solidFill>
              <a:srgbClr val="CBD5E1"/>
            </a:solidFill>
            <a:prstDash val="solid"/>
            <a:headEnd type="none"/>
            <a:tailEnd type="triangle"/>
          </a:ln>
        </p:spPr>
      </p:sp>
      <p:sp>
        <p:nvSpPr>
          <p:cNvPr id="16" name="Text 14"/>
          <p:cNvSpPr/>
          <p:nvPr/>
        </p:nvSpPr>
        <p:spPr>
          <a:xfrm>
            <a:off x="6309360" y="1645920"/>
            <a:ext cx="502920" cy="502920"/>
          </a:xfrm>
          <a:prstGeom prst="rect">
            <a:avLst/>
          </a:prstGeom>
          <a:solidFill>
            <a:srgbClr val="D1FAE5"/>
          </a:solidFill>
          <a:ln w="13970">
            <a:solidFill>
              <a:srgbClr val="059669"/>
            </a:solidFill>
          </a:ln>
        </p:spPr>
        <p:txBody>
          <a:bodyPr wrap="square" lIns="1016" tIns="1016" rIns="1016" bIns="1016" rtlCol="0" anchor="ctr">
            <a:normAutofit/>
          </a:bodyPr>
          <a:lstStyle/>
          <a:p>
            <a:pPr algn="ctr" indent="0" marL="0">
              <a:buNone/>
            </a:pPr>
            <a:r>
              <a:rPr lang="en-US" sz="1600" b="1" dirty="0">
                <a:solidFill>
                  <a:srgbClr val="111827"/>
                </a:solidFill>
              </a:rPr>
              <a:t>4</a:t>
            </a:r>
            <a:endParaRPr lang="en-US" sz="1600" dirty="0"/>
          </a:p>
        </p:txBody>
      </p:sp>
      <p:sp>
        <p:nvSpPr>
          <p:cNvPr id="17" name="Text 15"/>
          <p:cNvSpPr/>
          <p:nvPr/>
        </p:nvSpPr>
        <p:spPr>
          <a:xfrm>
            <a:off x="6126480" y="2331720"/>
            <a:ext cx="1417320" cy="228600"/>
          </a:xfrm>
          <a:prstGeom prst="rect">
            <a:avLst/>
          </a:prstGeom>
          <a:noFill/>
          <a:ln/>
        </p:spPr>
        <p:txBody>
          <a:bodyPr wrap="square" lIns="0" tIns="0" rIns="0" bIns="0" rtlCol="0" anchor="ctr"/>
          <a:lstStyle/>
          <a:p>
            <a:pPr algn="ctr" indent="0" marL="0">
              <a:buNone/>
            </a:pPr>
            <a:r>
              <a:rPr lang="en-US" sz="1250" b="1" dirty="0">
                <a:solidFill>
                  <a:srgbClr val="111827"/>
                </a:solidFill>
              </a:rPr>
              <a:t>ANN indexes</a:t>
            </a:r>
            <a:endParaRPr lang="en-US" sz="1250" dirty="0"/>
          </a:p>
        </p:txBody>
      </p:sp>
      <p:sp>
        <p:nvSpPr>
          <p:cNvPr id="18" name="Text 16"/>
          <p:cNvSpPr/>
          <p:nvPr/>
        </p:nvSpPr>
        <p:spPr>
          <a:xfrm>
            <a:off x="6053328" y="2697480"/>
            <a:ext cx="1600200" cy="621792"/>
          </a:xfrm>
          <a:prstGeom prst="rect">
            <a:avLst/>
          </a:prstGeom>
          <a:noFill/>
          <a:ln/>
        </p:spPr>
        <p:txBody>
          <a:bodyPr wrap="square" lIns="254" tIns="254" rIns="254" bIns="254" rtlCol="0" anchor="ctr">
            <a:normAutofit/>
          </a:bodyPr>
          <a:lstStyle/>
          <a:p>
            <a:pPr algn="ctr" indent="0" marL="0">
              <a:buNone/>
            </a:pPr>
            <a:r>
              <a:rPr lang="en-US" sz="920" dirty="0">
                <a:solidFill>
                  <a:srgbClr val="4B5563"/>
                </a:solidFill>
              </a:rPr>
              <a:t>Fast approximate nearest-neighbor search</a:t>
            </a:r>
            <a:endParaRPr lang="en-US" sz="920" dirty="0"/>
          </a:p>
        </p:txBody>
      </p:sp>
      <p:sp>
        <p:nvSpPr>
          <p:cNvPr id="19" name="Shape 17"/>
          <p:cNvSpPr/>
          <p:nvPr/>
        </p:nvSpPr>
        <p:spPr>
          <a:xfrm>
            <a:off x="6876288" y="1901952"/>
            <a:ext cx="850392" cy="0"/>
          </a:xfrm>
          <a:prstGeom prst="line">
            <a:avLst/>
          </a:prstGeom>
          <a:solidFill>
            <a:srgbClr val="FFFFFF">
              <a:alpha val="0"/>
            </a:srgbClr>
          </a:solidFill>
          <a:ln w="15240">
            <a:solidFill>
              <a:srgbClr val="CBD5E1"/>
            </a:solidFill>
            <a:prstDash val="solid"/>
            <a:headEnd type="none"/>
            <a:tailEnd type="triangle"/>
          </a:ln>
        </p:spPr>
      </p:sp>
      <p:sp>
        <p:nvSpPr>
          <p:cNvPr id="20" name="Text 18"/>
          <p:cNvSpPr/>
          <p:nvPr/>
        </p:nvSpPr>
        <p:spPr>
          <a:xfrm>
            <a:off x="8183880" y="1645920"/>
            <a:ext cx="502920" cy="502920"/>
          </a:xfrm>
          <a:prstGeom prst="rect">
            <a:avLst/>
          </a:prstGeom>
          <a:solidFill>
            <a:srgbClr val="FFEDD5"/>
          </a:solidFill>
          <a:ln w="13970">
            <a:solidFill>
              <a:srgbClr val="EA580C"/>
            </a:solidFill>
          </a:ln>
        </p:spPr>
        <p:txBody>
          <a:bodyPr wrap="square" lIns="1016" tIns="1016" rIns="1016" bIns="1016" rtlCol="0" anchor="ctr">
            <a:normAutofit/>
          </a:bodyPr>
          <a:lstStyle/>
          <a:p>
            <a:pPr algn="ctr" indent="0" marL="0">
              <a:buNone/>
            </a:pPr>
            <a:r>
              <a:rPr lang="en-US" sz="1600" b="1" dirty="0">
                <a:solidFill>
                  <a:srgbClr val="111827"/>
                </a:solidFill>
              </a:rPr>
              <a:t>5</a:t>
            </a:r>
            <a:endParaRPr lang="en-US" sz="1600" dirty="0"/>
          </a:p>
        </p:txBody>
      </p:sp>
      <p:sp>
        <p:nvSpPr>
          <p:cNvPr id="21" name="Text 19"/>
          <p:cNvSpPr/>
          <p:nvPr/>
        </p:nvSpPr>
        <p:spPr>
          <a:xfrm>
            <a:off x="8001000" y="2331720"/>
            <a:ext cx="1417320" cy="228600"/>
          </a:xfrm>
          <a:prstGeom prst="rect">
            <a:avLst/>
          </a:prstGeom>
          <a:noFill/>
          <a:ln/>
        </p:spPr>
        <p:txBody>
          <a:bodyPr wrap="square" lIns="0" tIns="0" rIns="0" bIns="0" rtlCol="0" anchor="ctr"/>
          <a:lstStyle/>
          <a:p>
            <a:pPr algn="ctr" indent="0" marL="0">
              <a:buNone/>
            </a:pPr>
            <a:r>
              <a:rPr lang="en-US" sz="1250" b="1" dirty="0">
                <a:solidFill>
                  <a:srgbClr val="111827"/>
                </a:solidFill>
              </a:rPr>
              <a:t>Vector DB</a:t>
            </a:r>
            <a:endParaRPr lang="en-US" sz="1250" dirty="0"/>
          </a:p>
        </p:txBody>
      </p:sp>
      <p:sp>
        <p:nvSpPr>
          <p:cNvPr id="22" name="Text 20"/>
          <p:cNvSpPr/>
          <p:nvPr/>
        </p:nvSpPr>
        <p:spPr>
          <a:xfrm>
            <a:off x="7927848" y="2697480"/>
            <a:ext cx="1600200" cy="621792"/>
          </a:xfrm>
          <a:prstGeom prst="rect">
            <a:avLst/>
          </a:prstGeom>
          <a:noFill/>
          <a:ln/>
        </p:spPr>
        <p:txBody>
          <a:bodyPr wrap="square" lIns="254" tIns="254" rIns="254" bIns="254" rtlCol="0" anchor="ctr">
            <a:normAutofit/>
          </a:bodyPr>
          <a:lstStyle/>
          <a:p>
            <a:pPr algn="ctr" indent="0" marL="0">
              <a:buNone/>
            </a:pPr>
            <a:r>
              <a:rPr lang="en-US" sz="920" dirty="0">
                <a:solidFill>
                  <a:srgbClr val="4B5563"/>
                </a:solidFill>
              </a:rPr>
              <a:t>Storage, metadata filters, hybrid search, RAG</a:t>
            </a:r>
            <a:endParaRPr lang="en-US" sz="920" dirty="0"/>
          </a:p>
        </p:txBody>
      </p:sp>
      <p:sp>
        <p:nvSpPr>
          <p:cNvPr id="23" name="Shape 21"/>
          <p:cNvSpPr/>
          <p:nvPr/>
        </p:nvSpPr>
        <p:spPr>
          <a:xfrm>
            <a:off x="8750808" y="1901952"/>
            <a:ext cx="850392" cy="0"/>
          </a:xfrm>
          <a:prstGeom prst="line">
            <a:avLst/>
          </a:prstGeom>
          <a:solidFill>
            <a:srgbClr val="FFFFFF">
              <a:alpha val="0"/>
            </a:srgbClr>
          </a:solidFill>
          <a:ln w="15240">
            <a:solidFill>
              <a:srgbClr val="CBD5E1"/>
            </a:solidFill>
            <a:prstDash val="solid"/>
            <a:headEnd type="none"/>
            <a:tailEnd type="triangle"/>
          </a:ln>
        </p:spPr>
      </p:sp>
      <p:sp>
        <p:nvSpPr>
          <p:cNvPr id="24" name="Text 22"/>
          <p:cNvSpPr/>
          <p:nvPr/>
        </p:nvSpPr>
        <p:spPr>
          <a:xfrm>
            <a:off x="10058400" y="1645920"/>
            <a:ext cx="502920" cy="502920"/>
          </a:xfrm>
          <a:prstGeom prst="rect">
            <a:avLst/>
          </a:prstGeom>
          <a:solidFill>
            <a:srgbClr val="FEE2E2"/>
          </a:solidFill>
          <a:ln w="13970">
            <a:solidFill>
              <a:srgbClr val="DC2626"/>
            </a:solidFill>
          </a:ln>
        </p:spPr>
        <p:txBody>
          <a:bodyPr wrap="square" lIns="1016" tIns="1016" rIns="1016" bIns="1016" rtlCol="0" anchor="ctr">
            <a:normAutofit/>
          </a:bodyPr>
          <a:lstStyle/>
          <a:p>
            <a:pPr algn="ctr" indent="0" marL="0">
              <a:buNone/>
            </a:pPr>
            <a:r>
              <a:rPr lang="en-US" sz="1600" b="1" dirty="0">
                <a:solidFill>
                  <a:srgbClr val="111827"/>
                </a:solidFill>
              </a:rPr>
              <a:t>6</a:t>
            </a:r>
            <a:endParaRPr lang="en-US" sz="1600" dirty="0"/>
          </a:p>
        </p:txBody>
      </p:sp>
      <p:sp>
        <p:nvSpPr>
          <p:cNvPr id="25" name="Text 23"/>
          <p:cNvSpPr/>
          <p:nvPr/>
        </p:nvSpPr>
        <p:spPr>
          <a:xfrm>
            <a:off x="9875520" y="2331720"/>
            <a:ext cx="1417320" cy="228600"/>
          </a:xfrm>
          <a:prstGeom prst="rect">
            <a:avLst/>
          </a:prstGeom>
          <a:noFill/>
          <a:ln/>
        </p:spPr>
        <p:txBody>
          <a:bodyPr wrap="square" lIns="0" tIns="0" rIns="0" bIns="0" rtlCol="0" anchor="ctr"/>
          <a:lstStyle/>
          <a:p>
            <a:pPr algn="ctr" indent="0" marL="0">
              <a:buNone/>
            </a:pPr>
            <a:r>
              <a:rPr lang="en-US" sz="1250" b="1" dirty="0">
                <a:solidFill>
                  <a:srgbClr val="111827"/>
                </a:solidFill>
              </a:rPr>
              <a:t>Production</a:t>
            </a:r>
            <a:endParaRPr lang="en-US" sz="1250" dirty="0"/>
          </a:p>
        </p:txBody>
      </p:sp>
      <p:sp>
        <p:nvSpPr>
          <p:cNvPr id="26" name="Text 24"/>
          <p:cNvSpPr/>
          <p:nvPr/>
        </p:nvSpPr>
        <p:spPr>
          <a:xfrm>
            <a:off x="9802368" y="2697480"/>
            <a:ext cx="1600200" cy="621792"/>
          </a:xfrm>
          <a:prstGeom prst="rect">
            <a:avLst/>
          </a:prstGeom>
          <a:noFill/>
          <a:ln/>
        </p:spPr>
        <p:txBody>
          <a:bodyPr wrap="square" lIns="254" tIns="254" rIns="254" bIns="254" rtlCol="0" anchor="ctr">
            <a:normAutofit/>
          </a:bodyPr>
          <a:lstStyle/>
          <a:p>
            <a:pPr algn="ctr" indent="0" marL="0">
              <a:buNone/>
            </a:pPr>
            <a:r>
              <a:rPr lang="en-US" sz="920" dirty="0">
                <a:solidFill>
                  <a:srgbClr val="4B5563"/>
                </a:solidFill>
              </a:rPr>
              <a:t>Chunking, evaluation, operations</a:t>
            </a:r>
            <a:endParaRPr lang="en-US" sz="920" dirty="0"/>
          </a:p>
        </p:txBody>
      </p:sp>
      <p:sp>
        <p:nvSpPr>
          <p:cNvPr id="27" name="Text 25"/>
          <p:cNvSpPr/>
          <p:nvPr/>
        </p:nvSpPr>
        <p:spPr>
          <a:xfrm>
            <a:off x="914400" y="4160520"/>
            <a:ext cx="10287000" cy="1188720"/>
          </a:xfrm>
          <a:prstGeom prst="rect">
            <a:avLst/>
          </a:prstGeom>
          <a:noFill/>
          <a:ln/>
        </p:spPr>
        <p:txBody>
          <a:bodyPr wrap="square" lIns="508" tIns="508" rIns="508" bIns="508" rtlCol="0" anchor="t">
            <a:normAutofit/>
          </a:bodyPr>
          <a:lstStyle/>
          <a:p>
            <a:r>
              <a:rPr lang="en-US" sz="1450" dirty="0">
                <a:solidFill>
                  <a:srgbClr val="111827"/>
                </a:solidFill>
              </a:rPr>
              <a:t>Keep the first half conceptual: vectors, similarity, embeddings.
</a:t>
            </a:r>
            <a:endParaRPr lang="en-US" sz="1450" dirty="0"/>
          </a:p>
          <a:p>
            <a:r>
              <a:rPr lang="en-US" sz="1450" dirty="0">
                <a:solidFill>
                  <a:srgbClr val="111827"/>
                </a:solidFill>
              </a:rPr>
              <a:t>Use the middle to explain the speed problem and ANN algorithms.
</a:t>
            </a:r>
            <a:endParaRPr lang="en-US" sz="1450" dirty="0"/>
          </a:p>
          <a:p>
            <a:r>
              <a:rPr lang="en-US" sz="1450" dirty="0">
                <a:solidFill>
                  <a:srgbClr val="111827"/>
                </a:solidFill>
              </a:rPr>
              <a:t>Close with engineering choices: indexes, metadata, chunking, hybrid search, and RAG design.</a:t>
            </a:r>
            <a:endParaRPr lang="en-US" sz="145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What is a vector?</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A vector is an ordered list of numbers; geometrically, it can represent a point, direction, or arrow.</a:t>
            </a:r>
            <a:endParaRPr lang="en-US" sz="1150" dirty="0"/>
          </a:p>
        </p:txBody>
      </p:sp>
      <p:sp>
        <p:nvSpPr>
          <p:cNvPr id="4" name="Shape 2"/>
          <p:cNvSpPr/>
          <p:nvPr/>
        </p:nvSpPr>
        <p:spPr>
          <a:xfrm>
            <a:off x="1051560" y="5349240"/>
            <a:ext cx="4069080" cy="0"/>
          </a:xfrm>
          <a:prstGeom prst="line">
            <a:avLst/>
          </a:prstGeom>
          <a:solidFill>
            <a:srgbClr val="FFFFFF">
              <a:alpha val="0"/>
            </a:srgbClr>
          </a:solidFill>
          <a:ln w="16510">
            <a:solidFill>
              <a:srgbClr val="111827"/>
            </a:solidFill>
            <a:prstDash val="solid"/>
            <a:headEnd type="none"/>
            <a:tailEnd type="triangle"/>
          </a:ln>
        </p:spPr>
      </p:sp>
      <p:sp>
        <p:nvSpPr>
          <p:cNvPr id="5" name="Shape 3"/>
          <p:cNvSpPr/>
          <p:nvPr/>
        </p:nvSpPr>
        <p:spPr>
          <a:xfrm>
            <a:off x="1051560" y="5349240"/>
            <a:ext cx="0" cy="-4114800"/>
          </a:xfrm>
          <a:prstGeom prst="line">
            <a:avLst/>
          </a:prstGeom>
          <a:solidFill>
            <a:srgbClr val="FFFFFF">
              <a:alpha val="0"/>
            </a:srgbClr>
          </a:solidFill>
          <a:ln w="16510">
            <a:solidFill>
              <a:srgbClr val="111827"/>
            </a:solidFill>
            <a:prstDash val="solid"/>
            <a:headEnd type="none"/>
            <a:tailEnd type="triangle"/>
          </a:ln>
        </p:spPr>
      </p:sp>
      <p:sp>
        <p:nvSpPr>
          <p:cNvPr id="6" name="Shape 4"/>
          <p:cNvSpPr/>
          <p:nvPr/>
        </p:nvSpPr>
        <p:spPr>
          <a:xfrm>
            <a:off x="1051560" y="5349240"/>
            <a:ext cx="3200400" cy="-3108960"/>
          </a:xfrm>
          <a:prstGeom prst="line">
            <a:avLst/>
          </a:prstGeom>
          <a:solidFill>
            <a:srgbClr val="FFFFFF">
              <a:alpha val="0"/>
            </a:srgbClr>
          </a:solidFill>
          <a:ln w="29210">
            <a:solidFill>
              <a:srgbClr val="2563EB"/>
            </a:solidFill>
            <a:prstDash val="solid"/>
            <a:headEnd type="none"/>
            <a:tailEnd type="triangle"/>
          </a:ln>
        </p:spPr>
      </p:sp>
      <p:sp>
        <p:nvSpPr>
          <p:cNvPr id="7" name="Text 5"/>
          <p:cNvSpPr/>
          <p:nvPr/>
        </p:nvSpPr>
        <p:spPr>
          <a:xfrm>
            <a:off x="3200400" y="1965960"/>
            <a:ext cx="1005840" cy="274320"/>
          </a:xfrm>
          <a:prstGeom prst="rect">
            <a:avLst/>
          </a:prstGeom>
          <a:noFill/>
          <a:ln/>
        </p:spPr>
        <p:txBody>
          <a:bodyPr wrap="square" lIns="0" tIns="0" rIns="0" bIns="0" rtlCol="0" anchor="ctr"/>
          <a:lstStyle/>
          <a:p>
            <a:pPr indent="0" marL="0">
              <a:buNone/>
            </a:pPr>
            <a:r>
              <a:rPr lang="en-US" sz="1600" b="1" dirty="0">
                <a:solidFill>
                  <a:srgbClr val="2563EB"/>
                </a:solidFill>
              </a:rPr>
              <a:t>[3, 2]</a:t>
            </a:r>
            <a:endParaRPr lang="en-US" sz="1600" dirty="0"/>
          </a:p>
        </p:txBody>
      </p:sp>
      <p:sp>
        <p:nvSpPr>
          <p:cNvPr id="8" name="Text 6"/>
          <p:cNvSpPr/>
          <p:nvPr/>
        </p:nvSpPr>
        <p:spPr>
          <a:xfrm>
            <a:off x="3822192" y="5532120"/>
            <a:ext cx="685800" cy="201168"/>
          </a:xfrm>
          <a:prstGeom prst="rect">
            <a:avLst/>
          </a:prstGeom>
          <a:noFill/>
          <a:ln/>
        </p:spPr>
        <p:txBody>
          <a:bodyPr wrap="square" lIns="381" tIns="381" rIns="381" bIns="381" rtlCol="0" anchor="ctr">
            <a:normAutofit/>
          </a:bodyPr>
          <a:lstStyle/>
          <a:p>
            <a:pPr algn="l" indent="0" marL="0">
              <a:buNone/>
            </a:pPr>
            <a:r>
              <a:rPr lang="en-US" sz="1050" dirty="0">
                <a:solidFill>
                  <a:srgbClr val="4B5563"/>
                </a:solidFill>
              </a:rPr>
              <a:t>x = 3</a:t>
            </a:r>
            <a:endParaRPr lang="en-US" sz="1050" dirty="0"/>
          </a:p>
        </p:txBody>
      </p:sp>
      <p:sp>
        <p:nvSpPr>
          <p:cNvPr id="9" name="Text 7"/>
          <p:cNvSpPr/>
          <p:nvPr/>
        </p:nvSpPr>
        <p:spPr>
          <a:xfrm>
            <a:off x="320040" y="2286000"/>
            <a:ext cx="685800" cy="201168"/>
          </a:xfrm>
          <a:prstGeom prst="rect">
            <a:avLst/>
          </a:prstGeom>
          <a:noFill/>
          <a:ln/>
        </p:spPr>
        <p:txBody>
          <a:bodyPr wrap="square" lIns="381" tIns="381" rIns="381" bIns="381" rtlCol="0" anchor="ctr">
            <a:normAutofit/>
          </a:bodyPr>
          <a:lstStyle/>
          <a:p>
            <a:pPr algn="l" indent="0" marL="0">
              <a:buNone/>
            </a:pPr>
            <a:r>
              <a:rPr lang="en-US" sz="1050" dirty="0">
                <a:solidFill>
                  <a:srgbClr val="4B5563"/>
                </a:solidFill>
              </a:rPr>
              <a:t>y = 2</a:t>
            </a:r>
            <a:endParaRPr lang="en-US" sz="1050" dirty="0"/>
          </a:p>
        </p:txBody>
      </p:sp>
      <p:sp>
        <p:nvSpPr>
          <p:cNvPr id="10" name="Text 8"/>
          <p:cNvSpPr/>
          <p:nvPr/>
        </p:nvSpPr>
        <p:spPr>
          <a:xfrm>
            <a:off x="5852160" y="1508760"/>
            <a:ext cx="5303520" cy="1554480"/>
          </a:xfrm>
          <a:prstGeom prst="rect">
            <a:avLst/>
          </a:prstGeom>
          <a:noFill/>
          <a:ln/>
        </p:spPr>
        <p:txBody>
          <a:bodyPr wrap="square" lIns="508" tIns="508" rIns="508" bIns="508" rtlCol="0" anchor="t">
            <a:normAutofit/>
          </a:bodyPr>
          <a:lstStyle/>
          <a:p>
            <a:r>
              <a:rPr lang="en-US" sz="1450" dirty="0">
                <a:solidFill>
                  <a:srgbClr val="111827"/>
                </a:solidFill>
              </a:rPr>
              <a:t>In 2D: [3, 2] means 3 units on x-axis and 2 units on y-axis.
</a:t>
            </a:r>
            <a:endParaRPr lang="en-US" sz="1450" dirty="0"/>
          </a:p>
          <a:p>
            <a:r>
              <a:rPr lang="en-US" sz="1450" dirty="0">
                <a:solidFill>
                  <a:srgbClr val="111827"/>
                </a:solidFill>
              </a:rPr>
              <a:t>In vector search: a vector may have hundreds or thousands of dimensions.
</a:t>
            </a:r>
            <a:endParaRPr lang="en-US" sz="1450" dirty="0"/>
          </a:p>
          <a:p>
            <a:r>
              <a:rPr lang="en-US" sz="1450" dirty="0">
                <a:solidFill>
                  <a:srgbClr val="111827"/>
                </a:solidFill>
              </a:rPr>
              <a:t>A vector database stores these vectors and finds nearby vectors quickly.</a:t>
            </a:r>
            <a:endParaRPr lang="en-US" sz="1450" dirty="0"/>
          </a:p>
        </p:txBody>
      </p:sp>
      <p:sp>
        <p:nvSpPr>
          <p:cNvPr id="11" name="Text 9"/>
          <p:cNvSpPr/>
          <p:nvPr/>
        </p:nvSpPr>
        <p:spPr>
          <a:xfrm>
            <a:off x="5897880" y="3840480"/>
            <a:ext cx="5120640" cy="548640"/>
          </a:xfrm>
          <a:prstGeom prst="rect">
            <a:avLst/>
          </a:prstGeom>
          <a:noFill/>
          <a:ln/>
        </p:spPr>
        <p:txBody>
          <a:bodyPr wrap="square" lIns="508" tIns="508" rIns="508" bIns="508" rtlCol="0" anchor="ctr">
            <a:normAutofit/>
          </a:bodyPr>
          <a:lstStyle/>
          <a:p>
            <a:pPr indent="0" marL="0">
              <a:buNone/>
            </a:pPr>
            <a:r>
              <a:rPr lang="en-US" sz="1800" b="1" dirty="0">
                <a:solidFill>
                  <a:srgbClr val="111827"/>
                </a:solidFill>
              </a:rPr>
              <a:t>Key mental model: similar objects should land near each other in vector space.</a:t>
            </a:r>
            <a:endParaRPr lang="en-US" sz="18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From vectors to embeddings</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An embedding is a vector produced by a model to represent meaning, context, or features.</a:t>
            </a:r>
            <a:endParaRPr lang="en-US" sz="1150" dirty="0"/>
          </a:p>
        </p:txBody>
      </p:sp>
      <p:sp>
        <p:nvSpPr>
          <p:cNvPr id="4" name="Text 2"/>
          <p:cNvSpPr/>
          <p:nvPr/>
        </p:nvSpPr>
        <p:spPr>
          <a:xfrm>
            <a:off x="822960" y="2148840"/>
            <a:ext cx="2103120" cy="749808"/>
          </a:xfrm>
          <a:prstGeom prst="rect">
            <a:avLst/>
          </a:prstGeom>
          <a:solidFill>
            <a:srgbClr val="DBEAFE"/>
          </a:solidFill>
          <a:ln w="13970">
            <a:solidFill>
              <a:srgbClr val="2563EB"/>
            </a:solidFill>
          </a:ln>
        </p:spPr>
        <p:txBody>
          <a:bodyPr wrap="square" lIns="1016" tIns="1016" rIns="1016" bIns="1016" rtlCol="0" anchor="ctr">
            <a:normAutofit/>
          </a:bodyPr>
          <a:lstStyle/>
          <a:p>
            <a:pPr algn="ctr" indent="0" marL="0">
              <a:buNone/>
            </a:pPr>
            <a:r>
              <a:rPr lang="en-US" sz="1250" b="1" dirty="0">
                <a:solidFill>
                  <a:srgbClr val="111827"/>
                </a:solidFill>
              </a:rPr>
              <a:t>Text</a:t>
            </a:r>
            <a:endParaRPr lang="en-US" sz="1250" dirty="0"/>
          </a:p>
          <a:p>
            <a:pPr algn="ctr" indent="0" marL="0">
              <a:buNone/>
            </a:pPr>
            <a:r>
              <a:rPr lang="en-US" sz="1250" b="1" dirty="0">
                <a:solidFill>
                  <a:srgbClr val="111827"/>
                </a:solidFill>
              </a:rPr>
              <a:t>“refund not received”</a:t>
            </a:r>
            <a:endParaRPr lang="en-US" sz="1250" dirty="0"/>
          </a:p>
        </p:txBody>
      </p:sp>
      <p:sp>
        <p:nvSpPr>
          <p:cNvPr id="5" name="Shape 3"/>
          <p:cNvSpPr/>
          <p:nvPr/>
        </p:nvSpPr>
        <p:spPr>
          <a:xfrm>
            <a:off x="3063240" y="2523744"/>
            <a:ext cx="1097280" cy="0"/>
          </a:xfrm>
          <a:prstGeom prst="line">
            <a:avLst/>
          </a:prstGeom>
          <a:solidFill>
            <a:srgbClr val="FFFFFF">
              <a:alpha val="0"/>
            </a:srgbClr>
          </a:solidFill>
          <a:ln w="16510">
            <a:solidFill>
              <a:srgbClr val="CBD5E1"/>
            </a:solidFill>
            <a:prstDash val="solid"/>
            <a:headEnd type="none"/>
            <a:tailEnd type="triangle"/>
          </a:ln>
        </p:spPr>
      </p:sp>
      <p:sp>
        <p:nvSpPr>
          <p:cNvPr id="6" name="Text 4"/>
          <p:cNvSpPr/>
          <p:nvPr/>
        </p:nvSpPr>
        <p:spPr>
          <a:xfrm>
            <a:off x="4343400" y="2148840"/>
            <a:ext cx="1737360" cy="749808"/>
          </a:xfrm>
          <a:prstGeom prst="rect">
            <a:avLst/>
          </a:prstGeom>
          <a:solidFill>
            <a:srgbClr val="EDE9FE"/>
          </a:solidFill>
          <a:ln w="13970">
            <a:solidFill>
              <a:srgbClr val="7C3AED"/>
            </a:solidFill>
          </a:ln>
        </p:spPr>
        <p:txBody>
          <a:bodyPr wrap="square" lIns="1016" tIns="1016" rIns="1016" bIns="1016" rtlCol="0" anchor="ctr">
            <a:normAutofit/>
          </a:bodyPr>
          <a:lstStyle/>
          <a:p>
            <a:pPr algn="ctr" indent="0" marL="0">
              <a:buNone/>
            </a:pPr>
            <a:r>
              <a:rPr lang="en-US" sz="1250" b="1" dirty="0">
                <a:solidFill>
                  <a:srgbClr val="111827"/>
                </a:solidFill>
              </a:rPr>
              <a:t>Embedding</a:t>
            </a:r>
            <a:endParaRPr lang="en-US" sz="1250" dirty="0"/>
          </a:p>
          <a:p>
            <a:pPr algn="ctr" indent="0" marL="0">
              <a:buNone/>
            </a:pPr>
            <a:r>
              <a:rPr lang="en-US" sz="1250" b="1" dirty="0">
                <a:solidFill>
                  <a:srgbClr val="111827"/>
                </a:solidFill>
              </a:rPr>
              <a:t>model</a:t>
            </a:r>
            <a:endParaRPr lang="en-US" sz="1250" dirty="0"/>
          </a:p>
        </p:txBody>
      </p:sp>
      <p:sp>
        <p:nvSpPr>
          <p:cNvPr id="7" name="Shape 5"/>
          <p:cNvSpPr/>
          <p:nvPr/>
        </p:nvSpPr>
        <p:spPr>
          <a:xfrm>
            <a:off x="6263640" y="2523744"/>
            <a:ext cx="1097280" cy="0"/>
          </a:xfrm>
          <a:prstGeom prst="line">
            <a:avLst/>
          </a:prstGeom>
          <a:solidFill>
            <a:srgbClr val="FFFFFF">
              <a:alpha val="0"/>
            </a:srgbClr>
          </a:solidFill>
          <a:ln w="16510">
            <a:solidFill>
              <a:srgbClr val="CBD5E1"/>
            </a:solidFill>
            <a:prstDash val="solid"/>
            <a:headEnd type="none"/>
            <a:tailEnd type="triangle"/>
          </a:ln>
        </p:spPr>
      </p:sp>
      <p:sp>
        <p:nvSpPr>
          <p:cNvPr id="8" name="Text 6"/>
          <p:cNvSpPr/>
          <p:nvPr/>
        </p:nvSpPr>
        <p:spPr>
          <a:xfrm>
            <a:off x="7543800" y="2148840"/>
            <a:ext cx="2331720" cy="749808"/>
          </a:xfrm>
          <a:prstGeom prst="rect">
            <a:avLst/>
          </a:prstGeom>
          <a:solidFill>
            <a:srgbClr val="D1FAE5"/>
          </a:solidFill>
          <a:ln w="13970">
            <a:solidFill>
              <a:srgbClr val="059669"/>
            </a:solidFill>
          </a:ln>
        </p:spPr>
        <p:txBody>
          <a:bodyPr wrap="square" lIns="1016" tIns="1016" rIns="1016" bIns="1016" rtlCol="0" anchor="ctr">
            <a:normAutofit/>
          </a:bodyPr>
          <a:lstStyle/>
          <a:p>
            <a:pPr algn="ctr" indent="0" marL="0">
              <a:buNone/>
            </a:pPr>
            <a:r>
              <a:rPr lang="en-US" sz="1250" b="1" dirty="0">
                <a:solidFill>
                  <a:srgbClr val="111827"/>
                </a:solidFill>
              </a:rPr>
              <a:t>Vector</a:t>
            </a:r>
            <a:endParaRPr lang="en-US" sz="1250" dirty="0"/>
          </a:p>
          <a:p>
            <a:pPr algn="ctr" indent="0" marL="0">
              <a:buNone/>
            </a:pPr>
            <a:r>
              <a:rPr lang="en-US" sz="1250" b="1" dirty="0">
                <a:solidFill>
                  <a:srgbClr val="111827"/>
                </a:solidFill>
              </a:rPr>
              <a:t>[0.12, -0.44, ...]</a:t>
            </a:r>
            <a:endParaRPr lang="en-US" sz="1250" dirty="0"/>
          </a:p>
        </p:txBody>
      </p:sp>
      <p:sp>
        <p:nvSpPr>
          <p:cNvPr id="9" name="Shape 7"/>
          <p:cNvSpPr/>
          <p:nvPr/>
        </p:nvSpPr>
        <p:spPr>
          <a:xfrm>
            <a:off x="10040112" y="2523744"/>
            <a:ext cx="749808" cy="0"/>
          </a:xfrm>
          <a:prstGeom prst="line">
            <a:avLst/>
          </a:prstGeom>
          <a:solidFill>
            <a:srgbClr val="FFFFFF">
              <a:alpha val="0"/>
            </a:srgbClr>
          </a:solidFill>
          <a:ln w="16510">
            <a:solidFill>
              <a:srgbClr val="CBD5E1"/>
            </a:solidFill>
            <a:prstDash val="solid"/>
            <a:headEnd type="none"/>
            <a:tailEnd type="triangle"/>
          </a:ln>
        </p:spPr>
      </p:sp>
      <p:sp>
        <p:nvSpPr>
          <p:cNvPr id="10" name="Text 8"/>
          <p:cNvSpPr/>
          <p:nvPr/>
        </p:nvSpPr>
        <p:spPr>
          <a:xfrm>
            <a:off x="10908792" y="2148840"/>
            <a:ext cx="822960" cy="749808"/>
          </a:xfrm>
          <a:prstGeom prst="rect">
            <a:avLst/>
          </a:prstGeom>
          <a:solidFill>
            <a:srgbClr val="FFEDD5"/>
          </a:solidFill>
          <a:ln w="13970">
            <a:solidFill>
              <a:srgbClr val="EA580C"/>
            </a:solidFill>
          </a:ln>
        </p:spPr>
        <p:txBody>
          <a:bodyPr wrap="square" lIns="1016" tIns="1016" rIns="1016" bIns="1016" rtlCol="0" anchor="ctr">
            <a:normAutofit/>
          </a:bodyPr>
          <a:lstStyle/>
          <a:p>
            <a:pPr algn="ctr" indent="0" marL="0">
              <a:buNone/>
            </a:pPr>
            <a:r>
              <a:rPr lang="en-US" sz="950" b="1" dirty="0">
                <a:solidFill>
                  <a:srgbClr val="111827"/>
                </a:solidFill>
              </a:rPr>
              <a:t>Search</a:t>
            </a:r>
            <a:endParaRPr lang="en-US" sz="950" dirty="0"/>
          </a:p>
          <a:p>
            <a:pPr algn="ctr" indent="0" marL="0">
              <a:buNone/>
            </a:pPr>
            <a:r>
              <a:rPr lang="en-US" sz="950" b="1" dirty="0">
                <a:solidFill>
                  <a:srgbClr val="111827"/>
                </a:solidFill>
              </a:rPr>
              <a:t>nearby vectors</a:t>
            </a:r>
            <a:endParaRPr lang="en-US" sz="950" dirty="0"/>
          </a:p>
        </p:txBody>
      </p:sp>
      <p:sp>
        <p:nvSpPr>
          <p:cNvPr id="11" name="Text 9"/>
          <p:cNvSpPr/>
          <p:nvPr/>
        </p:nvSpPr>
        <p:spPr>
          <a:xfrm>
            <a:off x="1005840" y="3794760"/>
            <a:ext cx="10058400" cy="1188720"/>
          </a:xfrm>
          <a:prstGeom prst="rect">
            <a:avLst/>
          </a:prstGeom>
          <a:noFill/>
          <a:ln/>
        </p:spPr>
        <p:txBody>
          <a:bodyPr wrap="square" lIns="508" tIns="508" rIns="508" bIns="508" rtlCol="0" anchor="t">
            <a:normAutofit/>
          </a:bodyPr>
          <a:lstStyle/>
          <a:p>
            <a:r>
              <a:rPr lang="en-US" sz="1420" dirty="0">
                <a:solidFill>
                  <a:srgbClr val="111827"/>
                </a:solidFill>
              </a:rPr>
              <a:t>Embeddings compress useful signals from text, images, audio, code, or events into a fixed-length vector.
</a:t>
            </a:r>
            <a:endParaRPr lang="en-US" sz="1420" dirty="0"/>
          </a:p>
          <a:p>
            <a:r>
              <a:rPr lang="en-US" sz="1420" dirty="0">
                <a:solidFill>
                  <a:srgbClr val="111827"/>
                </a:solidFill>
              </a:rPr>
              <a:t>The axes are not manually named like height/weight/age; the model learns them during training.
</a:t>
            </a:r>
            <a:endParaRPr lang="en-US" sz="1420" dirty="0"/>
          </a:p>
          <a:p>
            <a:r>
              <a:rPr lang="en-US" sz="1420" dirty="0">
                <a:solidFill>
                  <a:srgbClr val="111827"/>
                </a:solidFill>
              </a:rPr>
              <a:t>The same embedding model must be used consistently for indexing and querying.</a:t>
            </a:r>
            <a:endParaRPr lang="en-US" sz="142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Similarity: cosine, dot product, and Euclidean distance</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Similarity is how the database decides which vectors are nearest.</a:t>
            </a:r>
            <a:endParaRPr lang="en-US" sz="1150" dirty="0"/>
          </a:p>
        </p:txBody>
      </p:sp>
      <p:sp>
        <p:nvSpPr>
          <p:cNvPr id="4" name="Shape 2"/>
          <p:cNvSpPr/>
          <p:nvPr/>
        </p:nvSpPr>
        <p:spPr>
          <a:xfrm>
            <a:off x="1097280" y="5029200"/>
            <a:ext cx="2743200" cy="0"/>
          </a:xfrm>
          <a:prstGeom prst="line">
            <a:avLst/>
          </a:prstGeom>
          <a:solidFill>
            <a:srgbClr val="FFFFFF">
              <a:alpha val="0"/>
            </a:srgbClr>
          </a:solidFill>
          <a:ln w="13970">
            <a:solidFill>
              <a:srgbClr val="111827"/>
            </a:solidFill>
            <a:prstDash val="solid"/>
            <a:headEnd type="none"/>
            <a:tailEnd type="triangle"/>
          </a:ln>
        </p:spPr>
      </p:sp>
      <p:sp>
        <p:nvSpPr>
          <p:cNvPr id="5" name="Shape 3"/>
          <p:cNvSpPr/>
          <p:nvPr/>
        </p:nvSpPr>
        <p:spPr>
          <a:xfrm>
            <a:off x="1097280" y="5029200"/>
            <a:ext cx="0" cy="-3200400"/>
          </a:xfrm>
          <a:prstGeom prst="line">
            <a:avLst/>
          </a:prstGeom>
          <a:solidFill>
            <a:srgbClr val="FFFFFF">
              <a:alpha val="0"/>
            </a:srgbClr>
          </a:solidFill>
          <a:ln w="13970">
            <a:solidFill>
              <a:srgbClr val="111827"/>
            </a:solidFill>
            <a:prstDash val="solid"/>
            <a:headEnd type="none"/>
            <a:tailEnd type="triangle"/>
          </a:ln>
        </p:spPr>
      </p:sp>
      <p:sp>
        <p:nvSpPr>
          <p:cNvPr id="6" name="Shape 4"/>
          <p:cNvSpPr/>
          <p:nvPr/>
        </p:nvSpPr>
        <p:spPr>
          <a:xfrm>
            <a:off x="1097280" y="5029200"/>
            <a:ext cx="2194560" cy="-2194560"/>
          </a:xfrm>
          <a:prstGeom prst="line">
            <a:avLst/>
          </a:prstGeom>
          <a:solidFill>
            <a:srgbClr val="FFFFFF">
              <a:alpha val="0"/>
            </a:srgbClr>
          </a:solidFill>
          <a:ln w="25400">
            <a:solidFill>
              <a:srgbClr val="2563EB"/>
            </a:solidFill>
            <a:prstDash val="solid"/>
            <a:headEnd type="none"/>
            <a:tailEnd type="triangle"/>
          </a:ln>
        </p:spPr>
      </p:sp>
      <p:sp>
        <p:nvSpPr>
          <p:cNvPr id="7" name="Shape 5"/>
          <p:cNvSpPr/>
          <p:nvPr/>
        </p:nvSpPr>
        <p:spPr>
          <a:xfrm>
            <a:off x="1097280" y="5029200"/>
            <a:ext cx="2468880" cy="-868680"/>
          </a:xfrm>
          <a:prstGeom prst="line">
            <a:avLst/>
          </a:prstGeom>
          <a:solidFill>
            <a:srgbClr val="FFFFFF">
              <a:alpha val="0"/>
            </a:srgbClr>
          </a:solidFill>
          <a:ln w="25400">
            <a:solidFill>
              <a:srgbClr val="059669"/>
            </a:solidFill>
            <a:prstDash val="solid"/>
            <a:headEnd type="none"/>
            <a:tailEnd type="triangle"/>
          </a:ln>
        </p:spPr>
      </p:sp>
      <p:sp>
        <p:nvSpPr>
          <p:cNvPr id="8" name="Text 6"/>
          <p:cNvSpPr/>
          <p:nvPr/>
        </p:nvSpPr>
        <p:spPr>
          <a:xfrm>
            <a:off x="2011680" y="1920240"/>
            <a:ext cx="1554480" cy="228600"/>
          </a:xfrm>
          <a:prstGeom prst="rect">
            <a:avLst/>
          </a:prstGeom>
          <a:noFill/>
          <a:ln/>
        </p:spPr>
        <p:txBody>
          <a:bodyPr wrap="square" lIns="0" tIns="0" rIns="0" bIns="0" rtlCol="0" anchor="ctr"/>
          <a:lstStyle/>
          <a:p>
            <a:pPr algn="ctr" indent="0" marL="0">
              <a:buNone/>
            </a:pPr>
            <a:r>
              <a:rPr lang="en-US" sz="1300" b="1" dirty="0">
                <a:solidFill>
                  <a:srgbClr val="111827"/>
                </a:solidFill>
              </a:rPr>
              <a:t>Cosine = angle</a:t>
            </a:r>
            <a:endParaRPr lang="en-US" sz="1300" dirty="0"/>
          </a:p>
        </p:txBody>
      </p:sp>
      <p:sp>
        <p:nvSpPr>
          <p:cNvPr id="9" name="Text 7"/>
          <p:cNvSpPr/>
          <p:nvPr/>
        </p:nvSpPr>
        <p:spPr>
          <a:xfrm>
            <a:off x="1417320" y="1417320"/>
            <a:ext cx="2834640" cy="228600"/>
          </a:xfrm>
          <a:prstGeom prst="rect">
            <a:avLst/>
          </a:prstGeom>
          <a:noFill/>
          <a:ln/>
        </p:spPr>
        <p:txBody>
          <a:bodyPr wrap="square" lIns="0" tIns="0" rIns="0" bIns="0" rtlCol="0" anchor="ctr"/>
          <a:lstStyle/>
          <a:p>
            <a:pPr algn="ctr" indent="0" marL="0">
              <a:buNone/>
            </a:pPr>
            <a:r>
              <a:rPr lang="en-US" sz="1050" dirty="0">
                <a:solidFill>
                  <a:srgbClr val="4B5563"/>
                </a:solidFill>
              </a:rPr>
              <a:t>Small angle ⇒ similar direction</a:t>
            </a:r>
            <a:endParaRPr lang="en-US" sz="1050" dirty="0"/>
          </a:p>
        </p:txBody>
      </p:sp>
      <p:sp>
        <p:nvSpPr>
          <p:cNvPr id="10" name="Text 8"/>
          <p:cNvSpPr/>
          <p:nvPr/>
        </p:nvSpPr>
        <p:spPr>
          <a:xfrm>
            <a:off x="5029200" y="1325880"/>
            <a:ext cx="1828800" cy="301752"/>
          </a:xfrm>
          <a:prstGeom prst="rect">
            <a:avLst/>
          </a:prstGeom>
          <a:solidFill>
            <a:srgbClr val="DBEAFE"/>
          </a:solidFill>
          <a:ln>
            <a:solidFill>
              <a:srgbClr val="DBEAFE"/>
            </a:solidFill>
          </a:ln>
        </p:spPr>
        <p:txBody>
          <a:bodyPr wrap="square" lIns="381" tIns="381" rIns="381" bIns="381" rtlCol="0" anchor="ctr"/>
          <a:lstStyle/>
          <a:p>
            <a:pPr algn="ctr" indent="0" marL="0">
              <a:buNone/>
            </a:pPr>
            <a:r>
              <a:rPr lang="en-US" sz="1250" b="1" dirty="0">
                <a:solidFill>
                  <a:srgbClr val="2563EB"/>
                </a:solidFill>
              </a:rPr>
              <a:t>Metric</a:t>
            </a:r>
            <a:endParaRPr lang="en-US" sz="1250" dirty="0"/>
          </a:p>
        </p:txBody>
      </p:sp>
      <p:sp>
        <p:nvSpPr>
          <p:cNvPr id="11" name="Text 9"/>
          <p:cNvSpPr/>
          <p:nvPr/>
        </p:nvSpPr>
        <p:spPr>
          <a:xfrm>
            <a:off x="7040880" y="1325880"/>
            <a:ext cx="4206240" cy="301752"/>
          </a:xfrm>
          <a:prstGeom prst="rect">
            <a:avLst/>
          </a:prstGeom>
          <a:solidFill>
            <a:srgbClr val="D1FAE5"/>
          </a:solidFill>
          <a:ln>
            <a:solidFill>
              <a:srgbClr val="D1FAE5"/>
            </a:solidFill>
          </a:ln>
        </p:spPr>
        <p:txBody>
          <a:bodyPr wrap="square" lIns="381" tIns="381" rIns="381" bIns="381" rtlCol="0" anchor="ctr"/>
          <a:lstStyle/>
          <a:p>
            <a:pPr algn="ctr" indent="0" marL="0">
              <a:buNone/>
            </a:pPr>
            <a:r>
              <a:rPr lang="en-US" sz="1250" b="1" dirty="0">
                <a:solidFill>
                  <a:srgbClr val="059669"/>
                </a:solidFill>
              </a:rPr>
              <a:t>What it rewards</a:t>
            </a:r>
            <a:endParaRPr lang="en-US" sz="1250" dirty="0"/>
          </a:p>
        </p:txBody>
      </p:sp>
      <p:sp>
        <p:nvSpPr>
          <p:cNvPr id="12" name="Text 10"/>
          <p:cNvSpPr/>
          <p:nvPr/>
        </p:nvSpPr>
        <p:spPr>
          <a:xfrm>
            <a:off x="5102352" y="1874520"/>
            <a:ext cx="1645920" cy="274320"/>
          </a:xfrm>
          <a:prstGeom prst="rect">
            <a:avLst/>
          </a:prstGeom>
          <a:noFill/>
          <a:ln/>
        </p:spPr>
        <p:txBody>
          <a:bodyPr wrap="square" lIns="381" tIns="381" rIns="381" bIns="381" rtlCol="0" anchor="ctr">
            <a:normAutofit/>
          </a:bodyPr>
          <a:lstStyle/>
          <a:p>
            <a:pPr algn="l" indent="0" marL="0">
              <a:buNone/>
            </a:pPr>
            <a:r>
              <a:rPr lang="en-US" sz="1170" b="1" dirty="0">
                <a:solidFill>
                  <a:srgbClr val="4B5563"/>
                </a:solidFill>
              </a:rPr>
              <a:t>Cosine similarity</a:t>
            </a:r>
            <a:endParaRPr lang="en-US" sz="1170" dirty="0"/>
          </a:p>
        </p:txBody>
      </p:sp>
      <p:sp>
        <p:nvSpPr>
          <p:cNvPr id="13" name="Text 11"/>
          <p:cNvSpPr/>
          <p:nvPr/>
        </p:nvSpPr>
        <p:spPr>
          <a:xfrm>
            <a:off x="7178040" y="1874520"/>
            <a:ext cx="3749040" cy="320040"/>
          </a:xfrm>
          <a:prstGeom prst="rect">
            <a:avLst/>
          </a:prstGeom>
          <a:noFill/>
          <a:ln/>
        </p:spPr>
        <p:txBody>
          <a:bodyPr wrap="square" lIns="381" tIns="381" rIns="381" bIns="381" rtlCol="0" anchor="ctr">
            <a:normAutofit/>
          </a:bodyPr>
          <a:lstStyle/>
          <a:p>
            <a:pPr algn="l" indent="0" marL="0">
              <a:buNone/>
            </a:pPr>
            <a:r>
              <a:rPr lang="en-US" sz="1130" dirty="0">
                <a:solidFill>
                  <a:srgbClr val="4B5563"/>
                </a:solidFill>
              </a:rPr>
              <a:t>Same direction; good when vector length should not dominate</a:t>
            </a:r>
            <a:endParaRPr lang="en-US" sz="1130" dirty="0"/>
          </a:p>
        </p:txBody>
      </p:sp>
      <p:sp>
        <p:nvSpPr>
          <p:cNvPr id="14" name="Text 12"/>
          <p:cNvSpPr/>
          <p:nvPr/>
        </p:nvSpPr>
        <p:spPr>
          <a:xfrm>
            <a:off x="5102352" y="2697480"/>
            <a:ext cx="1645920" cy="274320"/>
          </a:xfrm>
          <a:prstGeom prst="rect">
            <a:avLst/>
          </a:prstGeom>
          <a:noFill/>
          <a:ln/>
        </p:spPr>
        <p:txBody>
          <a:bodyPr wrap="square" lIns="381" tIns="381" rIns="381" bIns="381" rtlCol="0" anchor="ctr">
            <a:normAutofit/>
          </a:bodyPr>
          <a:lstStyle/>
          <a:p>
            <a:pPr algn="l" indent="0" marL="0">
              <a:buNone/>
            </a:pPr>
            <a:r>
              <a:rPr lang="en-US" sz="1170" b="1" dirty="0">
                <a:solidFill>
                  <a:srgbClr val="4B5563"/>
                </a:solidFill>
              </a:rPr>
              <a:t>Dot product</a:t>
            </a:r>
            <a:endParaRPr lang="en-US" sz="1170" dirty="0"/>
          </a:p>
        </p:txBody>
      </p:sp>
      <p:sp>
        <p:nvSpPr>
          <p:cNvPr id="15" name="Text 13"/>
          <p:cNvSpPr/>
          <p:nvPr/>
        </p:nvSpPr>
        <p:spPr>
          <a:xfrm>
            <a:off x="7178040" y="2679192"/>
            <a:ext cx="3886200" cy="393192"/>
          </a:xfrm>
          <a:prstGeom prst="rect">
            <a:avLst/>
          </a:prstGeom>
          <a:noFill/>
          <a:ln/>
        </p:spPr>
        <p:txBody>
          <a:bodyPr wrap="square" lIns="381" tIns="381" rIns="381" bIns="381" rtlCol="0" anchor="ctr">
            <a:normAutofit/>
          </a:bodyPr>
          <a:lstStyle/>
          <a:p>
            <a:pPr algn="l" indent="0" marL="0">
              <a:buNone/>
            </a:pPr>
            <a:r>
              <a:rPr lang="en-US" sz="1110" dirty="0">
                <a:solidFill>
                  <a:srgbClr val="4B5563"/>
                </a:solidFill>
              </a:rPr>
              <a:t>Direction plus magnitude; common when embeddings are normalized or magnitude is meaningful</a:t>
            </a:r>
            <a:endParaRPr lang="en-US" sz="1110" dirty="0"/>
          </a:p>
        </p:txBody>
      </p:sp>
      <p:sp>
        <p:nvSpPr>
          <p:cNvPr id="16" name="Text 14"/>
          <p:cNvSpPr/>
          <p:nvPr/>
        </p:nvSpPr>
        <p:spPr>
          <a:xfrm>
            <a:off x="5102352" y="3611880"/>
            <a:ext cx="1645920" cy="274320"/>
          </a:xfrm>
          <a:prstGeom prst="rect">
            <a:avLst/>
          </a:prstGeom>
          <a:noFill/>
          <a:ln/>
        </p:spPr>
        <p:txBody>
          <a:bodyPr wrap="square" lIns="381" tIns="381" rIns="381" bIns="381" rtlCol="0" anchor="ctr">
            <a:normAutofit/>
          </a:bodyPr>
          <a:lstStyle/>
          <a:p>
            <a:pPr algn="l" indent="0" marL="0">
              <a:buNone/>
            </a:pPr>
            <a:r>
              <a:rPr lang="en-US" sz="1170" b="1" dirty="0">
                <a:solidFill>
                  <a:srgbClr val="4B5563"/>
                </a:solidFill>
              </a:rPr>
              <a:t>Euclidean distance</a:t>
            </a:r>
            <a:endParaRPr lang="en-US" sz="1170" dirty="0"/>
          </a:p>
        </p:txBody>
      </p:sp>
      <p:sp>
        <p:nvSpPr>
          <p:cNvPr id="17" name="Text 15"/>
          <p:cNvSpPr/>
          <p:nvPr/>
        </p:nvSpPr>
        <p:spPr>
          <a:xfrm>
            <a:off x="7178040" y="3611880"/>
            <a:ext cx="3749040" cy="320040"/>
          </a:xfrm>
          <a:prstGeom prst="rect">
            <a:avLst/>
          </a:prstGeom>
          <a:noFill/>
          <a:ln/>
        </p:spPr>
        <p:txBody>
          <a:bodyPr wrap="square" lIns="381" tIns="381" rIns="381" bIns="381" rtlCol="0" anchor="ctr">
            <a:normAutofit/>
          </a:bodyPr>
          <a:lstStyle/>
          <a:p>
            <a:pPr algn="l" indent="0" marL="0">
              <a:buNone/>
            </a:pPr>
            <a:r>
              <a:rPr lang="en-US" sz="1130" dirty="0">
                <a:solidFill>
                  <a:srgbClr val="4B5563"/>
                </a:solidFill>
              </a:rPr>
              <a:t>Straight-line distance; useful when absolute coordinates and scale matter</a:t>
            </a:r>
            <a:endParaRPr lang="en-US" sz="1130" dirty="0"/>
          </a:p>
        </p:txBody>
      </p:sp>
      <p:sp>
        <p:nvSpPr>
          <p:cNvPr id="18" name="Text 16"/>
          <p:cNvSpPr/>
          <p:nvPr/>
        </p:nvSpPr>
        <p:spPr>
          <a:xfrm>
            <a:off x="5074920" y="4892040"/>
            <a:ext cx="5760720" cy="502920"/>
          </a:xfrm>
          <a:prstGeom prst="rect">
            <a:avLst/>
          </a:prstGeom>
          <a:noFill/>
          <a:ln/>
        </p:spPr>
        <p:txBody>
          <a:bodyPr wrap="square" lIns="254" tIns="254" rIns="254" bIns="254" rtlCol="0" anchor="ctr"/>
          <a:lstStyle/>
          <a:p>
            <a:pPr indent="0" marL="0">
              <a:buNone/>
            </a:pPr>
            <a:r>
              <a:rPr lang="en-US" sz="1700" b="1" dirty="0">
                <a:solidFill>
                  <a:srgbClr val="111827"/>
                </a:solidFill>
              </a:rPr>
              <a:t>Choose based on how the embedding model was trained and documented.</a:t>
            </a:r>
            <a:endParaRPr lang="en-US" sz="17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Similarity search: the core database problem</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Find the nearest vectors to a query vector among millions or billions of stored vectors.</a:t>
            </a:r>
            <a:endParaRPr lang="en-US" sz="1150" dirty="0"/>
          </a:p>
        </p:txBody>
      </p:sp>
      <p:sp>
        <p:nvSpPr>
          <p:cNvPr id="4" name="Text 2"/>
          <p:cNvSpPr/>
          <p:nvPr/>
        </p:nvSpPr>
        <p:spPr>
          <a:xfrm>
            <a:off x="868680" y="2331720"/>
            <a:ext cx="1417320" cy="731520"/>
          </a:xfrm>
          <a:prstGeom prst="rect">
            <a:avLst/>
          </a:prstGeom>
          <a:solidFill>
            <a:srgbClr val="DBEAFE"/>
          </a:solidFill>
          <a:ln w="13970">
            <a:solidFill>
              <a:srgbClr val="2563EB"/>
            </a:solidFill>
          </a:ln>
        </p:spPr>
        <p:txBody>
          <a:bodyPr wrap="square" lIns="1016" tIns="1016" rIns="1016" bIns="1016" rtlCol="0" anchor="ctr">
            <a:normAutofit/>
          </a:bodyPr>
          <a:lstStyle/>
          <a:p>
            <a:pPr algn="ctr" indent="0" marL="0">
              <a:buNone/>
            </a:pPr>
            <a:r>
              <a:rPr lang="en-US" sz="1250" b="1" dirty="0">
                <a:solidFill>
                  <a:srgbClr val="111827"/>
                </a:solidFill>
              </a:rPr>
              <a:t>Query</a:t>
            </a:r>
            <a:endParaRPr lang="en-US" sz="1250" dirty="0"/>
          </a:p>
          <a:p>
            <a:pPr algn="ctr" indent="0" marL="0">
              <a:buNone/>
            </a:pPr>
            <a:r>
              <a:rPr lang="en-US" sz="1250" b="1" dirty="0">
                <a:solidFill>
                  <a:srgbClr val="111827"/>
                </a:solidFill>
              </a:rPr>
              <a:t>vector</a:t>
            </a:r>
            <a:endParaRPr lang="en-US" sz="1250" dirty="0"/>
          </a:p>
        </p:txBody>
      </p:sp>
      <p:sp>
        <p:nvSpPr>
          <p:cNvPr id="5" name="Shape 3"/>
          <p:cNvSpPr/>
          <p:nvPr/>
        </p:nvSpPr>
        <p:spPr>
          <a:xfrm>
            <a:off x="2468880" y="2697480"/>
            <a:ext cx="1234440" cy="0"/>
          </a:xfrm>
          <a:prstGeom prst="line">
            <a:avLst/>
          </a:prstGeom>
          <a:solidFill>
            <a:srgbClr val="FFFFFF">
              <a:alpha val="0"/>
            </a:srgbClr>
          </a:solidFill>
          <a:ln w="15240">
            <a:solidFill>
              <a:srgbClr val="CBD5E1"/>
            </a:solidFill>
            <a:prstDash val="solid"/>
            <a:headEnd type="none"/>
            <a:tailEnd type="triangle"/>
          </a:ln>
        </p:spPr>
      </p:sp>
      <p:sp>
        <p:nvSpPr>
          <p:cNvPr id="6" name="Text 4"/>
          <p:cNvSpPr/>
          <p:nvPr/>
        </p:nvSpPr>
        <p:spPr>
          <a:xfrm>
            <a:off x="3886200" y="2240280"/>
            <a:ext cx="1874520" cy="914400"/>
          </a:xfrm>
          <a:prstGeom prst="rect">
            <a:avLst/>
          </a:prstGeom>
          <a:solidFill>
            <a:srgbClr val="FFEDD5"/>
          </a:solidFill>
          <a:ln w="13970">
            <a:solidFill>
              <a:srgbClr val="EA580C"/>
            </a:solidFill>
          </a:ln>
        </p:spPr>
        <p:txBody>
          <a:bodyPr wrap="square" lIns="1016" tIns="1016" rIns="1016" bIns="1016" rtlCol="0" anchor="ctr">
            <a:normAutofit/>
          </a:bodyPr>
          <a:lstStyle/>
          <a:p>
            <a:pPr algn="ctr" indent="0" marL="0">
              <a:buNone/>
            </a:pPr>
            <a:r>
              <a:rPr lang="en-US" sz="1200" b="1" dirty="0">
                <a:solidFill>
                  <a:srgbClr val="111827"/>
                </a:solidFill>
              </a:rPr>
              <a:t>Compare with</a:t>
            </a:r>
            <a:endParaRPr lang="en-US" sz="1200" dirty="0"/>
          </a:p>
          <a:p>
            <a:pPr algn="ctr" indent="0" marL="0">
              <a:buNone/>
            </a:pPr>
            <a:r>
              <a:rPr lang="en-US" sz="1200" b="1" dirty="0">
                <a:solidFill>
                  <a:srgbClr val="111827"/>
                </a:solidFill>
              </a:rPr>
              <a:t>all vectors</a:t>
            </a:r>
            <a:endParaRPr lang="en-US" sz="1200" dirty="0"/>
          </a:p>
        </p:txBody>
      </p:sp>
      <p:sp>
        <p:nvSpPr>
          <p:cNvPr id="7" name="Shape 5"/>
          <p:cNvSpPr/>
          <p:nvPr/>
        </p:nvSpPr>
        <p:spPr>
          <a:xfrm>
            <a:off x="5961888" y="2697480"/>
            <a:ext cx="1216152" cy="0"/>
          </a:xfrm>
          <a:prstGeom prst="line">
            <a:avLst/>
          </a:prstGeom>
          <a:solidFill>
            <a:srgbClr val="FFFFFF">
              <a:alpha val="0"/>
            </a:srgbClr>
          </a:solidFill>
          <a:ln w="15240">
            <a:solidFill>
              <a:srgbClr val="CBD5E1"/>
            </a:solidFill>
            <a:prstDash val="solid"/>
            <a:headEnd type="none"/>
            <a:tailEnd type="triangle"/>
          </a:ln>
        </p:spPr>
      </p:sp>
      <p:sp>
        <p:nvSpPr>
          <p:cNvPr id="8" name="Text 6"/>
          <p:cNvSpPr/>
          <p:nvPr/>
        </p:nvSpPr>
        <p:spPr>
          <a:xfrm>
            <a:off x="7360920" y="2331720"/>
            <a:ext cx="1600200" cy="731520"/>
          </a:xfrm>
          <a:prstGeom prst="rect">
            <a:avLst/>
          </a:prstGeom>
          <a:solidFill>
            <a:srgbClr val="D1FAE5"/>
          </a:solidFill>
          <a:ln w="13970">
            <a:solidFill>
              <a:srgbClr val="059669"/>
            </a:solidFill>
          </a:ln>
        </p:spPr>
        <p:txBody>
          <a:bodyPr wrap="square" lIns="1016" tIns="1016" rIns="1016" bIns="1016" rtlCol="0" anchor="ctr">
            <a:normAutofit/>
          </a:bodyPr>
          <a:lstStyle/>
          <a:p>
            <a:pPr algn="ctr" indent="0" marL="0">
              <a:buNone/>
            </a:pPr>
            <a:r>
              <a:rPr lang="en-US" sz="1250" b="1" dirty="0">
                <a:solidFill>
                  <a:srgbClr val="111827"/>
                </a:solidFill>
              </a:rPr>
              <a:t>Top-K</a:t>
            </a:r>
            <a:endParaRPr lang="en-US" sz="1250" dirty="0"/>
          </a:p>
          <a:p>
            <a:pPr algn="ctr" indent="0" marL="0">
              <a:buNone/>
            </a:pPr>
            <a:r>
              <a:rPr lang="en-US" sz="1250" b="1" dirty="0">
                <a:solidFill>
                  <a:srgbClr val="111827"/>
                </a:solidFill>
              </a:rPr>
              <a:t>neighbors</a:t>
            </a:r>
            <a:endParaRPr lang="en-US" sz="1250" dirty="0"/>
          </a:p>
        </p:txBody>
      </p:sp>
      <p:sp>
        <p:nvSpPr>
          <p:cNvPr id="9" name="Shape 7"/>
          <p:cNvSpPr/>
          <p:nvPr/>
        </p:nvSpPr>
        <p:spPr>
          <a:xfrm>
            <a:off x="9144000" y="2697480"/>
            <a:ext cx="1143000" cy="0"/>
          </a:xfrm>
          <a:prstGeom prst="line">
            <a:avLst/>
          </a:prstGeom>
          <a:solidFill>
            <a:srgbClr val="FFFFFF">
              <a:alpha val="0"/>
            </a:srgbClr>
          </a:solidFill>
          <a:ln w="15240">
            <a:solidFill>
              <a:srgbClr val="CBD5E1"/>
            </a:solidFill>
            <a:prstDash val="solid"/>
            <a:headEnd type="none"/>
            <a:tailEnd type="triangle"/>
          </a:ln>
        </p:spPr>
      </p:sp>
      <p:sp>
        <p:nvSpPr>
          <p:cNvPr id="10" name="Text 8"/>
          <p:cNvSpPr/>
          <p:nvPr/>
        </p:nvSpPr>
        <p:spPr>
          <a:xfrm>
            <a:off x="10469880" y="2331720"/>
            <a:ext cx="1143000" cy="731520"/>
          </a:xfrm>
          <a:prstGeom prst="rect">
            <a:avLst/>
          </a:prstGeom>
          <a:solidFill>
            <a:srgbClr val="EDE9FE"/>
          </a:solidFill>
          <a:ln w="13970">
            <a:solidFill>
              <a:srgbClr val="7C3AED"/>
            </a:solidFill>
          </a:ln>
        </p:spPr>
        <p:txBody>
          <a:bodyPr wrap="square" lIns="1016" tIns="1016" rIns="1016" bIns="1016" rtlCol="0" anchor="ctr">
            <a:normAutofit/>
          </a:bodyPr>
          <a:lstStyle/>
          <a:p>
            <a:pPr algn="ctr" indent="0" marL="0">
              <a:buNone/>
            </a:pPr>
            <a:r>
              <a:rPr lang="en-US" sz="1150" b="1" dirty="0">
                <a:solidFill>
                  <a:srgbClr val="111827"/>
                </a:solidFill>
              </a:rPr>
              <a:t>Relevant</a:t>
            </a:r>
            <a:endParaRPr lang="en-US" sz="1150" dirty="0"/>
          </a:p>
          <a:p>
            <a:pPr algn="ctr" indent="0" marL="0">
              <a:buNone/>
            </a:pPr>
            <a:r>
              <a:rPr lang="en-US" sz="1150" b="1" dirty="0">
                <a:solidFill>
                  <a:srgbClr val="111827"/>
                </a:solidFill>
              </a:rPr>
              <a:t>results</a:t>
            </a:r>
            <a:endParaRPr lang="en-US" sz="1150" dirty="0"/>
          </a:p>
        </p:txBody>
      </p:sp>
      <p:sp>
        <p:nvSpPr>
          <p:cNvPr id="11" name="Text 9"/>
          <p:cNvSpPr/>
          <p:nvPr/>
        </p:nvSpPr>
        <p:spPr>
          <a:xfrm>
            <a:off x="914400" y="3886200"/>
            <a:ext cx="10241280" cy="1188720"/>
          </a:xfrm>
          <a:prstGeom prst="rect">
            <a:avLst/>
          </a:prstGeom>
          <a:noFill/>
          <a:ln/>
        </p:spPr>
        <p:txBody>
          <a:bodyPr wrap="square" lIns="508" tIns="508" rIns="508" bIns="508" rtlCol="0" anchor="t">
            <a:normAutofit/>
          </a:bodyPr>
          <a:lstStyle/>
          <a:p>
            <a:r>
              <a:rPr lang="en-US" sz="1450" dirty="0">
                <a:solidFill>
                  <a:srgbClr val="111827"/>
                </a:solidFill>
              </a:rPr>
              <a:t>Exact search compares the query with every stored vector: accurate but expensive at scale.
</a:t>
            </a:r>
            <a:endParaRPr lang="en-US" sz="1450" dirty="0"/>
          </a:p>
          <a:p>
            <a:r>
              <a:rPr lang="en-US" sz="1450" dirty="0">
                <a:solidFill>
                  <a:srgbClr val="111827"/>
                </a:solidFill>
              </a:rPr>
              <a:t>Approximate nearest neighbor (ANN) narrows the search to likely candidates: much faster with high recall.
</a:t>
            </a:r>
            <a:endParaRPr lang="en-US" sz="1450" dirty="0"/>
          </a:p>
          <a:p>
            <a:r>
              <a:rPr lang="en-US" sz="1450" dirty="0">
                <a:solidFill>
                  <a:srgbClr val="111827"/>
                </a:solidFill>
              </a:rPr>
              <a:t>The business trade-off is usually latency + cost vs recall + freshness.</a:t>
            </a:r>
            <a:endParaRPr lang="en-US" sz="145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Approximate Nearest Neighbor (ANN) search</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ANN algorithms make vector search practical by avoiding exhaustive comparison.</a:t>
            </a:r>
            <a:endParaRPr lang="en-US" sz="1150" dirty="0"/>
          </a:p>
        </p:txBody>
      </p:sp>
      <p:sp>
        <p:nvSpPr>
          <p:cNvPr id="4" name="Text 2"/>
          <p:cNvSpPr/>
          <p:nvPr/>
        </p:nvSpPr>
        <p:spPr>
          <a:xfrm>
            <a:off x="822960" y="1325880"/>
            <a:ext cx="2743200" cy="301752"/>
          </a:xfrm>
          <a:prstGeom prst="rect">
            <a:avLst/>
          </a:prstGeom>
          <a:solidFill>
            <a:srgbClr val="FEE2E2"/>
          </a:solidFill>
          <a:ln>
            <a:solidFill>
              <a:srgbClr val="FEE2E2"/>
            </a:solidFill>
          </a:ln>
        </p:spPr>
        <p:txBody>
          <a:bodyPr wrap="square" lIns="381" tIns="381" rIns="381" bIns="381" rtlCol="0" anchor="ctr"/>
          <a:lstStyle/>
          <a:p>
            <a:pPr algn="ctr" indent="0" marL="0">
              <a:buNone/>
            </a:pPr>
            <a:r>
              <a:rPr lang="en-US" sz="1250" b="1" dirty="0">
                <a:solidFill>
                  <a:srgbClr val="DC2626"/>
                </a:solidFill>
              </a:rPr>
              <a:t>Exact search</a:t>
            </a:r>
            <a:endParaRPr lang="en-US" sz="1250" dirty="0"/>
          </a:p>
        </p:txBody>
      </p:sp>
      <p:sp>
        <p:nvSpPr>
          <p:cNvPr id="5" name="Text 3"/>
          <p:cNvSpPr/>
          <p:nvPr/>
        </p:nvSpPr>
        <p:spPr>
          <a:xfrm>
            <a:off x="4663440" y="1325880"/>
            <a:ext cx="2743200" cy="301752"/>
          </a:xfrm>
          <a:prstGeom prst="rect">
            <a:avLst/>
          </a:prstGeom>
          <a:solidFill>
            <a:srgbClr val="D1FAE5"/>
          </a:solidFill>
          <a:ln>
            <a:solidFill>
              <a:srgbClr val="D1FAE5"/>
            </a:solidFill>
          </a:ln>
        </p:spPr>
        <p:txBody>
          <a:bodyPr wrap="square" lIns="381" tIns="381" rIns="381" bIns="381" rtlCol="0" anchor="ctr"/>
          <a:lstStyle/>
          <a:p>
            <a:pPr algn="ctr" indent="0" marL="0">
              <a:buNone/>
            </a:pPr>
            <a:r>
              <a:rPr lang="en-US" sz="1250" b="1" dirty="0">
                <a:solidFill>
                  <a:srgbClr val="059669"/>
                </a:solidFill>
              </a:rPr>
              <a:t>ANN search</a:t>
            </a:r>
            <a:endParaRPr lang="en-US" sz="1250" dirty="0"/>
          </a:p>
        </p:txBody>
      </p:sp>
      <p:sp>
        <p:nvSpPr>
          <p:cNvPr id="6" name="Text 4"/>
          <p:cNvSpPr/>
          <p:nvPr/>
        </p:nvSpPr>
        <p:spPr>
          <a:xfrm>
            <a:off x="8503920" y="1325880"/>
            <a:ext cx="2743200" cy="301752"/>
          </a:xfrm>
          <a:prstGeom prst="rect">
            <a:avLst/>
          </a:prstGeom>
          <a:solidFill>
            <a:srgbClr val="DBEAFE"/>
          </a:solidFill>
          <a:ln>
            <a:solidFill>
              <a:srgbClr val="DBEAFE"/>
            </a:solidFill>
          </a:ln>
        </p:spPr>
        <p:txBody>
          <a:bodyPr wrap="square" lIns="381" tIns="381" rIns="381" bIns="381" rtlCol="0" anchor="ctr"/>
          <a:lstStyle/>
          <a:p>
            <a:pPr algn="ctr" indent="0" marL="0">
              <a:buNone/>
            </a:pPr>
            <a:r>
              <a:rPr lang="en-US" sz="1250" b="1" dirty="0">
                <a:solidFill>
                  <a:srgbClr val="2563EB"/>
                </a:solidFill>
              </a:rPr>
              <a:t>Result</a:t>
            </a:r>
            <a:endParaRPr lang="en-US" sz="1250" dirty="0"/>
          </a:p>
        </p:txBody>
      </p:sp>
      <p:sp>
        <p:nvSpPr>
          <p:cNvPr id="7" name="Text 5"/>
          <p:cNvSpPr/>
          <p:nvPr/>
        </p:nvSpPr>
        <p:spPr>
          <a:xfrm>
            <a:off x="1143000" y="2194560"/>
            <a:ext cx="2103120" cy="320040"/>
          </a:xfrm>
          <a:prstGeom prst="rect">
            <a:avLst/>
          </a:prstGeom>
          <a:noFill/>
          <a:ln/>
        </p:spPr>
        <p:txBody>
          <a:bodyPr wrap="square" lIns="0" tIns="0" rIns="0" bIns="0" rtlCol="0" anchor="ctr"/>
          <a:lstStyle/>
          <a:p>
            <a:pPr algn="ctr" indent="0" marL="0">
              <a:buNone/>
            </a:pPr>
            <a:r>
              <a:rPr lang="en-US" sz="1600" b="1" dirty="0">
                <a:solidFill>
                  <a:srgbClr val="000000"/>
                </a:solidFill>
              </a:rPr>
              <a:t>Check every vector</a:t>
            </a:r>
            <a:endParaRPr lang="en-US" sz="1600" dirty="0"/>
          </a:p>
        </p:txBody>
      </p:sp>
      <p:sp>
        <p:nvSpPr>
          <p:cNvPr id="8" name="Text 6"/>
          <p:cNvSpPr/>
          <p:nvPr/>
        </p:nvSpPr>
        <p:spPr>
          <a:xfrm>
            <a:off x="4892040" y="2194560"/>
            <a:ext cx="2331720" cy="320040"/>
          </a:xfrm>
          <a:prstGeom prst="rect">
            <a:avLst/>
          </a:prstGeom>
          <a:noFill/>
          <a:ln/>
        </p:spPr>
        <p:txBody>
          <a:bodyPr wrap="square" lIns="0" tIns="0" rIns="0" bIns="0" rtlCol="0" anchor="ctr"/>
          <a:lstStyle/>
          <a:p>
            <a:pPr algn="ctr" indent="0" marL="0">
              <a:buNone/>
            </a:pPr>
            <a:r>
              <a:rPr lang="en-US" sz="1600" b="1" dirty="0">
                <a:solidFill>
                  <a:srgbClr val="000000"/>
                </a:solidFill>
              </a:rPr>
              <a:t>Navigate a smart index</a:t>
            </a:r>
            <a:endParaRPr lang="en-US" sz="1600" dirty="0"/>
          </a:p>
        </p:txBody>
      </p:sp>
      <p:sp>
        <p:nvSpPr>
          <p:cNvPr id="9" name="Text 7"/>
          <p:cNvSpPr/>
          <p:nvPr/>
        </p:nvSpPr>
        <p:spPr>
          <a:xfrm>
            <a:off x="8887968" y="2194560"/>
            <a:ext cx="1874520" cy="320040"/>
          </a:xfrm>
          <a:prstGeom prst="rect">
            <a:avLst/>
          </a:prstGeom>
          <a:noFill/>
          <a:ln/>
        </p:spPr>
        <p:txBody>
          <a:bodyPr wrap="square" lIns="0" tIns="0" rIns="0" bIns="0" rtlCol="0" anchor="ctr"/>
          <a:lstStyle/>
          <a:p>
            <a:pPr algn="ctr" indent="0" marL="0">
              <a:buNone/>
            </a:pPr>
            <a:r>
              <a:rPr lang="en-US" sz="1600" b="1" dirty="0">
                <a:solidFill>
                  <a:srgbClr val="000000"/>
                </a:solidFill>
              </a:rPr>
              <a:t>Fast candidates</a:t>
            </a:r>
            <a:endParaRPr lang="en-US" sz="1600" dirty="0"/>
          </a:p>
        </p:txBody>
      </p:sp>
      <p:sp>
        <p:nvSpPr>
          <p:cNvPr id="10" name="Shape 8"/>
          <p:cNvSpPr/>
          <p:nvPr/>
        </p:nvSpPr>
        <p:spPr>
          <a:xfrm>
            <a:off x="3639312" y="2359152"/>
            <a:ext cx="932688" cy="0"/>
          </a:xfrm>
          <a:prstGeom prst="line">
            <a:avLst/>
          </a:prstGeom>
          <a:solidFill>
            <a:srgbClr val="FFFFFF">
              <a:alpha val="0"/>
            </a:srgbClr>
          </a:solidFill>
          <a:ln w="15240">
            <a:solidFill>
              <a:srgbClr val="CBD5E1"/>
            </a:solidFill>
            <a:prstDash val="solid"/>
            <a:headEnd type="none"/>
            <a:tailEnd type="triangle"/>
          </a:ln>
        </p:spPr>
      </p:sp>
      <p:sp>
        <p:nvSpPr>
          <p:cNvPr id="11" name="Shape 9"/>
          <p:cNvSpPr/>
          <p:nvPr/>
        </p:nvSpPr>
        <p:spPr>
          <a:xfrm>
            <a:off x="7516368" y="2359152"/>
            <a:ext cx="877824" cy="0"/>
          </a:xfrm>
          <a:prstGeom prst="line">
            <a:avLst/>
          </a:prstGeom>
          <a:solidFill>
            <a:srgbClr val="FFFFFF">
              <a:alpha val="0"/>
            </a:srgbClr>
          </a:solidFill>
          <a:ln w="15240">
            <a:solidFill>
              <a:srgbClr val="CBD5E1"/>
            </a:solidFill>
            <a:prstDash val="solid"/>
            <a:headEnd type="none"/>
            <a:tailEnd type="triangle"/>
          </a:ln>
        </p:spPr>
      </p:sp>
      <p:sp>
        <p:nvSpPr>
          <p:cNvPr id="12" name="Text 10"/>
          <p:cNvSpPr/>
          <p:nvPr/>
        </p:nvSpPr>
        <p:spPr>
          <a:xfrm>
            <a:off x="960120" y="3794760"/>
            <a:ext cx="10241280" cy="1234440"/>
          </a:xfrm>
          <a:prstGeom prst="rect">
            <a:avLst/>
          </a:prstGeom>
          <a:noFill/>
          <a:ln/>
        </p:spPr>
        <p:txBody>
          <a:bodyPr wrap="square" lIns="508" tIns="508" rIns="508" bIns="508" rtlCol="0" anchor="t">
            <a:normAutofit/>
          </a:bodyPr>
          <a:lstStyle/>
          <a:p>
            <a:r>
              <a:rPr lang="en-US" sz="1450" dirty="0">
                <a:solidFill>
                  <a:srgbClr val="111827"/>
                </a:solidFill>
              </a:rPr>
              <a:t>ANN builds an index structure before query time.
</a:t>
            </a:r>
            <a:endParaRPr lang="en-US" sz="1450" dirty="0"/>
          </a:p>
          <a:p>
            <a:r>
              <a:rPr lang="en-US" sz="1450" dirty="0">
                <a:solidFill>
                  <a:srgbClr val="111827"/>
                </a:solidFill>
              </a:rPr>
              <a:t>At query time, it visits only a small part of the vector space.
</a:t>
            </a:r>
            <a:endParaRPr lang="en-US" sz="1450" dirty="0"/>
          </a:p>
          <a:p>
            <a:r>
              <a:rPr lang="en-US" sz="1450" dirty="0">
                <a:solidFill>
                  <a:srgbClr val="111827"/>
                </a:solidFill>
              </a:rPr>
              <a:t>Common families: graph-based HNSW, inverted-file IVF, tree/partition methods, and product quantization.</a:t>
            </a:r>
            <a:endParaRPr lang="en-US" sz="145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HNSW: Hierarchical Navigable Small World graph</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HNSW is a graph index that searches from coarse long-range links down to fine local links.</a:t>
            </a:r>
            <a:endParaRPr lang="en-US" sz="1150" dirty="0"/>
          </a:p>
        </p:txBody>
      </p:sp>
      <p:sp>
        <p:nvSpPr>
          <p:cNvPr id="4" name="Text 2"/>
          <p:cNvSpPr/>
          <p:nvPr/>
        </p:nvSpPr>
        <p:spPr>
          <a:xfrm>
            <a:off x="822960" y="1234440"/>
            <a:ext cx="2926080" cy="301752"/>
          </a:xfrm>
          <a:prstGeom prst="rect">
            <a:avLst/>
          </a:prstGeom>
          <a:solidFill>
            <a:srgbClr val="EDE9FE"/>
          </a:solidFill>
          <a:ln>
            <a:solidFill>
              <a:srgbClr val="EDE9FE"/>
            </a:solidFill>
          </a:ln>
        </p:spPr>
        <p:txBody>
          <a:bodyPr wrap="square" lIns="381" tIns="381" rIns="381" bIns="381" rtlCol="0" anchor="ctr"/>
          <a:lstStyle/>
          <a:p>
            <a:pPr algn="ctr" indent="0" marL="0">
              <a:buNone/>
            </a:pPr>
            <a:r>
              <a:rPr lang="en-US" sz="1250" b="1" dirty="0">
                <a:solidFill>
                  <a:srgbClr val="7C3AED"/>
                </a:solidFill>
              </a:rPr>
              <a:t>Upper layer: long jumps</a:t>
            </a:r>
            <a:endParaRPr lang="en-US" sz="1250" dirty="0"/>
          </a:p>
        </p:txBody>
      </p:sp>
      <p:sp>
        <p:nvSpPr>
          <p:cNvPr id="5" name="Text 3"/>
          <p:cNvSpPr/>
          <p:nvPr/>
        </p:nvSpPr>
        <p:spPr>
          <a:xfrm>
            <a:off x="4572000" y="1234440"/>
            <a:ext cx="2011680" cy="301752"/>
          </a:xfrm>
          <a:prstGeom prst="rect">
            <a:avLst/>
          </a:prstGeom>
          <a:solidFill>
            <a:srgbClr val="DBEAFE"/>
          </a:solidFill>
          <a:ln>
            <a:solidFill>
              <a:srgbClr val="DBEAFE"/>
            </a:solidFill>
          </a:ln>
        </p:spPr>
        <p:txBody>
          <a:bodyPr wrap="square" lIns="381" tIns="381" rIns="381" bIns="381" rtlCol="0" anchor="ctr"/>
          <a:lstStyle/>
          <a:p>
            <a:pPr algn="ctr" indent="0" marL="0">
              <a:buNone/>
            </a:pPr>
            <a:r>
              <a:rPr lang="en-US" sz="1250" b="1" dirty="0">
                <a:solidFill>
                  <a:srgbClr val="2563EB"/>
                </a:solidFill>
              </a:rPr>
              <a:t>Middle layer</a:t>
            </a:r>
            <a:endParaRPr lang="en-US" sz="1250" dirty="0"/>
          </a:p>
        </p:txBody>
      </p:sp>
      <p:sp>
        <p:nvSpPr>
          <p:cNvPr id="6" name="Text 4"/>
          <p:cNvSpPr/>
          <p:nvPr/>
        </p:nvSpPr>
        <p:spPr>
          <a:xfrm>
            <a:off x="7818120" y="1234440"/>
            <a:ext cx="3017520" cy="301752"/>
          </a:xfrm>
          <a:prstGeom prst="rect">
            <a:avLst/>
          </a:prstGeom>
          <a:solidFill>
            <a:srgbClr val="D1FAE5"/>
          </a:solidFill>
          <a:ln>
            <a:solidFill>
              <a:srgbClr val="D1FAE5"/>
            </a:solidFill>
          </a:ln>
        </p:spPr>
        <p:txBody>
          <a:bodyPr wrap="square" lIns="381" tIns="381" rIns="381" bIns="381" rtlCol="0" anchor="ctr"/>
          <a:lstStyle/>
          <a:p>
            <a:pPr algn="ctr" indent="0" marL="0">
              <a:buNone/>
            </a:pPr>
            <a:r>
              <a:rPr lang="en-US" sz="1250" b="1" dirty="0">
                <a:solidFill>
                  <a:srgbClr val="059669"/>
                </a:solidFill>
              </a:rPr>
              <a:t>Bottom layer: dense local graph</a:t>
            </a:r>
            <a:endParaRPr lang="en-US" sz="1250" dirty="0"/>
          </a:p>
        </p:txBody>
      </p:sp>
      <p:sp>
        <p:nvSpPr>
          <p:cNvPr id="7" name="Shape 5"/>
          <p:cNvSpPr/>
          <p:nvPr/>
        </p:nvSpPr>
        <p:spPr>
          <a:xfrm>
            <a:off x="1463040" y="2240280"/>
            <a:ext cx="292608" cy="292608"/>
          </a:xfrm>
          <a:prstGeom prst="ellipse">
            <a:avLst/>
          </a:prstGeom>
          <a:solidFill>
            <a:srgbClr val="EDE9FE"/>
          </a:solidFill>
          <a:ln w="12700">
            <a:solidFill>
              <a:srgbClr val="7C3AED"/>
            </a:solidFill>
            <a:prstDash val="solid"/>
          </a:ln>
        </p:spPr>
      </p:sp>
      <p:sp>
        <p:nvSpPr>
          <p:cNvPr id="8" name="Shape 6"/>
          <p:cNvSpPr/>
          <p:nvPr/>
        </p:nvSpPr>
        <p:spPr>
          <a:xfrm>
            <a:off x="2834640" y="1920240"/>
            <a:ext cx="292608" cy="292608"/>
          </a:xfrm>
          <a:prstGeom prst="ellipse">
            <a:avLst/>
          </a:prstGeom>
          <a:solidFill>
            <a:srgbClr val="EDE9FE"/>
          </a:solidFill>
          <a:ln w="12700">
            <a:solidFill>
              <a:srgbClr val="7C3AED"/>
            </a:solidFill>
            <a:prstDash val="solid"/>
          </a:ln>
        </p:spPr>
      </p:sp>
      <p:sp>
        <p:nvSpPr>
          <p:cNvPr id="9" name="Shape 7"/>
          <p:cNvSpPr/>
          <p:nvPr/>
        </p:nvSpPr>
        <p:spPr>
          <a:xfrm>
            <a:off x="2377440" y="2971800"/>
            <a:ext cx="292608" cy="292608"/>
          </a:xfrm>
          <a:prstGeom prst="ellipse">
            <a:avLst/>
          </a:prstGeom>
          <a:solidFill>
            <a:srgbClr val="EDE9FE"/>
          </a:solidFill>
          <a:ln w="12700">
            <a:solidFill>
              <a:srgbClr val="7C3AED"/>
            </a:solidFill>
            <a:prstDash val="solid"/>
          </a:ln>
        </p:spPr>
      </p:sp>
      <p:sp>
        <p:nvSpPr>
          <p:cNvPr id="10" name="Shape 8"/>
          <p:cNvSpPr/>
          <p:nvPr/>
        </p:nvSpPr>
        <p:spPr>
          <a:xfrm>
            <a:off x="1609344" y="2386584"/>
            <a:ext cx="1371600" cy="-320040"/>
          </a:xfrm>
          <a:prstGeom prst="line">
            <a:avLst/>
          </a:prstGeom>
          <a:solidFill>
            <a:srgbClr val="FFFFFF">
              <a:alpha val="0"/>
            </a:srgbClr>
          </a:solidFill>
          <a:ln w="12700">
            <a:solidFill>
              <a:srgbClr val="7C3AED"/>
            </a:solidFill>
            <a:prstDash val="solid"/>
            <a:headEnd type="none"/>
            <a:tailEnd type="none"/>
          </a:ln>
        </p:spPr>
      </p:sp>
      <p:sp>
        <p:nvSpPr>
          <p:cNvPr id="11" name="Shape 9"/>
          <p:cNvSpPr/>
          <p:nvPr/>
        </p:nvSpPr>
        <p:spPr>
          <a:xfrm>
            <a:off x="2980944" y="2066544"/>
            <a:ext cx="-457200" cy="1051560"/>
          </a:xfrm>
          <a:prstGeom prst="line">
            <a:avLst/>
          </a:prstGeom>
          <a:solidFill>
            <a:srgbClr val="FFFFFF">
              <a:alpha val="0"/>
            </a:srgbClr>
          </a:solidFill>
          <a:ln w="12700">
            <a:solidFill>
              <a:srgbClr val="7C3AED"/>
            </a:solidFill>
            <a:prstDash val="solid"/>
            <a:headEnd type="none"/>
            <a:tailEnd type="none"/>
          </a:ln>
        </p:spPr>
      </p:sp>
      <p:sp>
        <p:nvSpPr>
          <p:cNvPr id="12" name="Shape 10"/>
          <p:cNvSpPr/>
          <p:nvPr/>
        </p:nvSpPr>
        <p:spPr>
          <a:xfrm>
            <a:off x="4572000" y="1965960"/>
            <a:ext cx="256032" cy="256032"/>
          </a:xfrm>
          <a:prstGeom prst="ellipse">
            <a:avLst/>
          </a:prstGeom>
          <a:solidFill>
            <a:srgbClr val="DBEAFE"/>
          </a:solidFill>
          <a:ln w="12700">
            <a:solidFill>
              <a:srgbClr val="2563EB"/>
            </a:solidFill>
            <a:prstDash val="solid"/>
          </a:ln>
        </p:spPr>
      </p:sp>
      <p:sp>
        <p:nvSpPr>
          <p:cNvPr id="13" name="Shape 11"/>
          <p:cNvSpPr/>
          <p:nvPr/>
        </p:nvSpPr>
        <p:spPr>
          <a:xfrm>
            <a:off x="5486400" y="2468880"/>
            <a:ext cx="256032" cy="256032"/>
          </a:xfrm>
          <a:prstGeom prst="ellipse">
            <a:avLst/>
          </a:prstGeom>
          <a:solidFill>
            <a:srgbClr val="DBEAFE"/>
          </a:solidFill>
          <a:ln w="12700">
            <a:solidFill>
              <a:srgbClr val="2563EB"/>
            </a:solidFill>
            <a:prstDash val="solid"/>
          </a:ln>
        </p:spPr>
      </p:sp>
      <p:sp>
        <p:nvSpPr>
          <p:cNvPr id="14" name="Shape 12"/>
          <p:cNvSpPr/>
          <p:nvPr/>
        </p:nvSpPr>
        <p:spPr>
          <a:xfrm>
            <a:off x="6355080" y="2011680"/>
            <a:ext cx="256032" cy="256032"/>
          </a:xfrm>
          <a:prstGeom prst="ellipse">
            <a:avLst/>
          </a:prstGeom>
          <a:solidFill>
            <a:srgbClr val="DBEAFE"/>
          </a:solidFill>
          <a:ln w="12700">
            <a:solidFill>
              <a:srgbClr val="2563EB"/>
            </a:solidFill>
            <a:prstDash val="solid"/>
          </a:ln>
        </p:spPr>
      </p:sp>
      <p:sp>
        <p:nvSpPr>
          <p:cNvPr id="15" name="Shape 13"/>
          <p:cNvSpPr/>
          <p:nvPr/>
        </p:nvSpPr>
        <p:spPr>
          <a:xfrm>
            <a:off x="5074920" y="3154680"/>
            <a:ext cx="256032" cy="256032"/>
          </a:xfrm>
          <a:prstGeom prst="ellipse">
            <a:avLst/>
          </a:prstGeom>
          <a:solidFill>
            <a:srgbClr val="DBEAFE"/>
          </a:solidFill>
          <a:ln w="12700">
            <a:solidFill>
              <a:srgbClr val="2563EB"/>
            </a:solidFill>
            <a:prstDash val="solid"/>
          </a:ln>
        </p:spPr>
      </p:sp>
      <p:sp>
        <p:nvSpPr>
          <p:cNvPr id="16" name="Shape 14"/>
          <p:cNvSpPr/>
          <p:nvPr/>
        </p:nvSpPr>
        <p:spPr>
          <a:xfrm>
            <a:off x="4700016" y="2093976"/>
            <a:ext cx="914400" cy="502920"/>
          </a:xfrm>
          <a:prstGeom prst="line">
            <a:avLst/>
          </a:prstGeom>
          <a:solidFill>
            <a:srgbClr val="FFFFFF">
              <a:alpha val="0"/>
            </a:srgbClr>
          </a:solidFill>
          <a:ln w="11430">
            <a:solidFill>
              <a:srgbClr val="2563EB"/>
            </a:solidFill>
            <a:prstDash val="solid"/>
            <a:headEnd type="none"/>
            <a:tailEnd type="none"/>
          </a:ln>
        </p:spPr>
      </p:sp>
      <p:sp>
        <p:nvSpPr>
          <p:cNvPr id="17" name="Shape 15"/>
          <p:cNvSpPr/>
          <p:nvPr/>
        </p:nvSpPr>
        <p:spPr>
          <a:xfrm>
            <a:off x="5614416" y="2596896"/>
            <a:ext cx="868680" cy="-457200"/>
          </a:xfrm>
          <a:prstGeom prst="line">
            <a:avLst/>
          </a:prstGeom>
          <a:solidFill>
            <a:srgbClr val="FFFFFF">
              <a:alpha val="0"/>
            </a:srgbClr>
          </a:solidFill>
          <a:ln w="11430">
            <a:solidFill>
              <a:srgbClr val="2563EB"/>
            </a:solidFill>
            <a:prstDash val="solid"/>
            <a:headEnd type="none"/>
            <a:tailEnd type="none"/>
          </a:ln>
        </p:spPr>
      </p:sp>
      <p:sp>
        <p:nvSpPr>
          <p:cNvPr id="18" name="Shape 16"/>
          <p:cNvSpPr/>
          <p:nvPr/>
        </p:nvSpPr>
        <p:spPr>
          <a:xfrm>
            <a:off x="6483096" y="2139696"/>
            <a:ext cx="-1280160" cy="1143000"/>
          </a:xfrm>
          <a:prstGeom prst="line">
            <a:avLst/>
          </a:prstGeom>
          <a:solidFill>
            <a:srgbClr val="FFFFFF">
              <a:alpha val="0"/>
            </a:srgbClr>
          </a:solidFill>
          <a:ln w="11430">
            <a:solidFill>
              <a:srgbClr val="2563EB"/>
            </a:solidFill>
            <a:prstDash val="solid"/>
            <a:headEnd type="none"/>
            <a:tailEnd type="none"/>
          </a:ln>
        </p:spPr>
      </p:sp>
      <p:sp>
        <p:nvSpPr>
          <p:cNvPr id="19" name="Shape 17"/>
          <p:cNvSpPr/>
          <p:nvPr/>
        </p:nvSpPr>
        <p:spPr>
          <a:xfrm>
            <a:off x="7909560" y="1828800"/>
            <a:ext cx="219456" cy="219456"/>
          </a:xfrm>
          <a:prstGeom prst="ellipse">
            <a:avLst/>
          </a:prstGeom>
          <a:solidFill>
            <a:srgbClr val="D1FAE5"/>
          </a:solidFill>
          <a:ln w="12700">
            <a:solidFill>
              <a:srgbClr val="059669"/>
            </a:solidFill>
            <a:prstDash val="solid"/>
          </a:ln>
        </p:spPr>
      </p:sp>
      <p:sp>
        <p:nvSpPr>
          <p:cNvPr id="20" name="Shape 18"/>
          <p:cNvSpPr/>
          <p:nvPr/>
        </p:nvSpPr>
        <p:spPr>
          <a:xfrm>
            <a:off x="8641080" y="1828800"/>
            <a:ext cx="219456" cy="219456"/>
          </a:xfrm>
          <a:prstGeom prst="ellipse">
            <a:avLst/>
          </a:prstGeom>
          <a:solidFill>
            <a:srgbClr val="D1FAE5"/>
          </a:solidFill>
          <a:ln w="12700">
            <a:solidFill>
              <a:srgbClr val="059669"/>
            </a:solidFill>
            <a:prstDash val="solid"/>
          </a:ln>
        </p:spPr>
      </p:sp>
      <p:sp>
        <p:nvSpPr>
          <p:cNvPr id="21" name="Shape 19"/>
          <p:cNvSpPr/>
          <p:nvPr/>
        </p:nvSpPr>
        <p:spPr>
          <a:xfrm>
            <a:off x="9372600" y="1828800"/>
            <a:ext cx="219456" cy="219456"/>
          </a:xfrm>
          <a:prstGeom prst="ellipse">
            <a:avLst/>
          </a:prstGeom>
          <a:solidFill>
            <a:srgbClr val="D1FAE5"/>
          </a:solidFill>
          <a:ln w="12700">
            <a:solidFill>
              <a:srgbClr val="059669"/>
            </a:solidFill>
            <a:prstDash val="solid"/>
          </a:ln>
        </p:spPr>
      </p:sp>
      <p:sp>
        <p:nvSpPr>
          <p:cNvPr id="22" name="Shape 20"/>
          <p:cNvSpPr/>
          <p:nvPr/>
        </p:nvSpPr>
        <p:spPr>
          <a:xfrm>
            <a:off x="7909560" y="2468880"/>
            <a:ext cx="219456" cy="219456"/>
          </a:xfrm>
          <a:prstGeom prst="ellipse">
            <a:avLst/>
          </a:prstGeom>
          <a:solidFill>
            <a:srgbClr val="D1FAE5"/>
          </a:solidFill>
          <a:ln w="12700">
            <a:solidFill>
              <a:srgbClr val="059669"/>
            </a:solidFill>
            <a:prstDash val="solid"/>
          </a:ln>
        </p:spPr>
      </p:sp>
      <p:sp>
        <p:nvSpPr>
          <p:cNvPr id="23" name="Shape 21"/>
          <p:cNvSpPr/>
          <p:nvPr/>
        </p:nvSpPr>
        <p:spPr>
          <a:xfrm>
            <a:off x="8641080" y="2468880"/>
            <a:ext cx="219456" cy="219456"/>
          </a:xfrm>
          <a:prstGeom prst="ellipse">
            <a:avLst/>
          </a:prstGeom>
          <a:solidFill>
            <a:srgbClr val="D1FAE5"/>
          </a:solidFill>
          <a:ln w="12700">
            <a:solidFill>
              <a:srgbClr val="059669"/>
            </a:solidFill>
            <a:prstDash val="solid"/>
          </a:ln>
        </p:spPr>
      </p:sp>
      <p:sp>
        <p:nvSpPr>
          <p:cNvPr id="24" name="Shape 22"/>
          <p:cNvSpPr/>
          <p:nvPr/>
        </p:nvSpPr>
        <p:spPr>
          <a:xfrm>
            <a:off x="9372600" y="2468880"/>
            <a:ext cx="219456" cy="219456"/>
          </a:xfrm>
          <a:prstGeom prst="ellipse">
            <a:avLst/>
          </a:prstGeom>
          <a:solidFill>
            <a:srgbClr val="D1FAE5"/>
          </a:solidFill>
          <a:ln w="12700">
            <a:solidFill>
              <a:srgbClr val="059669"/>
            </a:solidFill>
            <a:prstDash val="solid"/>
          </a:ln>
        </p:spPr>
      </p:sp>
      <p:sp>
        <p:nvSpPr>
          <p:cNvPr id="25" name="Shape 23"/>
          <p:cNvSpPr/>
          <p:nvPr/>
        </p:nvSpPr>
        <p:spPr>
          <a:xfrm>
            <a:off x="7909560" y="3108960"/>
            <a:ext cx="219456" cy="219456"/>
          </a:xfrm>
          <a:prstGeom prst="ellipse">
            <a:avLst/>
          </a:prstGeom>
          <a:solidFill>
            <a:srgbClr val="D1FAE5"/>
          </a:solidFill>
          <a:ln w="12700">
            <a:solidFill>
              <a:srgbClr val="059669"/>
            </a:solidFill>
            <a:prstDash val="solid"/>
          </a:ln>
        </p:spPr>
      </p:sp>
      <p:sp>
        <p:nvSpPr>
          <p:cNvPr id="26" name="Shape 24"/>
          <p:cNvSpPr/>
          <p:nvPr/>
        </p:nvSpPr>
        <p:spPr>
          <a:xfrm>
            <a:off x="8641080" y="3108960"/>
            <a:ext cx="219456" cy="219456"/>
          </a:xfrm>
          <a:prstGeom prst="ellipse">
            <a:avLst/>
          </a:prstGeom>
          <a:solidFill>
            <a:srgbClr val="D1FAE5"/>
          </a:solidFill>
          <a:ln w="12700">
            <a:solidFill>
              <a:srgbClr val="059669"/>
            </a:solidFill>
            <a:prstDash val="solid"/>
          </a:ln>
        </p:spPr>
      </p:sp>
      <p:sp>
        <p:nvSpPr>
          <p:cNvPr id="27" name="Shape 25"/>
          <p:cNvSpPr/>
          <p:nvPr/>
        </p:nvSpPr>
        <p:spPr>
          <a:xfrm>
            <a:off x="9372600" y="3108960"/>
            <a:ext cx="219456" cy="219456"/>
          </a:xfrm>
          <a:prstGeom prst="ellipse">
            <a:avLst/>
          </a:prstGeom>
          <a:solidFill>
            <a:srgbClr val="D1FAE5"/>
          </a:solidFill>
          <a:ln w="12700">
            <a:solidFill>
              <a:srgbClr val="059669"/>
            </a:solidFill>
            <a:prstDash val="solid"/>
          </a:ln>
        </p:spPr>
      </p:sp>
      <p:sp>
        <p:nvSpPr>
          <p:cNvPr id="28" name="Shape 26"/>
          <p:cNvSpPr/>
          <p:nvPr/>
        </p:nvSpPr>
        <p:spPr>
          <a:xfrm>
            <a:off x="8019288" y="1938528"/>
            <a:ext cx="731520" cy="0"/>
          </a:xfrm>
          <a:prstGeom prst="line">
            <a:avLst/>
          </a:prstGeom>
          <a:solidFill>
            <a:srgbClr val="FFFFFF">
              <a:alpha val="0"/>
            </a:srgbClr>
          </a:solidFill>
          <a:ln w="8890">
            <a:solidFill>
              <a:srgbClr val="059669"/>
            </a:solidFill>
            <a:prstDash val="solid"/>
            <a:headEnd type="none"/>
            <a:tailEnd type="none"/>
          </a:ln>
        </p:spPr>
      </p:sp>
      <p:sp>
        <p:nvSpPr>
          <p:cNvPr id="29" name="Shape 27"/>
          <p:cNvSpPr/>
          <p:nvPr/>
        </p:nvSpPr>
        <p:spPr>
          <a:xfrm>
            <a:off x="8750808" y="1938528"/>
            <a:ext cx="731520" cy="0"/>
          </a:xfrm>
          <a:prstGeom prst="line">
            <a:avLst/>
          </a:prstGeom>
          <a:solidFill>
            <a:srgbClr val="FFFFFF">
              <a:alpha val="0"/>
            </a:srgbClr>
          </a:solidFill>
          <a:ln w="8890">
            <a:solidFill>
              <a:srgbClr val="059669"/>
            </a:solidFill>
            <a:prstDash val="solid"/>
            <a:headEnd type="none"/>
            <a:tailEnd type="none"/>
          </a:ln>
        </p:spPr>
      </p:sp>
      <p:sp>
        <p:nvSpPr>
          <p:cNvPr id="30" name="Shape 28"/>
          <p:cNvSpPr/>
          <p:nvPr/>
        </p:nvSpPr>
        <p:spPr>
          <a:xfrm>
            <a:off x="9482328" y="1938528"/>
            <a:ext cx="-1463040" cy="640080"/>
          </a:xfrm>
          <a:prstGeom prst="line">
            <a:avLst/>
          </a:prstGeom>
          <a:solidFill>
            <a:srgbClr val="FFFFFF">
              <a:alpha val="0"/>
            </a:srgbClr>
          </a:solidFill>
          <a:ln w="8890">
            <a:solidFill>
              <a:srgbClr val="059669"/>
            </a:solidFill>
            <a:prstDash val="solid"/>
            <a:headEnd type="none"/>
            <a:tailEnd type="none"/>
          </a:ln>
        </p:spPr>
      </p:sp>
      <p:sp>
        <p:nvSpPr>
          <p:cNvPr id="31" name="Shape 29"/>
          <p:cNvSpPr/>
          <p:nvPr/>
        </p:nvSpPr>
        <p:spPr>
          <a:xfrm>
            <a:off x="8019288" y="2578608"/>
            <a:ext cx="731520" cy="0"/>
          </a:xfrm>
          <a:prstGeom prst="line">
            <a:avLst/>
          </a:prstGeom>
          <a:solidFill>
            <a:srgbClr val="FFFFFF">
              <a:alpha val="0"/>
            </a:srgbClr>
          </a:solidFill>
          <a:ln w="8890">
            <a:solidFill>
              <a:srgbClr val="059669"/>
            </a:solidFill>
            <a:prstDash val="solid"/>
            <a:headEnd type="none"/>
            <a:tailEnd type="none"/>
          </a:ln>
        </p:spPr>
      </p:sp>
      <p:sp>
        <p:nvSpPr>
          <p:cNvPr id="32" name="Shape 30"/>
          <p:cNvSpPr/>
          <p:nvPr/>
        </p:nvSpPr>
        <p:spPr>
          <a:xfrm>
            <a:off x="8750808" y="2578608"/>
            <a:ext cx="731520" cy="0"/>
          </a:xfrm>
          <a:prstGeom prst="line">
            <a:avLst/>
          </a:prstGeom>
          <a:solidFill>
            <a:srgbClr val="FFFFFF">
              <a:alpha val="0"/>
            </a:srgbClr>
          </a:solidFill>
          <a:ln w="8890">
            <a:solidFill>
              <a:srgbClr val="059669"/>
            </a:solidFill>
            <a:prstDash val="solid"/>
            <a:headEnd type="none"/>
            <a:tailEnd type="none"/>
          </a:ln>
        </p:spPr>
      </p:sp>
      <p:sp>
        <p:nvSpPr>
          <p:cNvPr id="33" name="Shape 31"/>
          <p:cNvSpPr/>
          <p:nvPr/>
        </p:nvSpPr>
        <p:spPr>
          <a:xfrm>
            <a:off x="9482328" y="2578608"/>
            <a:ext cx="-1463040" cy="640080"/>
          </a:xfrm>
          <a:prstGeom prst="line">
            <a:avLst/>
          </a:prstGeom>
          <a:solidFill>
            <a:srgbClr val="FFFFFF">
              <a:alpha val="0"/>
            </a:srgbClr>
          </a:solidFill>
          <a:ln w="8890">
            <a:solidFill>
              <a:srgbClr val="059669"/>
            </a:solidFill>
            <a:prstDash val="solid"/>
            <a:headEnd type="none"/>
            <a:tailEnd type="none"/>
          </a:ln>
        </p:spPr>
      </p:sp>
      <p:sp>
        <p:nvSpPr>
          <p:cNvPr id="34" name="Shape 32"/>
          <p:cNvSpPr/>
          <p:nvPr/>
        </p:nvSpPr>
        <p:spPr>
          <a:xfrm>
            <a:off x="8019288" y="3218688"/>
            <a:ext cx="731520" cy="0"/>
          </a:xfrm>
          <a:prstGeom prst="line">
            <a:avLst/>
          </a:prstGeom>
          <a:solidFill>
            <a:srgbClr val="FFFFFF">
              <a:alpha val="0"/>
            </a:srgbClr>
          </a:solidFill>
          <a:ln w="8890">
            <a:solidFill>
              <a:srgbClr val="059669"/>
            </a:solidFill>
            <a:prstDash val="solid"/>
            <a:headEnd type="none"/>
            <a:tailEnd type="none"/>
          </a:ln>
        </p:spPr>
      </p:sp>
      <p:sp>
        <p:nvSpPr>
          <p:cNvPr id="35" name="Shape 33"/>
          <p:cNvSpPr/>
          <p:nvPr/>
        </p:nvSpPr>
        <p:spPr>
          <a:xfrm>
            <a:off x="8750808" y="3218688"/>
            <a:ext cx="731520" cy="0"/>
          </a:xfrm>
          <a:prstGeom prst="line">
            <a:avLst/>
          </a:prstGeom>
          <a:solidFill>
            <a:srgbClr val="FFFFFF">
              <a:alpha val="0"/>
            </a:srgbClr>
          </a:solidFill>
          <a:ln w="8890">
            <a:solidFill>
              <a:srgbClr val="059669"/>
            </a:solidFill>
            <a:prstDash val="solid"/>
            <a:headEnd type="none"/>
            <a:tailEnd type="none"/>
          </a:ln>
        </p:spPr>
      </p:sp>
      <p:sp>
        <p:nvSpPr>
          <p:cNvPr id="36" name="Text 34"/>
          <p:cNvSpPr/>
          <p:nvPr/>
        </p:nvSpPr>
        <p:spPr>
          <a:xfrm>
            <a:off x="914400" y="4206240"/>
            <a:ext cx="10515600" cy="1143000"/>
          </a:xfrm>
          <a:prstGeom prst="rect">
            <a:avLst/>
          </a:prstGeom>
          <a:noFill/>
          <a:ln/>
        </p:spPr>
        <p:txBody>
          <a:bodyPr wrap="square" lIns="508" tIns="508" rIns="508" bIns="508" rtlCol="0" anchor="t">
            <a:normAutofit/>
          </a:bodyPr>
          <a:lstStyle/>
          <a:p>
            <a:r>
              <a:rPr lang="en-US" sz="1410" dirty="0">
                <a:solidFill>
                  <a:srgbClr val="111827"/>
                </a:solidFill>
              </a:rPr>
              <a:t>Build phase: each vector becomes a node connected to nearby nodes.
</a:t>
            </a:r>
            <a:endParaRPr lang="en-US" sz="1410" dirty="0"/>
          </a:p>
          <a:p>
            <a:r>
              <a:rPr lang="en-US" sz="1410" dirty="0">
                <a:solidFill>
                  <a:srgbClr val="111827"/>
                </a:solidFill>
              </a:rPr>
              <a:t>Search phase: start at a high layer, greedily move closer, then descend layer by layer.
</a:t>
            </a:r>
            <a:endParaRPr lang="en-US" sz="1410" dirty="0"/>
          </a:p>
          <a:p>
            <a:r>
              <a:rPr lang="en-US" sz="1410" dirty="0">
                <a:solidFill>
                  <a:srgbClr val="111827"/>
                </a:solidFill>
              </a:rPr>
              <a:t>Why it beats BFS/DFS: it uses distance-guided navigation, not blind traversal of neighbors.</a:t>
            </a:r>
            <a:endParaRPr lang="en-US" sz="141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HNSW vs BFS/DFS: why HNSW is faster</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BFS/DFS answer “how do I traverse a graph?” HNSW answers “how do I reach nearest vectors quickly?”</a:t>
            </a:r>
            <a:endParaRPr lang="en-US" sz="1150" dirty="0"/>
          </a:p>
        </p:txBody>
      </p:sp>
      <p:sp>
        <p:nvSpPr>
          <p:cNvPr id="4" name="Text 2"/>
          <p:cNvSpPr/>
          <p:nvPr/>
        </p:nvSpPr>
        <p:spPr>
          <a:xfrm>
            <a:off x="914400" y="1325880"/>
            <a:ext cx="4297680" cy="301752"/>
          </a:xfrm>
          <a:prstGeom prst="rect">
            <a:avLst/>
          </a:prstGeom>
          <a:solidFill>
            <a:srgbClr val="FFEDD5"/>
          </a:solidFill>
          <a:ln>
            <a:solidFill>
              <a:srgbClr val="FFEDD5"/>
            </a:solidFill>
          </a:ln>
        </p:spPr>
        <p:txBody>
          <a:bodyPr wrap="square" lIns="381" tIns="381" rIns="381" bIns="381" rtlCol="0" anchor="ctr"/>
          <a:lstStyle/>
          <a:p>
            <a:pPr algn="ctr" indent="0" marL="0">
              <a:buNone/>
            </a:pPr>
            <a:r>
              <a:rPr lang="en-US" sz="1250" b="1" dirty="0">
                <a:solidFill>
                  <a:srgbClr val="EA580C"/>
                </a:solidFill>
              </a:rPr>
              <a:t>BFS / DFS</a:t>
            </a:r>
            <a:endParaRPr lang="en-US" sz="1250" dirty="0"/>
          </a:p>
        </p:txBody>
      </p:sp>
      <p:sp>
        <p:nvSpPr>
          <p:cNvPr id="5" name="Text 3"/>
          <p:cNvSpPr/>
          <p:nvPr/>
        </p:nvSpPr>
        <p:spPr>
          <a:xfrm>
            <a:off x="6492240" y="1325880"/>
            <a:ext cx="4297680" cy="301752"/>
          </a:xfrm>
          <a:prstGeom prst="rect">
            <a:avLst/>
          </a:prstGeom>
          <a:solidFill>
            <a:srgbClr val="D1FAE5"/>
          </a:solidFill>
          <a:ln>
            <a:solidFill>
              <a:srgbClr val="D1FAE5"/>
            </a:solidFill>
          </a:ln>
        </p:spPr>
        <p:txBody>
          <a:bodyPr wrap="square" lIns="381" tIns="381" rIns="381" bIns="381" rtlCol="0" anchor="ctr"/>
          <a:lstStyle/>
          <a:p>
            <a:pPr algn="ctr" indent="0" marL="0">
              <a:buNone/>
            </a:pPr>
            <a:r>
              <a:rPr lang="en-US" sz="1250" b="1" dirty="0">
                <a:solidFill>
                  <a:srgbClr val="059669"/>
                </a:solidFill>
              </a:rPr>
              <a:t>HNSW</a:t>
            </a:r>
            <a:endParaRPr lang="en-US" sz="1250" dirty="0"/>
          </a:p>
        </p:txBody>
      </p:sp>
      <p:sp>
        <p:nvSpPr>
          <p:cNvPr id="6" name="Text 4"/>
          <p:cNvSpPr/>
          <p:nvPr/>
        </p:nvSpPr>
        <p:spPr>
          <a:xfrm>
            <a:off x="1143000" y="1920240"/>
            <a:ext cx="3840480" cy="1554480"/>
          </a:xfrm>
          <a:prstGeom prst="rect">
            <a:avLst/>
          </a:prstGeom>
          <a:noFill/>
          <a:ln/>
        </p:spPr>
        <p:txBody>
          <a:bodyPr wrap="square" lIns="508" tIns="508" rIns="508" bIns="508" rtlCol="0" anchor="t">
            <a:normAutofit/>
          </a:bodyPr>
          <a:lstStyle/>
          <a:p>
            <a:r>
              <a:rPr lang="en-US" sz="1380" dirty="0">
                <a:solidFill>
                  <a:srgbClr val="111827"/>
                </a:solidFill>
              </a:rPr>
              <a:t>Generic traversal.
</a:t>
            </a:r>
            <a:endParaRPr lang="en-US" sz="1380" dirty="0"/>
          </a:p>
          <a:p>
            <a:r>
              <a:rPr lang="en-US" sz="1380" dirty="0">
                <a:solidFill>
                  <a:srgbClr val="111827"/>
                </a:solidFill>
              </a:rPr>
              <a:t>May visit many irrelevant nodes.
</a:t>
            </a:r>
            <a:endParaRPr lang="en-US" sz="1380" dirty="0"/>
          </a:p>
          <a:p>
            <a:r>
              <a:rPr lang="en-US" sz="1380" dirty="0">
                <a:solidFill>
                  <a:srgbClr val="111827"/>
                </a:solidFill>
              </a:rPr>
              <a:t>No semantic-distance objective by default.
</a:t>
            </a:r>
            <a:endParaRPr lang="en-US" sz="1380" dirty="0"/>
          </a:p>
          <a:p>
            <a:r>
              <a:rPr lang="en-US" sz="1380" dirty="0">
                <a:solidFill>
                  <a:srgbClr val="111827"/>
                </a:solidFill>
              </a:rPr>
              <a:t>Good for reachability, paths, components.</a:t>
            </a:r>
            <a:endParaRPr lang="en-US" sz="1380" dirty="0"/>
          </a:p>
        </p:txBody>
      </p:sp>
      <p:sp>
        <p:nvSpPr>
          <p:cNvPr id="7" name="Text 5"/>
          <p:cNvSpPr/>
          <p:nvPr/>
        </p:nvSpPr>
        <p:spPr>
          <a:xfrm>
            <a:off x="6720840" y="1920240"/>
            <a:ext cx="3886200" cy="1554480"/>
          </a:xfrm>
          <a:prstGeom prst="rect">
            <a:avLst/>
          </a:prstGeom>
          <a:noFill/>
          <a:ln/>
        </p:spPr>
        <p:txBody>
          <a:bodyPr wrap="square" lIns="508" tIns="508" rIns="508" bIns="508" rtlCol="0" anchor="t">
            <a:normAutofit/>
          </a:bodyPr>
          <a:lstStyle/>
          <a:p>
            <a:r>
              <a:rPr lang="en-US" sz="1380" dirty="0">
                <a:solidFill>
                  <a:srgbClr val="111827"/>
                </a:solidFill>
              </a:rPr>
              <a:t>Search graph built from vector neighborhoods.
</a:t>
            </a:r>
            <a:endParaRPr lang="en-US" sz="1380" dirty="0"/>
          </a:p>
          <a:p>
            <a:r>
              <a:rPr lang="en-US" sz="1380" dirty="0">
                <a:solidFill>
                  <a:srgbClr val="111827"/>
                </a:solidFill>
              </a:rPr>
              <a:t>Greedy: repeatedly move to closer nodes.
</a:t>
            </a:r>
            <a:endParaRPr lang="en-US" sz="1380" dirty="0"/>
          </a:p>
          <a:p>
            <a:r>
              <a:rPr lang="en-US" sz="1380" dirty="0">
                <a:solidFill>
                  <a:srgbClr val="111827"/>
                </a:solidFill>
              </a:rPr>
              <a:t>Hierarchical: long jumps first, local refinement later.
</a:t>
            </a:r>
            <a:endParaRPr lang="en-US" sz="1380" dirty="0"/>
          </a:p>
          <a:p>
            <a:r>
              <a:rPr lang="en-US" sz="1380" dirty="0">
                <a:solidFill>
                  <a:srgbClr val="111827"/>
                </a:solidFill>
              </a:rPr>
              <a:t>Good for low-latency top-K similarity search.</a:t>
            </a:r>
            <a:endParaRPr lang="en-US" sz="1380" dirty="0"/>
          </a:p>
        </p:txBody>
      </p:sp>
      <p:sp>
        <p:nvSpPr>
          <p:cNvPr id="8" name="Text 6"/>
          <p:cNvSpPr/>
          <p:nvPr/>
        </p:nvSpPr>
        <p:spPr>
          <a:xfrm>
            <a:off x="1325880" y="4846320"/>
            <a:ext cx="9418320" cy="502920"/>
          </a:xfrm>
          <a:prstGeom prst="rect">
            <a:avLst/>
          </a:prstGeom>
          <a:noFill/>
          <a:ln/>
        </p:spPr>
        <p:txBody>
          <a:bodyPr wrap="square" lIns="381" tIns="381" rIns="381" bIns="381" rtlCol="0" anchor="ctr">
            <a:normAutofit/>
          </a:bodyPr>
          <a:lstStyle/>
          <a:p>
            <a:pPr algn="ctr" indent="0" marL="0">
              <a:buNone/>
            </a:pPr>
            <a:r>
              <a:rPr lang="en-US" sz="1700" b="1" dirty="0">
                <a:solidFill>
                  <a:srgbClr val="111827"/>
                </a:solidFill>
              </a:rPr>
              <a:t>Presentation phrase: HNSW is not merely traversing a graph; it is navigating a purpose-built map of the vector space.</a:t>
            </a:r>
            <a:endParaRPr lang="en-US" sz="17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IVF vs HNSW</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Two common ANN index styles: partition the space, or navigate a graph.</a:t>
            </a:r>
            <a:endParaRPr lang="en-US" sz="1150" dirty="0"/>
          </a:p>
        </p:txBody>
      </p:sp>
      <p:sp>
        <p:nvSpPr>
          <p:cNvPr id="4" name="Text 2"/>
          <p:cNvSpPr/>
          <p:nvPr/>
        </p:nvSpPr>
        <p:spPr>
          <a:xfrm>
            <a:off x="822960" y="1234440"/>
            <a:ext cx="4480560" cy="301752"/>
          </a:xfrm>
          <a:prstGeom prst="rect">
            <a:avLst/>
          </a:prstGeom>
          <a:solidFill>
            <a:srgbClr val="DBEAFE"/>
          </a:solidFill>
          <a:ln>
            <a:solidFill>
              <a:srgbClr val="DBEAFE"/>
            </a:solidFill>
          </a:ln>
        </p:spPr>
        <p:txBody>
          <a:bodyPr wrap="square" lIns="381" tIns="381" rIns="381" bIns="381" rtlCol="0" anchor="ctr"/>
          <a:lstStyle/>
          <a:p>
            <a:pPr algn="ctr" indent="0" marL="0">
              <a:buNone/>
            </a:pPr>
            <a:r>
              <a:rPr lang="en-US" sz="1250" b="1" dirty="0">
                <a:solidFill>
                  <a:srgbClr val="2563EB"/>
                </a:solidFill>
              </a:rPr>
              <a:t>IVF: Inverted File Index</a:t>
            </a:r>
            <a:endParaRPr lang="en-US" sz="1250" dirty="0"/>
          </a:p>
        </p:txBody>
      </p:sp>
      <p:sp>
        <p:nvSpPr>
          <p:cNvPr id="5" name="Text 3"/>
          <p:cNvSpPr/>
          <p:nvPr/>
        </p:nvSpPr>
        <p:spPr>
          <a:xfrm>
            <a:off x="6400800" y="1234440"/>
            <a:ext cx="4480560" cy="301752"/>
          </a:xfrm>
          <a:prstGeom prst="rect">
            <a:avLst/>
          </a:prstGeom>
          <a:solidFill>
            <a:srgbClr val="D1FAE5"/>
          </a:solidFill>
          <a:ln>
            <a:solidFill>
              <a:srgbClr val="D1FAE5"/>
            </a:solidFill>
          </a:ln>
        </p:spPr>
        <p:txBody>
          <a:bodyPr wrap="square" lIns="381" tIns="381" rIns="381" bIns="381" rtlCol="0" anchor="ctr"/>
          <a:lstStyle/>
          <a:p>
            <a:pPr algn="ctr" indent="0" marL="0">
              <a:buNone/>
            </a:pPr>
            <a:r>
              <a:rPr lang="en-US" sz="1250" b="1" dirty="0">
                <a:solidFill>
                  <a:srgbClr val="059669"/>
                </a:solidFill>
              </a:rPr>
              <a:t>HNSW: Graph Index</a:t>
            </a:r>
            <a:endParaRPr lang="en-US" sz="1250" dirty="0"/>
          </a:p>
        </p:txBody>
      </p:sp>
      <p:sp>
        <p:nvSpPr>
          <p:cNvPr id="6" name="Shape 4"/>
          <p:cNvSpPr/>
          <p:nvPr/>
        </p:nvSpPr>
        <p:spPr>
          <a:xfrm>
            <a:off x="1005840" y="1965960"/>
            <a:ext cx="530352" cy="1417320"/>
          </a:xfrm>
          <a:prstGeom prst="rect">
            <a:avLst/>
          </a:prstGeom>
          <a:solidFill>
            <a:srgbClr val="EFF6FF"/>
          </a:solidFill>
          <a:ln w="10160">
            <a:solidFill>
              <a:srgbClr val="2563EB"/>
            </a:solidFill>
            <a:prstDash val="solid"/>
          </a:ln>
        </p:spPr>
      </p:sp>
      <p:sp>
        <p:nvSpPr>
          <p:cNvPr id="7" name="Text 5"/>
          <p:cNvSpPr/>
          <p:nvPr/>
        </p:nvSpPr>
        <p:spPr>
          <a:xfrm>
            <a:off x="1097280" y="3520440"/>
            <a:ext cx="365760" cy="164592"/>
          </a:xfrm>
          <a:prstGeom prst="rect">
            <a:avLst/>
          </a:prstGeom>
          <a:noFill/>
          <a:ln/>
        </p:spPr>
        <p:txBody>
          <a:bodyPr wrap="square" lIns="381" tIns="381" rIns="381" bIns="381" rtlCol="0" anchor="ctr">
            <a:normAutofit/>
          </a:bodyPr>
          <a:lstStyle/>
          <a:p>
            <a:pPr algn="ctr" indent="0" marL="0">
              <a:buNone/>
            </a:pPr>
            <a:r>
              <a:rPr lang="en-US" sz="750" dirty="0">
                <a:solidFill>
                  <a:srgbClr val="2563EB"/>
                </a:solidFill>
              </a:rPr>
              <a:t>C1</a:t>
            </a:r>
            <a:endParaRPr lang="en-US" sz="750" dirty="0"/>
          </a:p>
        </p:txBody>
      </p:sp>
      <p:sp>
        <p:nvSpPr>
          <p:cNvPr id="8" name="Shape 6"/>
          <p:cNvSpPr/>
          <p:nvPr/>
        </p:nvSpPr>
        <p:spPr>
          <a:xfrm>
            <a:off x="1828800" y="1965960"/>
            <a:ext cx="530352" cy="1417320"/>
          </a:xfrm>
          <a:prstGeom prst="rect">
            <a:avLst/>
          </a:prstGeom>
          <a:solidFill>
            <a:srgbClr val="DBEAFE"/>
          </a:solidFill>
          <a:ln w="10160">
            <a:solidFill>
              <a:srgbClr val="2563EB"/>
            </a:solidFill>
            <a:prstDash val="solid"/>
          </a:ln>
        </p:spPr>
      </p:sp>
      <p:sp>
        <p:nvSpPr>
          <p:cNvPr id="9" name="Text 7"/>
          <p:cNvSpPr/>
          <p:nvPr/>
        </p:nvSpPr>
        <p:spPr>
          <a:xfrm>
            <a:off x="1920240" y="3520440"/>
            <a:ext cx="365760" cy="164592"/>
          </a:xfrm>
          <a:prstGeom prst="rect">
            <a:avLst/>
          </a:prstGeom>
          <a:noFill/>
          <a:ln/>
        </p:spPr>
        <p:txBody>
          <a:bodyPr wrap="square" lIns="381" tIns="381" rIns="381" bIns="381" rtlCol="0" anchor="ctr">
            <a:normAutofit/>
          </a:bodyPr>
          <a:lstStyle/>
          <a:p>
            <a:pPr algn="ctr" indent="0" marL="0">
              <a:buNone/>
            </a:pPr>
            <a:r>
              <a:rPr lang="en-US" sz="750" dirty="0">
                <a:solidFill>
                  <a:srgbClr val="2563EB"/>
                </a:solidFill>
              </a:rPr>
              <a:t>C2</a:t>
            </a:r>
            <a:endParaRPr lang="en-US" sz="750" dirty="0"/>
          </a:p>
        </p:txBody>
      </p:sp>
      <p:sp>
        <p:nvSpPr>
          <p:cNvPr id="10" name="Shape 8"/>
          <p:cNvSpPr/>
          <p:nvPr/>
        </p:nvSpPr>
        <p:spPr>
          <a:xfrm>
            <a:off x="2651760" y="1965960"/>
            <a:ext cx="530352" cy="1417320"/>
          </a:xfrm>
          <a:prstGeom prst="rect">
            <a:avLst/>
          </a:prstGeom>
          <a:solidFill>
            <a:srgbClr val="EFF6FF"/>
          </a:solidFill>
          <a:ln w="10160">
            <a:solidFill>
              <a:srgbClr val="2563EB"/>
            </a:solidFill>
            <a:prstDash val="solid"/>
          </a:ln>
        </p:spPr>
      </p:sp>
      <p:sp>
        <p:nvSpPr>
          <p:cNvPr id="11" name="Text 9"/>
          <p:cNvSpPr/>
          <p:nvPr/>
        </p:nvSpPr>
        <p:spPr>
          <a:xfrm>
            <a:off x="2743200" y="3520440"/>
            <a:ext cx="365760" cy="164592"/>
          </a:xfrm>
          <a:prstGeom prst="rect">
            <a:avLst/>
          </a:prstGeom>
          <a:noFill/>
          <a:ln/>
        </p:spPr>
        <p:txBody>
          <a:bodyPr wrap="square" lIns="381" tIns="381" rIns="381" bIns="381" rtlCol="0" anchor="ctr">
            <a:normAutofit/>
          </a:bodyPr>
          <a:lstStyle/>
          <a:p>
            <a:pPr algn="ctr" indent="0" marL="0">
              <a:buNone/>
            </a:pPr>
            <a:r>
              <a:rPr lang="en-US" sz="750" dirty="0">
                <a:solidFill>
                  <a:srgbClr val="2563EB"/>
                </a:solidFill>
              </a:rPr>
              <a:t>C3</a:t>
            </a:r>
            <a:endParaRPr lang="en-US" sz="750" dirty="0"/>
          </a:p>
        </p:txBody>
      </p:sp>
      <p:sp>
        <p:nvSpPr>
          <p:cNvPr id="12" name="Shape 10"/>
          <p:cNvSpPr/>
          <p:nvPr/>
        </p:nvSpPr>
        <p:spPr>
          <a:xfrm>
            <a:off x="3474720" y="1965960"/>
            <a:ext cx="530352" cy="1417320"/>
          </a:xfrm>
          <a:prstGeom prst="rect">
            <a:avLst/>
          </a:prstGeom>
          <a:solidFill>
            <a:srgbClr val="DBEAFE"/>
          </a:solidFill>
          <a:ln w="10160">
            <a:solidFill>
              <a:srgbClr val="2563EB"/>
            </a:solidFill>
            <a:prstDash val="solid"/>
          </a:ln>
        </p:spPr>
      </p:sp>
      <p:sp>
        <p:nvSpPr>
          <p:cNvPr id="13" name="Text 11"/>
          <p:cNvSpPr/>
          <p:nvPr/>
        </p:nvSpPr>
        <p:spPr>
          <a:xfrm>
            <a:off x="3566160" y="3520440"/>
            <a:ext cx="365760" cy="164592"/>
          </a:xfrm>
          <a:prstGeom prst="rect">
            <a:avLst/>
          </a:prstGeom>
          <a:noFill/>
          <a:ln/>
        </p:spPr>
        <p:txBody>
          <a:bodyPr wrap="square" lIns="381" tIns="381" rIns="381" bIns="381" rtlCol="0" anchor="ctr">
            <a:normAutofit/>
          </a:bodyPr>
          <a:lstStyle/>
          <a:p>
            <a:pPr algn="ctr" indent="0" marL="0">
              <a:buNone/>
            </a:pPr>
            <a:r>
              <a:rPr lang="en-US" sz="750" dirty="0">
                <a:solidFill>
                  <a:srgbClr val="2563EB"/>
                </a:solidFill>
              </a:rPr>
              <a:t>C4</a:t>
            </a:r>
            <a:endParaRPr lang="en-US" sz="750" dirty="0"/>
          </a:p>
        </p:txBody>
      </p:sp>
      <p:sp>
        <p:nvSpPr>
          <p:cNvPr id="14" name="Shape 12"/>
          <p:cNvSpPr/>
          <p:nvPr/>
        </p:nvSpPr>
        <p:spPr>
          <a:xfrm>
            <a:off x="4297680" y="1965960"/>
            <a:ext cx="530352" cy="1417320"/>
          </a:xfrm>
          <a:prstGeom prst="rect">
            <a:avLst/>
          </a:prstGeom>
          <a:solidFill>
            <a:srgbClr val="EFF6FF"/>
          </a:solidFill>
          <a:ln w="10160">
            <a:solidFill>
              <a:srgbClr val="2563EB"/>
            </a:solidFill>
            <a:prstDash val="solid"/>
          </a:ln>
        </p:spPr>
      </p:sp>
      <p:sp>
        <p:nvSpPr>
          <p:cNvPr id="15" name="Text 13"/>
          <p:cNvSpPr/>
          <p:nvPr/>
        </p:nvSpPr>
        <p:spPr>
          <a:xfrm>
            <a:off x="4389120" y="3520440"/>
            <a:ext cx="365760" cy="164592"/>
          </a:xfrm>
          <a:prstGeom prst="rect">
            <a:avLst/>
          </a:prstGeom>
          <a:noFill/>
          <a:ln/>
        </p:spPr>
        <p:txBody>
          <a:bodyPr wrap="square" lIns="381" tIns="381" rIns="381" bIns="381" rtlCol="0" anchor="ctr">
            <a:normAutofit/>
          </a:bodyPr>
          <a:lstStyle/>
          <a:p>
            <a:pPr algn="ctr" indent="0" marL="0">
              <a:buNone/>
            </a:pPr>
            <a:r>
              <a:rPr lang="en-US" sz="750" dirty="0">
                <a:solidFill>
                  <a:srgbClr val="2563EB"/>
                </a:solidFill>
              </a:rPr>
              <a:t>C5</a:t>
            </a:r>
            <a:endParaRPr lang="en-US" sz="750" dirty="0"/>
          </a:p>
        </p:txBody>
      </p:sp>
      <p:sp>
        <p:nvSpPr>
          <p:cNvPr id="16" name="Text 14"/>
          <p:cNvSpPr/>
          <p:nvPr/>
        </p:nvSpPr>
        <p:spPr>
          <a:xfrm>
            <a:off x="1143000" y="4069080"/>
            <a:ext cx="3840480" cy="502920"/>
          </a:xfrm>
          <a:prstGeom prst="rect">
            <a:avLst/>
          </a:prstGeom>
          <a:noFill/>
          <a:ln/>
        </p:spPr>
        <p:txBody>
          <a:bodyPr wrap="square" lIns="254" tIns="254" rIns="254" bIns="254" rtlCol="0" anchor="ctr"/>
          <a:lstStyle/>
          <a:p>
            <a:pPr algn="ctr" indent="0" marL="0">
              <a:buNone/>
            </a:pPr>
            <a:r>
              <a:rPr lang="en-US" sz="1400" b="1" dirty="0">
                <a:solidFill>
                  <a:srgbClr val="111827"/>
                </a:solidFill>
              </a:rPr>
              <a:t>1) cluster vectors</a:t>
            </a:r>
            <a:endParaRPr lang="en-US" sz="1400" dirty="0"/>
          </a:p>
          <a:p>
            <a:pPr algn="ctr" indent="0" marL="0">
              <a:buNone/>
            </a:pPr>
            <a:r>
              <a:rPr lang="en-US" sz="1400" b="1" dirty="0">
                <a:solidFill>
                  <a:srgbClr val="111827"/>
                </a:solidFill>
              </a:rPr>
              <a:t>2) search selected clusters</a:t>
            </a:r>
            <a:endParaRPr lang="en-US" sz="1400" dirty="0"/>
          </a:p>
        </p:txBody>
      </p:sp>
      <p:sp>
        <p:nvSpPr>
          <p:cNvPr id="17" name="Shape 15"/>
          <p:cNvSpPr/>
          <p:nvPr/>
        </p:nvSpPr>
        <p:spPr>
          <a:xfrm>
            <a:off x="6995160" y="2331720"/>
            <a:ext cx="822960" cy="-320040"/>
          </a:xfrm>
          <a:prstGeom prst="line">
            <a:avLst/>
          </a:prstGeom>
          <a:solidFill>
            <a:srgbClr val="FFFFFF">
              <a:alpha val="0"/>
            </a:srgbClr>
          </a:solidFill>
          <a:ln w="10160">
            <a:solidFill>
              <a:srgbClr val="059669"/>
            </a:solidFill>
            <a:prstDash val="solid"/>
            <a:headEnd type="none"/>
            <a:tailEnd type="none"/>
          </a:ln>
        </p:spPr>
      </p:sp>
      <p:sp>
        <p:nvSpPr>
          <p:cNvPr id="18" name="Shape 16"/>
          <p:cNvSpPr/>
          <p:nvPr/>
        </p:nvSpPr>
        <p:spPr>
          <a:xfrm>
            <a:off x="7818120" y="2011680"/>
            <a:ext cx="868680" cy="365760"/>
          </a:xfrm>
          <a:prstGeom prst="line">
            <a:avLst/>
          </a:prstGeom>
          <a:solidFill>
            <a:srgbClr val="FFFFFF">
              <a:alpha val="0"/>
            </a:srgbClr>
          </a:solidFill>
          <a:ln w="10160">
            <a:solidFill>
              <a:srgbClr val="059669"/>
            </a:solidFill>
            <a:prstDash val="solid"/>
            <a:headEnd type="none"/>
            <a:tailEnd type="none"/>
          </a:ln>
        </p:spPr>
      </p:sp>
      <p:sp>
        <p:nvSpPr>
          <p:cNvPr id="19" name="Shape 17"/>
          <p:cNvSpPr/>
          <p:nvPr/>
        </p:nvSpPr>
        <p:spPr>
          <a:xfrm>
            <a:off x="8686800" y="2377440"/>
            <a:ext cx="731520" cy="-411480"/>
          </a:xfrm>
          <a:prstGeom prst="line">
            <a:avLst/>
          </a:prstGeom>
          <a:solidFill>
            <a:srgbClr val="FFFFFF">
              <a:alpha val="0"/>
            </a:srgbClr>
          </a:solidFill>
          <a:ln w="10160">
            <a:solidFill>
              <a:srgbClr val="059669"/>
            </a:solidFill>
            <a:prstDash val="solid"/>
            <a:headEnd type="none"/>
            <a:tailEnd type="none"/>
          </a:ln>
        </p:spPr>
      </p:sp>
      <p:sp>
        <p:nvSpPr>
          <p:cNvPr id="20" name="Shape 18"/>
          <p:cNvSpPr/>
          <p:nvPr/>
        </p:nvSpPr>
        <p:spPr>
          <a:xfrm>
            <a:off x="9418320" y="1965960"/>
            <a:ext cx="685800" cy="594360"/>
          </a:xfrm>
          <a:prstGeom prst="line">
            <a:avLst/>
          </a:prstGeom>
          <a:solidFill>
            <a:srgbClr val="FFFFFF">
              <a:alpha val="0"/>
            </a:srgbClr>
          </a:solidFill>
          <a:ln w="10160">
            <a:solidFill>
              <a:srgbClr val="059669"/>
            </a:solidFill>
            <a:prstDash val="solid"/>
            <a:headEnd type="none"/>
            <a:tailEnd type="none"/>
          </a:ln>
        </p:spPr>
      </p:sp>
      <p:sp>
        <p:nvSpPr>
          <p:cNvPr id="21" name="Shape 19"/>
          <p:cNvSpPr/>
          <p:nvPr/>
        </p:nvSpPr>
        <p:spPr>
          <a:xfrm>
            <a:off x="10104120" y="2560320"/>
            <a:ext cx="-2606040" cy="640080"/>
          </a:xfrm>
          <a:prstGeom prst="line">
            <a:avLst/>
          </a:prstGeom>
          <a:solidFill>
            <a:srgbClr val="FFFFFF">
              <a:alpha val="0"/>
            </a:srgbClr>
          </a:solidFill>
          <a:ln w="10160">
            <a:solidFill>
              <a:srgbClr val="059669"/>
            </a:solidFill>
            <a:prstDash val="solid"/>
            <a:headEnd type="none"/>
            <a:tailEnd type="none"/>
          </a:ln>
        </p:spPr>
      </p:sp>
      <p:sp>
        <p:nvSpPr>
          <p:cNvPr id="22" name="Shape 20"/>
          <p:cNvSpPr/>
          <p:nvPr/>
        </p:nvSpPr>
        <p:spPr>
          <a:xfrm>
            <a:off x="7498080" y="3200400"/>
            <a:ext cx="1051560" cy="-45720"/>
          </a:xfrm>
          <a:prstGeom prst="line">
            <a:avLst/>
          </a:prstGeom>
          <a:solidFill>
            <a:srgbClr val="FFFFFF">
              <a:alpha val="0"/>
            </a:srgbClr>
          </a:solidFill>
          <a:ln w="10160">
            <a:solidFill>
              <a:srgbClr val="059669"/>
            </a:solidFill>
            <a:prstDash val="solid"/>
            <a:headEnd type="none"/>
            <a:tailEnd type="none"/>
          </a:ln>
        </p:spPr>
      </p:sp>
      <p:sp>
        <p:nvSpPr>
          <p:cNvPr id="23" name="Shape 21"/>
          <p:cNvSpPr/>
          <p:nvPr/>
        </p:nvSpPr>
        <p:spPr>
          <a:xfrm>
            <a:off x="8549640" y="3154680"/>
            <a:ext cx="960120" cy="137160"/>
          </a:xfrm>
          <a:prstGeom prst="line">
            <a:avLst/>
          </a:prstGeom>
          <a:solidFill>
            <a:srgbClr val="FFFFFF">
              <a:alpha val="0"/>
            </a:srgbClr>
          </a:solidFill>
          <a:ln w="10160">
            <a:solidFill>
              <a:srgbClr val="059669"/>
            </a:solidFill>
            <a:prstDash val="solid"/>
            <a:headEnd type="none"/>
            <a:tailEnd type="none"/>
          </a:ln>
        </p:spPr>
      </p:sp>
      <p:sp>
        <p:nvSpPr>
          <p:cNvPr id="24" name="Shape 22"/>
          <p:cNvSpPr/>
          <p:nvPr/>
        </p:nvSpPr>
        <p:spPr>
          <a:xfrm>
            <a:off x="6858000" y="2194560"/>
            <a:ext cx="274320" cy="274320"/>
          </a:xfrm>
          <a:prstGeom prst="ellipse">
            <a:avLst/>
          </a:prstGeom>
          <a:solidFill>
            <a:srgbClr val="D1FAE5"/>
          </a:solidFill>
          <a:ln w="12700">
            <a:solidFill>
              <a:srgbClr val="059669"/>
            </a:solidFill>
            <a:prstDash val="solid"/>
          </a:ln>
        </p:spPr>
      </p:sp>
      <p:sp>
        <p:nvSpPr>
          <p:cNvPr id="25" name="Shape 23"/>
          <p:cNvSpPr/>
          <p:nvPr/>
        </p:nvSpPr>
        <p:spPr>
          <a:xfrm>
            <a:off x="7680960" y="1874520"/>
            <a:ext cx="274320" cy="274320"/>
          </a:xfrm>
          <a:prstGeom prst="ellipse">
            <a:avLst/>
          </a:prstGeom>
          <a:solidFill>
            <a:srgbClr val="D1FAE5"/>
          </a:solidFill>
          <a:ln w="12700">
            <a:solidFill>
              <a:srgbClr val="059669"/>
            </a:solidFill>
            <a:prstDash val="solid"/>
          </a:ln>
        </p:spPr>
      </p:sp>
      <p:sp>
        <p:nvSpPr>
          <p:cNvPr id="26" name="Shape 24"/>
          <p:cNvSpPr/>
          <p:nvPr/>
        </p:nvSpPr>
        <p:spPr>
          <a:xfrm>
            <a:off x="8549640" y="2240280"/>
            <a:ext cx="274320" cy="274320"/>
          </a:xfrm>
          <a:prstGeom prst="ellipse">
            <a:avLst/>
          </a:prstGeom>
          <a:solidFill>
            <a:srgbClr val="D1FAE5"/>
          </a:solidFill>
          <a:ln w="12700">
            <a:solidFill>
              <a:srgbClr val="059669"/>
            </a:solidFill>
            <a:prstDash val="solid"/>
          </a:ln>
        </p:spPr>
      </p:sp>
      <p:sp>
        <p:nvSpPr>
          <p:cNvPr id="27" name="Shape 25"/>
          <p:cNvSpPr/>
          <p:nvPr/>
        </p:nvSpPr>
        <p:spPr>
          <a:xfrm>
            <a:off x="9281160" y="1828800"/>
            <a:ext cx="274320" cy="274320"/>
          </a:xfrm>
          <a:prstGeom prst="ellipse">
            <a:avLst/>
          </a:prstGeom>
          <a:solidFill>
            <a:srgbClr val="D1FAE5"/>
          </a:solidFill>
          <a:ln w="12700">
            <a:solidFill>
              <a:srgbClr val="059669"/>
            </a:solidFill>
            <a:prstDash val="solid"/>
          </a:ln>
        </p:spPr>
      </p:sp>
      <p:sp>
        <p:nvSpPr>
          <p:cNvPr id="28" name="Shape 26"/>
          <p:cNvSpPr/>
          <p:nvPr/>
        </p:nvSpPr>
        <p:spPr>
          <a:xfrm>
            <a:off x="9966960" y="2423160"/>
            <a:ext cx="274320" cy="274320"/>
          </a:xfrm>
          <a:prstGeom prst="ellipse">
            <a:avLst/>
          </a:prstGeom>
          <a:solidFill>
            <a:srgbClr val="D1FAE5"/>
          </a:solidFill>
          <a:ln w="12700">
            <a:solidFill>
              <a:srgbClr val="059669"/>
            </a:solidFill>
            <a:prstDash val="solid"/>
          </a:ln>
        </p:spPr>
      </p:sp>
      <p:sp>
        <p:nvSpPr>
          <p:cNvPr id="29" name="Shape 27"/>
          <p:cNvSpPr/>
          <p:nvPr/>
        </p:nvSpPr>
        <p:spPr>
          <a:xfrm>
            <a:off x="7360920" y="3063240"/>
            <a:ext cx="274320" cy="274320"/>
          </a:xfrm>
          <a:prstGeom prst="ellipse">
            <a:avLst/>
          </a:prstGeom>
          <a:solidFill>
            <a:srgbClr val="D1FAE5"/>
          </a:solidFill>
          <a:ln w="12700">
            <a:solidFill>
              <a:srgbClr val="059669"/>
            </a:solidFill>
            <a:prstDash val="solid"/>
          </a:ln>
        </p:spPr>
      </p:sp>
      <p:sp>
        <p:nvSpPr>
          <p:cNvPr id="30" name="Shape 28"/>
          <p:cNvSpPr/>
          <p:nvPr/>
        </p:nvSpPr>
        <p:spPr>
          <a:xfrm>
            <a:off x="8412480" y="3017520"/>
            <a:ext cx="274320" cy="274320"/>
          </a:xfrm>
          <a:prstGeom prst="ellipse">
            <a:avLst/>
          </a:prstGeom>
          <a:solidFill>
            <a:srgbClr val="D1FAE5"/>
          </a:solidFill>
          <a:ln w="12700">
            <a:solidFill>
              <a:srgbClr val="059669"/>
            </a:solidFill>
            <a:prstDash val="solid"/>
          </a:ln>
        </p:spPr>
      </p:sp>
      <p:sp>
        <p:nvSpPr>
          <p:cNvPr id="31" name="Shape 29"/>
          <p:cNvSpPr/>
          <p:nvPr/>
        </p:nvSpPr>
        <p:spPr>
          <a:xfrm>
            <a:off x="9372600" y="3154680"/>
            <a:ext cx="274320" cy="274320"/>
          </a:xfrm>
          <a:prstGeom prst="ellipse">
            <a:avLst/>
          </a:prstGeom>
          <a:solidFill>
            <a:srgbClr val="D1FAE5"/>
          </a:solidFill>
          <a:ln w="12700">
            <a:solidFill>
              <a:srgbClr val="059669"/>
            </a:solidFill>
            <a:prstDash val="solid"/>
          </a:ln>
        </p:spPr>
      </p:sp>
      <p:sp>
        <p:nvSpPr>
          <p:cNvPr id="32" name="Text 30"/>
          <p:cNvSpPr/>
          <p:nvPr/>
        </p:nvSpPr>
        <p:spPr>
          <a:xfrm>
            <a:off x="6949440" y="4069080"/>
            <a:ext cx="3840480" cy="502920"/>
          </a:xfrm>
          <a:prstGeom prst="rect">
            <a:avLst/>
          </a:prstGeom>
          <a:noFill/>
          <a:ln/>
        </p:spPr>
        <p:txBody>
          <a:bodyPr wrap="square" lIns="254" tIns="254" rIns="254" bIns="254" rtlCol="0" anchor="ctr"/>
          <a:lstStyle/>
          <a:p>
            <a:pPr algn="ctr" indent="0" marL="0">
              <a:buNone/>
            </a:pPr>
            <a:r>
              <a:rPr lang="en-US" sz="1400" b="1" dirty="0">
                <a:solidFill>
                  <a:srgbClr val="111827"/>
                </a:solidFill>
              </a:rPr>
              <a:t>connect neighbors</a:t>
            </a:r>
            <a:endParaRPr lang="en-US" sz="1400" dirty="0"/>
          </a:p>
          <a:p>
            <a:pPr algn="ctr" indent="0" marL="0">
              <a:buNone/>
            </a:pPr>
            <a:r>
              <a:rPr lang="en-US" sz="1400" b="1" dirty="0">
                <a:solidFill>
                  <a:srgbClr val="111827"/>
                </a:solidFill>
              </a:rPr>
              <a:t>then greedily navigate</a:t>
            </a:r>
            <a:endParaRPr lang="en-US" sz="1400" dirty="0"/>
          </a:p>
        </p:txBody>
      </p:sp>
      <p:sp>
        <p:nvSpPr>
          <p:cNvPr id="33" name="Text 31"/>
          <p:cNvSpPr/>
          <p:nvPr/>
        </p:nvSpPr>
        <p:spPr>
          <a:xfrm>
            <a:off x="914400" y="5074920"/>
            <a:ext cx="10241280" cy="777240"/>
          </a:xfrm>
          <a:prstGeom prst="rect">
            <a:avLst/>
          </a:prstGeom>
          <a:noFill/>
          <a:ln/>
        </p:spPr>
        <p:txBody>
          <a:bodyPr wrap="square" lIns="508" tIns="508" rIns="508" bIns="508" rtlCol="0" anchor="t">
            <a:normAutofit/>
          </a:bodyPr>
          <a:lstStyle/>
          <a:p>
            <a:r>
              <a:rPr lang="en-US" sz="1290" dirty="0">
                <a:solidFill>
                  <a:srgbClr val="111827"/>
                </a:solidFill>
              </a:rPr>
              <a:t>IVF: often memory-efficient; tune number of clusters searched for recall/latency.
</a:t>
            </a:r>
            <a:endParaRPr lang="en-US" sz="1290" dirty="0"/>
          </a:p>
          <a:p>
            <a:r>
              <a:rPr lang="en-US" sz="1290" dirty="0">
                <a:solidFill>
                  <a:srgbClr val="111827"/>
                </a:solidFill>
              </a:rPr>
              <a:t>HNSW: strong recall/latency in many workloads; memory can be higher due to graph links.
</a:t>
            </a:r>
            <a:endParaRPr lang="en-US" sz="1290" dirty="0"/>
          </a:p>
          <a:p>
            <a:r>
              <a:rPr lang="en-US" sz="1290" dirty="0">
                <a:solidFill>
                  <a:srgbClr val="111827"/>
                </a:solidFill>
              </a:rPr>
              <a:t>Many production systems combine families with quantization or filtering strategies.</a:t>
            </a:r>
            <a:endParaRPr lang="en-US" sz="129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How a vector DB index is created</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Indexing turns raw objects into searchable vector records.</a:t>
            </a:r>
            <a:endParaRPr lang="en-US" sz="1150" dirty="0"/>
          </a:p>
        </p:txBody>
      </p:sp>
      <p:sp>
        <p:nvSpPr>
          <p:cNvPr id="4" name="Text 2"/>
          <p:cNvSpPr/>
          <p:nvPr/>
        </p:nvSpPr>
        <p:spPr>
          <a:xfrm>
            <a:off x="685800" y="2057400"/>
            <a:ext cx="1417320" cy="713232"/>
          </a:xfrm>
          <a:prstGeom prst="rect">
            <a:avLst/>
          </a:prstGeom>
          <a:solidFill>
            <a:srgbClr val="DBEAFE"/>
          </a:solidFill>
          <a:ln w="13970">
            <a:solidFill>
              <a:srgbClr val="2563EB"/>
            </a:solidFill>
          </a:ln>
        </p:spPr>
        <p:txBody>
          <a:bodyPr wrap="square" lIns="1016" tIns="1016" rIns="1016" bIns="1016" rtlCol="0" anchor="ctr">
            <a:normAutofit/>
          </a:bodyPr>
          <a:lstStyle/>
          <a:p>
            <a:pPr algn="ctr" indent="0" marL="0">
              <a:buNone/>
            </a:pPr>
            <a:r>
              <a:rPr lang="en-US" sz="1120" b="1" dirty="0">
                <a:solidFill>
                  <a:srgbClr val="111827"/>
                </a:solidFill>
              </a:rPr>
              <a:t>1</a:t>
            </a:r>
            <a:endParaRPr lang="en-US" sz="1120" dirty="0"/>
          </a:p>
          <a:p>
            <a:pPr algn="ctr" indent="0" marL="0">
              <a:buNone/>
            </a:pPr>
            <a:r>
              <a:rPr lang="en-US" sz="1120" b="1" dirty="0">
                <a:solidFill>
                  <a:srgbClr val="111827"/>
                </a:solidFill>
              </a:rPr>
              <a:t>Collect data</a:t>
            </a:r>
            <a:endParaRPr lang="en-US" sz="1120" dirty="0"/>
          </a:p>
        </p:txBody>
      </p:sp>
      <p:sp>
        <p:nvSpPr>
          <p:cNvPr id="5" name="Shape 3"/>
          <p:cNvSpPr/>
          <p:nvPr/>
        </p:nvSpPr>
        <p:spPr>
          <a:xfrm>
            <a:off x="2194560" y="2414016"/>
            <a:ext cx="292608" cy="0"/>
          </a:xfrm>
          <a:prstGeom prst="line">
            <a:avLst/>
          </a:prstGeom>
          <a:solidFill>
            <a:srgbClr val="FFFFFF">
              <a:alpha val="0"/>
            </a:srgbClr>
          </a:solidFill>
          <a:ln w="12700">
            <a:solidFill>
              <a:srgbClr val="CBD5E1"/>
            </a:solidFill>
            <a:prstDash val="solid"/>
            <a:headEnd type="none"/>
            <a:tailEnd type="triangle"/>
          </a:ln>
        </p:spPr>
      </p:sp>
      <p:sp>
        <p:nvSpPr>
          <p:cNvPr id="6" name="Text 4"/>
          <p:cNvSpPr/>
          <p:nvPr/>
        </p:nvSpPr>
        <p:spPr>
          <a:xfrm>
            <a:off x="2560320" y="2057400"/>
            <a:ext cx="1417320" cy="713232"/>
          </a:xfrm>
          <a:prstGeom prst="rect">
            <a:avLst/>
          </a:prstGeom>
          <a:solidFill>
            <a:srgbClr val="CFFAFE"/>
          </a:solidFill>
          <a:ln w="13970">
            <a:solidFill>
              <a:srgbClr val="0891B2"/>
            </a:solidFill>
          </a:ln>
        </p:spPr>
        <p:txBody>
          <a:bodyPr wrap="square" lIns="1016" tIns="1016" rIns="1016" bIns="1016" rtlCol="0" anchor="ctr">
            <a:normAutofit/>
          </a:bodyPr>
          <a:lstStyle/>
          <a:p>
            <a:pPr algn="ctr" indent="0" marL="0">
              <a:buNone/>
            </a:pPr>
            <a:r>
              <a:rPr lang="en-US" sz="1120" b="1" dirty="0">
                <a:solidFill>
                  <a:srgbClr val="111827"/>
                </a:solidFill>
              </a:rPr>
              <a:t>2</a:t>
            </a:r>
            <a:endParaRPr lang="en-US" sz="1120" dirty="0"/>
          </a:p>
          <a:p>
            <a:pPr algn="ctr" indent="0" marL="0">
              <a:buNone/>
            </a:pPr>
            <a:r>
              <a:rPr lang="en-US" sz="1120" b="1" dirty="0">
                <a:solidFill>
                  <a:srgbClr val="111827"/>
                </a:solidFill>
              </a:rPr>
              <a:t>Clean &amp; chunk</a:t>
            </a:r>
            <a:endParaRPr lang="en-US" sz="1120" dirty="0"/>
          </a:p>
        </p:txBody>
      </p:sp>
      <p:sp>
        <p:nvSpPr>
          <p:cNvPr id="7" name="Shape 5"/>
          <p:cNvSpPr/>
          <p:nvPr/>
        </p:nvSpPr>
        <p:spPr>
          <a:xfrm>
            <a:off x="4069080" y="2414016"/>
            <a:ext cx="292608" cy="0"/>
          </a:xfrm>
          <a:prstGeom prst="line">
            <a:avLst/>
          </a:prstGeom>
          <a:solidFill>
            <a:srgbClr val="FFFFFF">
              <a:alpha val="0"/>
            </a:srgbClr>
          </a:solidFill>
          <a:ln w="12700">
            <a:solidFill>
              <a:srgbClr val="CBD5E1"/>
            </a:solidFill>
            <a:prstDash val="solid"/>
            <a:headEnd type="none"/>
            <a:tailEnd type="triangle"/>
          </a:ln>
        </p:spPr>
      </p:sp>
      <p:sp>
        <p:nvSpPr>
          <p:cNvPr id="8" name="Text 6"/>
          <p:cNvSpPr/>
          <p:nvPr/>
        </p:nvSpPr>
        <p:spPr>
          <a:xfrm>
            <a:off x="4434840" y="2057400"/>
            <a:ext cx="1417320" cy="713232"/>
          </a:xfrm>
          <a:prstGeom prst="rect">
            <a:avLst/>
          </a:prstGeom>
          <a:solidFill>
            <a:srgbClr val="EDE9FE"/>
          </a:solidFill>
          <a:ln w="13970">
            <a:solidFill>
              <a:srgbClr val="7C3AED"/>
            </a:solidFill>
          </a:ln>
        </p:spPr>
        <p:txBody>
          <a:bodyPr wrap="square" lIns="1016" tIns="1016" rIns="1016" bIns="1016" rtlCol="0" anchor="ctr">
            <a:normAutofit/>
          </a:bodyPr>
          <a:lstStyle/>
          <a:p>
            <a:pPr algn="ctr" indent="0" marL="0">
              <a:buNone/>
            </a:pPr>
            <a:r>
              <a:rPr lang="en-US" sz="1120" b="1" dirty="0">
                <a:solidFill>
                  <a:srgbClr val="111827"/>
                </a:solidFill>
              </a:rPr>
              <a:t>3</a:t>
            </a:r>
            <a:endParaRPr lang="en-US" sz="1120" dirty="0"/>
          </a:p>
          <a:p>
            <a:pPr algn="ctr" indent="0" marL="0">
              <a:buNone/>
            </a:pPr>
            <a:r>
              <a:rPr lang="en-US" sz="1120" b="1" dirty="0">
                <a:solidFill>
                  <a:srgbClr val="111827"/>
                </a:solidFill>
              </a:rPr>
              <a:t>Create embeddings</a:t>
            </a:r>
            <a:endParaRPr lang="en-US" sz="1120" dirty="0"/>
          </a:p>
        </p:txBody>
      </p:sp>
      <p:sp>
        <p:nvSpPr>
          <p:cNvPr id="9" name="Shape 7"/>
          <p:cNvSpPr/>
          <p:nvPr/>
        </p:nvSpPr>
        <p:spPr>
          <a:xfrm>
            <a:off x="5943600" y="2414016"/>
            <a:ext cx="292608" cy="0"/>
          </a:xfrm>
          <a:prstGeom prst="line">
            <a:avLst/>
          </a:prstGeom>
          <a:solidFill>
            <a:srgbClr val="FFFFFF">
              <a:alpha val="0"/>
            </a:srgbClr>
          </a:solidFill>
          <a:ln w="12700">
            <a:solidFill>
              <a:srgbClr val="CBD5E1"/>
            </a:solidFill>
            <a:prstDash val="solid"/>
            <a:headEnd type="none"/>
            <a:tailEnd type="triangle"/>
          </a:ln>
        </p:spPr>
      </p:sp>
      <p:sp>
        <p:nvSpPr>
          <p:cNvPr id="10" name="Text 8"/>
          <p:cNvSpPr/>
          <p:nvPr/>
        </p:nvSpPr>
        <p:spPr>
          <a:xfrm>
            <a:off x="6309360" y="2057400"/>
            <a:ext cx="1417320" cy="713232"/>
          </a:xfrm>
          <a:prstGeom prst="rect">
            <a:avLst/>
          </a:prstGeom>
          <a:solidFill>
            <a:srgbClr val="D1FAE5"/>
          </a:solidFill>
          <a:ln w="13970">
            <a:solidFill>
              <a:srgbClr val="059669"/>
            </a:solidFill>
          </a:ln>
        </p:spPr>
        <p:txBody>
          <a:bodyPr wrap="square" lIns="1016" tIns="1016" rIns="1016" bIns="1016" rtlCol="0" anchor="ctr">
            <a:normAutofit/>
          </a:bodyPr>
          <a:lstStyle/>
          <a:p>
            <a:pPr algn="ctr" indent="0" marL="0">
              <a:buNone/>
            </a:pPr>
            <a:r>
              <a:rPr lang="en-US" sz="1120" b="1" dirty="0">
                <a:solidFill>
                  <a:srgbClr val="111827"/>
                </a:solidFill>
              </a:rPr>
              <a:t>4</a:t>
            </a:r>
            <a:endParaRPr lang="en-US" sz="1120" dirty="0"/>
          </a:p>
          <a:p>
            <a:pPr algn="ctr" indent="0" marL="0">
              <a:buNone/>
            </a:pPr>
            <a:r>
              <a:rPr lang="en-US" sz="1120" b="1" dirty="0">
                <a:solidFill>
                  <a:srgbClr val="111827"/>
                </a:solidFill>
              </a:rPr>
              <a:t>Store vector + metadata</a:t>
            </a:r>
            <a:endParaRPr lang="en-US" sz="1120" dirty="0"/>
          </a:p>
        </p:txBody>
      </p:sp>
      <p:sp>
        <p:nvSpPr>
          <p:cNvPr id="11" name="Shape 9"/>
          <p:cNvSpPr/>
          <p:nvPr/>
        </p:nvSpPr>
        <p:spPr>
          <a:xfrm>
            <a:off x="7818120" y="2414016"/>
            <a:ext cx="292608" cy="0"/>
          </a:xfrm>
          <a:prstGeom prst="line">
            <a:avLst/>
          </a:prstGeom>
          <a:solidFill>
            <a:srgbClr val="FFFFFF">
              <a:alpha val="0"/>
            </a:srgbClr>
          </a:solidFill>
          <a:ln w="12700">
            <a:solidFill>
              <a:srgbClr val="CBD5E1"/>
            </a:solidFill>
            <a:prstDash val="solid"/>
            <a:headEnd type="none"/>
            <a:tailEnd type="triangle"/>
          </a:ln>
        </p:spPr>
      </p:sp>
      <p:sp>
        <p:nvSpPr>
          <p:cNvPr id="12" name="Text 10"/>
          <p:cNvSpPr/>
          <p:nvPr/>
        </p:nvSpPr>
        <p:spPr>
          <a:xfrm>
            <a:off x="8183880" y="2057400"/>
            <a:ext cx="1417320" cy="713232"/>
          </a:xfrm>
          <a:prstGeom prst="rect">
            <a:avLst/>
          </a:prstGeom>
          <a:solidFill>
            <a:srgbClr val="FFEDD5"/>
          </a:solidFill>
          <a:ln w="13970">
            <a:solidFill>
              <a:srgbClr val="EA580C"/>
            </a:solidFill>
          </a:ln>
        </p:spPr>
        <p:txBody>
          <a:bodyPr wrap="square" lIns="1016" tIns="1016" rIns="1016" bIns="1016" rtlCol="0" anchor="ctr">
            <a:normAutofit/>
          </a:bodyPr>
          <a:lstStyle/>
          <a:p>
            <a:pPr algn="ctr" indent="0" marL="0">
              <a:buNone/>
            </a:pPr>
            <a:r>
              <a:rPr lang="en-US" sz="1120" b="1" dirty="0">
                <a:solidFill>
                  <a:srgbClr val="111827"/>
                </a:solidFill>
              </a:rPr>
              <a:t>5</a:t>
            </a:r>
            <a:endParaRPr lang="en-US" sz="1120" dirty="0"/>
          </a:p>
          <a:p>
            <a:pPr algn="ctr" indent="0" marL="0">
              <a:buNone/>
            </a:pPr>
            <a:r>
              <a:rPr lang="en-US" sz="1120" b="1" dirty="0">
                <a:solidFill>
                  <a:srgbClr val="111827"/>
                </a:solidFill>
              </a:rPr>
              <a:t>Build ANN index</a:t>
            </a:r>
            <a:endParaRPr lang="en-US" sz="1120" dirty="0"/>
          </a:p>
        </p:txBody>
      </p:sp>
      <p:sp>
        <p:nvSpPr>
          <p:cNvPr id="13" name="Shape 11"/>
          <p:cNvSpPr/>
          <p:nvPr/>
        </p:nvSpPr>
        <p:spPr>
          <a:xfrm>
            <a:off x="9692640" y="2414016"/>
            <a:ext cx="292608" cy="0"/>
          </a:xfrm>
          <a:prstGeom prst="line">
            <a:avLst/>
          </a:prstGeom>
          <a:solidFill>
            <a:srgbClr val="FFFFFF">
              <a:alpha val="0"/>
            </a:srgbClr>
          </a:solidFill>
          <a:ln w="12700">
            <a:solidFill>
              <a:srgbClr val="CBD5E1"/>
            </a:solidFill>
            <a:prstDash val="solid"/>
            <a:headEnd type="none"/>
            <a:tailEnd type="triangle"/>
          </a:ln>
        </p:spPr>
      </p:sp>
      <p:sp>
        <p:nvSpPr>
          <p:cNvPr id="14" name="Text 12"/>
          <p:cNvSpPr/>
          <p:nvPr/>
        </p:nvSpPr>
        <p:spPr>
          <a:xfrm>
            <a:off x="10058400" y="2057400"/>
            <a:ext cx="1417320" cy="713232"/>
          </a:xfrm>
          <a:prstGeom prst="rect">
            <a:avLst/>
          </a:prstGeom>
          <a:solidFill>
            <a:srgbClr val="FEE2E2"/>
          </a:solidFill>
          <a:ln w="13970">
            <a:solidFill>
              <a:srgbClr val="DC2626"/>
            </a:solidFill>
          </a:ln>
        </p:spPr>
        <p:txBody>
          <a:bodyPr wrap="square" lIns="1016" tIns="1016" rIns="1016" bIns="1016" rtlCol="0" anchor="ctr">
            <a:normAutofit/>
          </a:bodyPr>
          <a:lstStyle/>
          <a:p>
            <a:pPr algn="ctr" indent="0" marL="0">
              <a:buNone/>
            </a:pPr>
            <a:r>
              <a:rPr lang="en-US" sz="1120" b="1" dirty="0">
                <a:solidFill>
                  <a:srgbClr val="111827"/>
                </a:solidFill>
              </a:rPr>
              <a:t>6</a:t>
            </a:r>
            <a:endParaRPr lang="en-US" sz="1120" dirty="0"/>
          </a:p>
          <a:p>
            <a:pPr algn="ctr" indent="0" marL="0">
              <a:buNone/>
            </a:pPr>
            <a:r>
              <a:rPr lang="en-US" sz="1120" b="1" dirty="0">
                <a:solidFill>
                  <a:srgbClr val="111827"/>
                </a:solidFill>
              </a:rPr>
              <a:t>Query &amp; rerank</a:t>
            </a:r>
            <a:endParaRPr lang="en-US" sz="1120" dirty="0"/>
          </a:p>
        </p:txBody>
      </p:sp>
      <p:sp>
        <p:nvSpPr>
          <p:cNvPr id="15" name="Text 13"/>
          <p:cNvSpPr/>
          <p:nvPr/>
        </p:nvSpPr>
        <p:spPr>
          <a:xfrm>
            <a:off x="868680" y="3977640"/>
            <a:ext cx="10607040" cy="1143000"/>
          </a:xfrm>
          <a:prstGeom prst="rect">
            <a:avLst/>
          </a:prstGeom>
          <a:noFill/>
          <a:ln/>
        </p:spPr>
        <p:txBody>
          <a:bodyPr wrap="square" lIns="508" tIns="508" rIns="508" bIns="508" rtlCol="0" anchor="t">
            <a:normAutofit/>
          </a:bodyPr>
          <a:lstStyle/>
          <a:p>
            <a:r>
              <a:rPr lang="en-US" sz="1420" dirty="0">
                <a:solidFill>
                  <a:srgbClr val="111827"/>
                </a:solidFill>
              </a:rPr>
              <a:t>Each record usually stores: id, vector, original content pointer, and metadata fields.
</a:t>
            </a:r>
            <a:endParaRPr lang="en-US" sz="1420" dirty="0"/>
          </a:p>
          <a:p>
            <a:r>
              <a:rPr lang="en-US" sz="1420" dirty="0">
                <a:solidFill>
                  <a:srgbClr val="111827"/>
                </a:solidFill>
              </a:rPr>
              <a:t>The index is a separate structure optimized for nearest-neighbor search.
</a:t>
            </a:r>
            <a:endParaRPr lang="en-US" sz="1420" dirty="0"/>
          </a:p>
          <a:p>
            <a:r>
              <a:rPr lang="en-US" sz="1420" dirty="0">
                <a:solidFill>
                  <a:srgbClr val="111827"/>
                </a:solidFill>
              </a:rPr>
              <a:t>Updates require insertion, deletion/soft deletion, compaction, or periodic rebuild depending on the DB.</a:t>
            </a:r>
            <a:endParaRPr lang="en-US" sz="142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Vector index vs RDBMS index</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Both reduce search cost, but they optimize for different questions.</a:t>
            </a:r>
            <a:endParaRPr lang="en-US" sz="1150" dirty="0"/>
          </a:p>
        </p:txBody>
      </p:sp>
      <p:sp>
        <p:nvSpPr>
          <p:cNvPr id="4" name="Text 2"/>
          <p:cNvSpPr/>
          <p:nvPr/>
        </p:nvSpPr>
        <p:spPr>
          <a:xfrm>
            <a:off x="822960" y="1234440"/>
            <a:ext cx="4480560" cy="301752"/>
          </a:xfrm>
          <a:prstGeom prst="rect">
            <a:avLst/>
          </a:prstGeom>
          <a:solidFill>
            <a:srgbClr val="DBEAFE"/>
          </a:solidFill>
          <a:ln>
            <a:solidFill>
              <a:srgbClr val="DBEAFE"/>
            </a:solidFill>
          </a:ln>
        </p:spPr>
        <p:txBody>
          <a:bodyPr wrap="square" lIns="381" tIns="381" rIns="381" bIns="381" rtlCol="0" anchor="ctr"/>
          <a:lstStyle/>
          <a:p>
            <a:pPr algn="ctr" indent="0" marL="0">
              <a:buNone/>
            </a:pPr>
            <a:r>
              <a:rPr lang="en-US" sz="1250" b="1" dirty="0">
                <a:solidFill>
                  <a:srgbClr val="2563EB"/>
                </a:solidFill>
              </a:rPr>
              <a:t>RDBMS index</a:t>
            </a:r>
            <a:endParaRPr lang="en-US" sz="1250" dirty="0"/>
          </a:p>
        </p:txBody>
      </p:sp>
      <p:sp>
        <p:nvSpPr>
          <p:cNvPr id="5" name="Text 3"/>
          <p:cNvSpPr/>
          <p:nvPr/>
        </p:nvSpPr>
        <p:spPr>
          <a:xfrm>
            <a:off x="6400800" y="1234440"/>
            <a:ext cx="4480560" cy="301752"/>
          </a:xfrm>
          <a:prstGeom prst="rect">
            <a:avLst/>
          </a:prstGeom>
          <a:solidFill>
            <a:srgbClr val="EDE9FE"/>
          </a:solidFill>
          <a:ln>
            <a:solidFill>
              <a:srgbClr val="EDE9FE"/>
            </a:solidFill>
          </a:ln>
        </p:spPr>
        <p:txBody>
          <a:bodyPr wrap="square" lIns="381" tIns="381" rIns="381" bIns="381" rtlCol="0" anchor="ctr"/>
          <a:lstStyle/>
          <a:p>
            <a:pPr algn="ctr" indent="0" marL="0">
              <a:buNone/>
            </a:pPr>
            <a:r>
              <a:rPr lang="en-US" sz="1250" b="1" dirty="0">
                <a:solidFill>
                  <a:srgbClr val="7C3AED"/>
                </a:solidFill>
              </a:rPr>
              <a:t>Vector DB index</a:t>
            </a:r>
            <a:endParaRPr lang="en-US" sz="1250" dirty="0"/>
          </a:p>
        </p:txBody>
      </p:sp>
      <p:sp>
        <p:nvSpPr>
          <p:cNvPr id="6" name="Text 4"/>
          <p:cNvSpPr/>
          <p:nvPr/>
        </p:nvSpPr>
        <p:spPr>
          <a:xfrm>
            <a:off x="1097280" y="1874520"/>
            <a:ext cx="3931920" cy="1463040"/>
          </a:xfrm>
          <a:prstGeom prst="rect">
            <a:avLst/>
          </a:prstGeom>
          <a:noFill/>
          <a:ln/>
        </p:spPr>
        <p:txBody>
          <a:bodyPr wrap="square" lIns="508" tIns="508" rIns="508" bIns="508" rtlCol="0" anchor="t">
            <a:normAutofit/>
          </a:bodyPr>
          <a:lstStyle/>
          <a:p>
            <a:r>
              <a:rPr lang="en-US" sz="1360" dirty="0">
                <a:solidFill>
                  <a:srgbClr val="111827"/>
                </a:solidFill>
              </a:rPr>
              <a:t>Question: exact value or ordered range?
</a:t>
            </a:r>
            <a:endParaRPr lang="en-US" sz="1360" dirty="0"/>
          </a:p>
          <a:p>
            <a:r>
              <a:rPr lang="en-US" sz="1360" dirty="0">
                <a:solidFill>
                  <a:srgbClr val="111827"/>
                </a:solidFill>
              </a:rPr>
              <a:t>Index style: B-tree / hash / bitmap.
</a:t>
            </a:r>
            <a:endParaRPr lang="en-US" sz="1360" dirty="0"/>
          </a:p>
          <a:p>
            <a:r>
              <a:rPr lang="en-US" sz="1360" dirty="0">
                <a:solidFill>
                  <a:srgbClr val="111827"/>
                </a:solidFill>
              </a:rPr>
              <a:t>Example: WHERE customer_id = 123.
</a:t>
            </a:r>
            <a:endParaRPr lang="en-US" sz="1360" dirty="0"/>
          </a:p>
          <a:p>
            <a:r>
              <a:rPr lang="en-US" sz="1360" dirty="0">
                <a:solidFill>
                  <a:srgbClr val="111827"/>
                </a:solidFill>
              </a:rPr>
              <a:t>Deterministic matching.</a:t>
            </a:r>
            <a:endParaRPr lang="en-US" sz="1360" dirty="0"/>
          </a:p>
        </p:txBody>
      </p:sp>
      <p:sp>
        <p:nvSpPr>
          <p:cNvPr id="7" name="Text 5"/>
          <p:cNvSpPr/>
          <p:nvPr/>
        </p:nvSpPr>
        <p:spPr>
          <a:xfrm>
            <a:off x="6675120" y="1874520"/>
            <a:ext cx="3977640" cy="1463040"/>
          </a:xfrm>
          <a:prstGeom prst="rect">
            <a:avLst/>
          </a:prstGeom>
          <a:noFill/>
          <a:ln/>
        </p:spPr>
        <p:txBody>
          <a:bodyPr wrap="square" lIns="508" tIns="508" rIns="508" bIns="508" rtlCol="0" anchor="t">
            <a:normAutofit/>
          </a:bodyPr>
          <a:lstStyle/>
          <a:p>
            <a:r>
              <a:rPr lang="en-US" sz="1360" dirty="0">
                <a:solidFill>
                  <a:srgbClr val="111827"/>
                </a:solidFill>
              </a:rPr>
              <a:t>Question: which objects are nearest in meaning?
</a:t>
            </a:r>
            <a:endParaRPr lang="en-US" sz="1360" dirty="0"/>
          </a:p>
          <a:p>
            <a:r>
              <a:rPr lang="en-US" sz="1360" dirty="0">
                <a:solidFill>
                  <a:srgbClr val="111827"/>
                </a:solidFill>
              </a:rPr>
              <a:t>Index style: HNSW / IVF / PQ / hybrid variants.
</a:t>
            </a:r>
            <a:endParaRPr lang="en-US" sz="1360" dirty="0"/>
          </a:p>
          <a:p>
            <a:r>
              <a:rPr lang="en-US" sz="1360" dirty="0">
                <a:solidFill>
                  <a:srgbClr val="111827"/>
                </a:solidFill>
              </a:rPr>
              <a:t>Example: top 5 chunks similar to this question.
</a:t>
            </a:r>
            <a:endParaRPr lang="en-US" sz="1360" dirty="0"/>
          </a:p>
          <a:p>
            <a:r>
              <a:rPr lang="en-US" sz="1360" dirty="0">
                <a:solidFill>
                  <a:srgbClr val="111827"/>
                </a:solidFill>
              </a:rPr>
              <a:t>Often approximate with tunable recall.</a:t>
            </a:r>
            <a:endParaRPr lang="en-US" sz="1360" dirty="0"/>
          </a:p>
        </p:txBody>
      </p:sp>
      <p:sp>
        <p:nvSpPr>
          <p:cNvPr id="8" name="Text 6"/>
          <p:cNvSpPr/>
          <p:nvPr/>
        </p:nvSpPr>
        <p:spPr>
          <a:xfrm>
            <a:off x="1143000" y="4800600"/>
            <a:ext cx="9601200" cy="502920"/>
          </a:xfrm>
          <a:prstGeom prst="rect">
            <a:avLst/>
          </a:prstGeom>
          <a:noFill/>
          <a:ln/>
        </p:spPr>
        <p:txBody>
          <a:bodyPr wrap="square" lIns="381" tIns="381" rIns="381" bIns="381" rtlCol="0" anchor="ctr">
            <a:normAutofit/>
          </a:bodyPr>
          <a:lstStyle/>
          <a:p>
            <a:pPr algn="ctr" indent="0" marL="0">
              <a:buNone/>
            </a:pPr>
            <a:r>
              <a:rPr lang="en-US" sz="1650" b="1" dirty="0">
                <a:solidFill>
                  <a:srgbClr val="111827"/>
                </a:solidFill>
              </a:rPr>
              <a:t>Helpful analogy: RDBMS index is like a sorted phone book. Vector index is like a map where nearby places have related meaning.</a:t>
            </a:r>
            <a:endParaRPr lang="en-US" sz="165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Metadata: the bridge between semantic search and business rules</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Metadata filters make search relevant, secure, and fast.</a:t>
            </a:r>
            <a:endParaRPr lang="en-US" sz="1150" dirty="0"/>
          </a:p>
        </p:txBody>
      </p:sp>
      <p:sp>
        <p:nvSpPr>
          <p:cNvPr id="4" name="Text 2"/>
          <p:cNvSpPr/>
          <p:nvPr/>
        </p:nvSpPr>
        <p:spPr>
          <a:xfrm>
            <a:off x="822960" y="1920240"/>
            <a:ext cx="1920240" cy="731520"/>
          </a:xfrm>
          <a:prstGeom prst="rect">
            <a:avLst/>
          </a:prstGeom>
          <a:solidFill>
            <a:srgbClr val="DBEAFE"/>
          </a:solidFill>
          <a:ln w="13970">
            <a:solidFill>
              <a:srgbClr val="2563EB"/>
            </a:solidFill>
          </a:ln>
        </p:spPr>
        <p:txBody>
          <a:bodyPr wrap="square" lIns="1016" tIns="1016" rIns="1016" bIns="1016" rtlCol="0" anchor="ctr">
            <a:normAutofit/>
          </a:bodyPr>
          <a:lstStyle/>
          <a:p>
            <a:pPr algn="ctr" indent="0" marL="0">
              <a:buNone/>
            </a:pPr>
            <a:r>
              <a:rPr lang="en-US" sz="1220" b="1" dirty="0">
                <a:solidFill>
                  <a:srgbClr val="111827"/>
                </a:solidFill>
              </a:rPr>
              <a:t>Semantic query</a:t>
            </a:r>
            <a:endParaRPr lang="en-US" sz="1220" dirty="0"/>
          </a:p>
          <a:p>
            <a:pPr algn="ctr" indent="0" marL="0">
              <a:buNone/>
            </a:pPr>
            <a:r>
              <a:rPr lang="en-US" sz="1220" b="1" dirty="0">
                <a:solidFill>
                  <a:srgbClr val="111827"/>
                </a:solidFill>
              </a:rPr>
              <a:t>“refund policy”</a:t>
            </a:r>
            <a:endParaRPr lang="en-US" sz="1220" dirty="0"/>
          </a:p>
        </p:txBody>
      </p:sp>
      <p:sp>
        <p:nvSpPr>
          <p:cNvPr id="5" name="Shape 3"/>
          <p:cNvSpPr/>
          <p:nvPr/>
        </p:nvSpPr>
        <p:spPr>
          <a:xfrm>
            <a:off x="2926080" y="2286000"/>
            <a:ext cx="1051560" cy="0"/>
          </a:xfrm>
          <a:prstGeom prst="line">
            <a:avLst/>
          </a:prstGeom>
          <a:solidFill>
            <a:srgbClr val="FFFFFF">
              <a:alpha val="0"/>
            </a:srgbClr>
          </a:solidFill>
          <a:ln w="15240">
            <a:solidFill>
              <a:srgbClr val="CBD5E1"/>
            </a:solidFill>
            <a:prstDash val="solid"/>
            <a:headEnd type="none"/>
            <a:tailEnd type="triangle"/>
          </a:ln>
        </p:spPr>
      </p:sp>
      <p:sp>
        <p:nvSpPr>
          <p:cNvPr id="6" name="Text 4"/>
          <p:cNvSpPr/>
          <p:nvPr/>
        </p:nvSpPr>
        <p:spPr>
          <a:xfrm>
            <a:off x="4160520" y="1920240"/>
            <a:ext cx="1920240" cy="731520"/>
          </a:xfrm>
          <a:prstGeom prst="rect">
            <a:avLst/>
          </a:prstGeom>
          <a:solidFill>
            <a:srgbClr val="EDE9FE"/>
          </a:solidFill>
          <a:ln w="13970">
            <a:solidFill>
              <a:srgbClr val="7C3AED"/>
            </a:solidFill>
          </a:ln>
        </p:spPr>
        <p:txBody>
          <a:bodyPr wrap="square" lIns="1016" tIns="1016" rIns="1016" bIns="1016" rtlCol="0" anchor="ctr">
            <a:normAutofit/>
          </a:bodyPr>
          <a:lstStyle/>
          <a:p>
            <a:pPr algn="ctr" indent="0" marL="0">
              <a:buNone/>
            </a:pPr>
            <a:r>
              <a:rPr lang="en-US" sz="1220" b="1" dirty="0">
                <a:solidFill>
                  <a:srgbClr val="111827"/>
                </a:solidFill>
              </a:rPr>
              <a:t>Vector search</a:t>
            </a:r>
            <a:endParaRPr lang="en-US" sz="1220" dirty="0"/>
          </a:p>
          <a:p>
            <a:pPr algn="ctr" indent="0" marL="0">
              <a:buNone/>
            </a:pPr>
            <a:r>
              <a:rPr lang="en-US" sz="1220" b="1" dirty="0">
                <a:solidFill>
                  <a:srgbClr val="111827"/>
                </a:solidFill>
              </a:rPr>
              <a:t>near meaning</a:t>
            </a:r>
            <a:endParaRPr lang="en-US" sz="1220" dirty="0"/>
          </a:p>
        </p:txBody>
      </p:sp>
      <p:sp>
        <p:nvSpPr>
          <p:cNvPr id="7" name="Shape 5"/>
          <p:cNvSpPr/>
          <p:nvPr/>
        </p:nvSpPr>
        <p:spPr>
          <a:xfrm>
            <a:off x="6291072" y="2286000"/>
            <a:ext cx="1069848" cy="0"/>
          </a:xfrm>
          <a:prstGeom prst="line">
            <a:avLst/>
          </a:prstGeom>
          <a:solidFill>
            <a:srgbClr val="FFFFFF">
              <a:alpha val="0"/>
            </a:srgbClr>
          </a:solidFill>
          <a:ln w="15240">
            <a:solidFill>
              <a:srgbClr val="CBD5E1"/>
            </a:solidFill>
            <a:prstDash val="solid"/>
            <a:headEnd type="none"/>
            <a:tailEnd type="triangle"/>
          </a:ln>
        </p:spPr>
      </p:sp>
      <p:sp>
        <p:nvSpPr>
          <p:cNvPr id="8" name="Text 6"/>
          <p:cNvSpPr/>
          <p:nvPr/>
        </p:nvSpPr>
        <p:spPr>
          <a:xfrm>
            <a:off x="7543800" y="1920240"/>
            <a:ext cx="2148840" cy="731520"/>
          </a:xfrm>
          <a:prstGeom prst="rect">
            <a:avLst/>
          </a:prstGeom>
          <a:solidFill>
            <a:srgbClr val="D1FAE5"/>
          </a:solidFill>
          <a:ln w="13970">
            <a:solidFill>
              <a:srgbClr val="059669"/>
            </a:solidFill>
          </a:ln>
        </p:spPr>
        <p:txBody>
          <a:bodyPr wrap="square" lIns="1016" tIns="1016" rIns="1016" bIns="1016" rtlCol="0" anchor="ctr">
            <a:normAutofit/>
          </a:bodyPr>
          <a:lstStyle/>
          <a:p>
            <a:pPr algn="ctr" indent="0" marL="0">
              <a:buNone/>
            </a:pPr>
            <a:r>
              <a:rPr lang="en-US" sz="1140" b="1" dirty="0">
                <a:solidFill>
                  <a:srgbClr val="111827"/>
                </a:solidFill>
              </a:rPr>
              <a:t>Metadata filter</a:t>
            </a:r>
            <a:endParaRPr lang="en-US" sz="1140" dirty="0"/>
          </a:p>
          <a:p>
            <a:pPr algn="ctr" indent="0" marL="0">
              <a:buNone/>
            </a:pPr>
            <a:r>
              <a:rPr lang="en-US" sz="1140" b="1" dirty="0">
                <a:solidFill>
                  <a:srgbClr val="111827"/>
                </a:solidFill>
              </a:rPr>
              <a:t>product=A, region=IN</a:t>
            </a:r>
            <a:endParaRPr lang="en-US" sz="1140" dirty="0"/>
          </a:p>
        </p:txBody>
      </p:sp>
      <p:sp>
        <p:nvSpPr>
          <p:cNvPr id="9" name="Shape 7"/>
          <p:cNvSpPr/>
          <p:nvPr/>
        </p:nvSpPr>
        <p:spPr>
          <a:xfrm>
            <a:off x="9893808" y="2286000"/>
            <a:ext cx="621792" cy="0"/>
          </a:xfrm>
          <a:prstGeom prst="line">
            <a:avLst/>
          </a:prstGeom>
          <a:solidFill>
            <a:srgbClr val="FFFFFF">
              <a:alpha val="0"/>
            </a:srgbClr>
          </a:solidFill>
          <a:ln w="15240">
            <a:solidFill>
              <a:srgbClr val="CBD5E1"/>
            </a:solidFill>
            <a:prstDash val="solid"/>
            <a:headEnd type="none"/>
            <a:tailEnd type="triangle"/>
          </a:ln>
        </p:spPr>
      </p:sp>
      <p:sp>
        <p:nvSpPr>
          <p:cNvPr id="10" name="Text 8"/>
          <p:cNvSpPr/>
          <p:nvPr/>
        </p:nvSpPr>
        <p:spPr>
          <a:xfrm>
            <a:off x="10698480" y="1920240"/>
            <a:ext cx="960120" cy="731520"/>
          </a:xfrm>
          <a:prstGeom prst="rect">
            <a:avLst/>
          </a:prstGeom>
          <a:solidFill>
            <a:srgbClr val="FFEDD5"/>
          </a:solidFill>
          <a:ln w="13970">
            <a:solidFill>
              <a:srgbClr val="EA580C"/>
            </a:solidFill>
          </a:ln>
        </p:spPr>
        <p:txBody>
          <a:bodyPr wrap="square" lIns="1016" tIns="1016" rIns="1016" bIns="1016" rtlCol="0" anchor="ctr">
            <a:normAutofit/>
          </a:bodyPr>
          <a:lstStyle/>
          <a:p>
            <a:pPr algn="ctr" indent="0" marL="0">
              <a:buNone/>
            </a:pPr>
            <a:r>
              <a:rPr lang="en-US" sz="1080" b="1" dirty="0">
                <a:solidFill>
                  <a:srgbClr val="111827"/>
                </a:solidFill>
              </a:rPr>
              <a:t>Allowed</a:t>
            </a:r>
            <a:endParaRPr lang="en-US" sz="1080" dirty="0"/>
          </a:p>
          <a:p>
            <a:pPr algn="ctr" indent="0" marL="0">
              <a:buNone/>
            </a:pPr>
            <a:r>
              <a:rPr lang="en-US" sz="1080" b="1" dirty="0">
                <a:solidFill>
                  <a:srgbClr val="111827"/>
                </a:solidFill>
              </a:rPr>
              <a:t>results</a:t>
            </a:r>
            <a:endParaRPr lang="en-US" sz="1080" dirty="0"/>
          </a:p>
        </p:txBody>
      </p:sp>
      <p:sp>
        <p:nvSpPr>
          <p:cNvPr id="11" name="Text 9"/>
          <p:cNvSpPr/>
          <p:nvPr/>
        </p:nvSpPr>
        <p:spPr>
          <a:xfrm>
            <a:off x="914400" y="3749040"/>
            <a:ext cx="10424160" cy="1234440"/>
          </a:xfrm>
          <a:prstGeom prst="rect">
            <a:avLst/>
          </a:prstGeom>
          <a:noFill/>
          <a:ln/>
        </p:spPr>
        <p:txBody>
          <a:bodyPr wrap="square" lIns="508" tIns="508" rIns="508" bIns="508" rtlCol="0" anchor="t">
            <a:normAutofit/>
          </a:bodyPr>
          <a:lstStyle/>
          <a:p>
            <a:r>
              <a:rPr lang="en-US" sz="1390" dirty="0">
                <a:solidFill>
                  <a:srgbClr val="111827"/>
                </a:solidFill>
              </a:rPr>
              <a:t>Examples: tenant, user permission, date, language, product, region, category, document version.
</a:t>
            </a:r>
            <a:endParaRPr lang="en-US" sz="1390" dirty="0"/>
          </a:p>
          <a:p>
            <a:r>
              <a:rPr lang="en-US" sz="1390" dirty="0">
                <a:solidFill>
                  <a:srgbClr val="111827"/>
                </a:solidFill>
              </a:rPr>
              <a:t>Pre-filter: reduce candidate vectors before ANN search; can be faster but may hurt recall if too restrictive.
</a:t>
            </a:r>
            <a:endParaRPr lang="en-US" sz="1390" dirty="0"/>
          </a:p>
          <a:p>
            <a:r>
              <a:rPr lang="en-US" sz="1390" dirty="0">
                <a:solidFill>
                  <a:srgbClr val="111827"/>
                </a:solidFill>
              </a:rPr>
              <a:t>Post-filter: search first, filter later; simple but may need larger top-K to avoid empty results.</a:t>
            </a:r>
            <a:endParaRPr lang="en-US" sz="139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Chunking strategies</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Chunking decides what unit of text gets embedded and retrieved. It heavily affects RAG quality.</a:t>
            </a:r>
            <a:endParaRPr lang="en-US" sz="1150" dirty="0"/>
          </a:p>
        </p:txBody>
      </p:sp>
      <p:sp>
        <p:nvSpPr>
          <p:cNvPr id="4" name="Text 2"/>
          <p:cNvSpPr/>
          <p:nvPr/>
        </p:nvSpPr>
        <p:spPr>
          <a:xfrm>
            <a:off x="868680" y="1234440"/>
            <a:ext cx="2560320" cy="301752"/>
          </a:xfrm>
          <a:prstGeom prst="rect">
            <a:avLst/>
          </a:prstGeom>
          <a:solidFill>
            <a:srgbClr val="FEE2E2"/>
          </a:solidFill>
          <a:ln>
            <a:solidFill>
              <a:srgbClr val="FEE2E2"/>
            </a:solidFill>
          </a:ln>
        </p:spPr>
        <p:txBody>
          <a:bodyPr wrap="square" lIns="381" tIns="381" rIns="381" bIns="381" rtlCol="0" anchor="ctr"/>
          <a:lstStyle/>
          <a:p>
            <a:pPr algn="ctr" indent="0" marL="0">
              <a:buNone/>
            </a:pPr>
            <a:r>
              <a:rPr lang="en-US" sz="1250" b="1" dirty="0">
                <a:solidFill>
                  <a:srgbClr val="DC2626"/>
                </a:solidFill>
              </a:rPr>
              <a:t>Too small</a:t>
            </a:r>
            <a:endParaRPr lang="en-US" sz="1250" dirty="0"/>
          </a:p>
        </p:txBody>
      </p:sp>
      <p:sp>
        <p:nvSpPr>
          <p:cNvPr id="5" name="Text 3"/>
          <p:cNvSpPr/>
          <p:nvPr/>
        </p:nvSpPr>
        <p:spPr>
          <a:xfrm>
            <a:off x="4800600" y="1234440"/>
            <a:ext cx="2560320" cy="301752"/>
          </a:xfrm>
          <a:prstGeom prst="rect">
            <a:avLst/>
          </a:prstGeom>
          <a:solidFill>
            <a:srgbClr val="FFEDD5"/>
          </a:solidFill>
          <a:ln>
            <a:solidFill>
              <a:srgbClr val="FFEDD5"/>
            </a:solidFill>
          </a:ln>
        </p:spPr>
        <p:txBody>
          <a:bodyPr wrap="square" lIns="381" tIns="381" rIns="381" bIns="381" rtlCol="0" anchor="ctr"/>
          <a:lstStyle/>
          <a:p>
            <a:pPr algn="ctr" indent="0" marL="0">
              <a:buNone/>
            </a:pPr>
            <a:r>
              <a:rPr lang="en-US" sz="1250" b="1" dirty="0">
                <a:solidFill>
                  <a:srgbClr val="EA580C"/>
                </a:solidFill>
              </a:rPr>
              <a:t>Too large</a:t>
            </a:r>
            <a:endParaRPr lang="en-US" sz="1250" dirty="0"/>
          </a:p>
        </p:txBody>
      </p:sp>
      <p:sp>
        <p:nvSpPr>
          <p:cNvPr id="6" name="Text 4"/>
          <p:cNvSpPr/>
          <p:nvPr/>
        </p:nvSpPr>
        <p:spPr>
          <a:xfrm>
            <a:off x="8732520" y="1234440"/>
            <a:ext cx="2560320" cy="301752"/>
          </a:xfrm>
          <a:prstGeom prst="rect">
            <a:avLst/>
          </a:prstGeom>
          <a:solidFill>
            <a:srgbClr val="D1FAE5"/>
          </a:solidFill>
          <a:ln>
            <a:solidFill>
              <a:srgbClr val="D1FAE5"/>
            </a:solidFill>
          </a:ln>
        </p:spPr>
        <p:txBody>
          <a:bodyPr wrap="square" lIns="381" tIns="381" rIns="381" bIns="381" rtlCol="0" anchor="ctr"/>
          <a:lstStyle/>
          <a:p>
            <a:pPr algn="ctr" indent="0" marL="0">
              <a:buNone/>
            </a:pPr>
            <a:r>
              <a:rPr lang="en-US" sz="1250" b="1" dirty="0">
                <a:solidFill>
                  <a:srgbClr val="059669"/>
                </a:solidFill>
              </a:rPr>
              <a:t>Good chunk</a:t>
            </a:r>
            <a:endParaRPr lang="en-US" sz="1250" dirty="0"/>
          </a:p>
        </p:txBody>
      </p:sp>
      <p:sp>
        <p:nvSpPr>
          <p:cNvPr id="7" name="Text 5"/>
          <p:cNvSpPr/>
          <p:nvPr/>
        </p:nvSpPr>
        <p:spPr>
          <a:xfrm>
            <a:off x="1234440" y="1874520"/>
            <a:ext cx="1828800" cy="320040"/>
          </a:xfrm>
          <a:prstGeom prst="rect">
            <a:avLst/>
          </a:prstGeom>
          <a:noFill/>
          <a:ln/>
        </p:spPr>
        <p:txBody>
          <a:bodyPr wrap="square" lIns="0" tIns="0" rIns="0" bIns="0" rtlCol="0" anchor="ctr"/>
          <a:lstStyle/>
          <a:p>
            <a:pPr algn="ctr" indent="0" marL="0">
              <a:buNone/>
            </a:pPr>
            <a:r>
              <a:rPr lang="en-US" sz="1600" b="1" dirty="0">
                <a:solidFill>
                  <a:srgbClr val="000000"/>
                </a:solidFill>
              </a:rPr>
              <a:t>Loses context</a:t>
            </a:r>
            <a:endParaRPr lang="en-US" sz="1600" dirty="0"/>
          </a:p>
        </p:txBody>
      </p:sp>
      <p:sp>
        <p:nvSpPr>
          <p:cNvPr id="8" name="Text 6"/>
          <p:cNvSpPr/>
          <p:nvPr/>
        </p:nvSpPr>
        <p:spPr>
          <a:xfrm>
            <a:off x="5230368" y="1874520"/>
            <a:ext cx="1645920" cy="320040"/>
          </a:xfrm>
          <a:prstGeom prst="rect">
            <a:avLst/>
          </a:prstGeom>
          <a:noFill/>
          <a:ln/>
        </p:spPr>
        <p:txBody>
          <a:bodyPr wrap="square" lIns="0" tIns="0" rIns="0" bIns="0" rtlCol="0" anchor="ctr"/>
          <a:lstStyle/>
          <a:p>
            <a:pPr algn="ctr" indent="0" marL="0">
              <a:buNone/>
            </a:pPr>
            <a:r>
              <a:rPr lang="en-US" sz="1600" b="1" dirty="0">
                <a:solidFill>
                  <a:srgbClr val="000000"/>
                </a:solidFill>
              </a:rPr>
              <a:t>Adds noise</a:t>
            </a:r>
            <a:endParaRPr lang="en-US" sz="1600" dirty="0"/>
          </a:p>
        </p:txBody>
      </p:sp>
      <p:sp>
        <p:nvSpPr>
          <p:cNvPr id="9" name="Text 7"/>
          <p:cNvSpPr/>
          <p:nvPr/>
        </p:nvSpPr>
        <p:spPr>
          <a:xfrm>
            <a:off x="9098280" y="1874520"/>
            <a:ext cx="1828800" cy="320040"/>
          </a:xfrm>
          <a:prstGeom prst="rect">
            <a:avLst/>
          </a:prstGeom>
          <a:noFill/>
          <a:ln/>
        </p:spPr>
        <p:txBody>
          <a:bodyPr wrap="square" lIns="0" tIns="0" rIns="0" bIns="0" rtlCol="0" anchor="ctr"/>
          <a:lstStyle/>
          <a:p>
            <a:pPr algn="ctr" indent="0" marL="0">
              <a:buNone/>
            </a:pPr>
            <a:r>
              <a:rPr lang="en-US" sz="1600" b="1" dirty="0">
                <a:solidFill>
                  <a:srgbClr val="000000"/>
                </a:solidFill>
              </a:rPr>
              <a:t>Self-contained</a:t>
            </a:r>
            <a:endParaRPr lang="en-US" sz="1600" dirty="0"/>
          </a:p>
        </p:txBody>
      </p:sp>
      <p:sp>
        <p:nvSpPr>
          <p:cNvPr id="10" name="Text 8"/>
          <p:cNvSpPr/>
          <p:nvPr/>
        </p:nvSpPr>
        <p:spPr>
          <a:xfrm>
            <a:off x="914400" y="3246120"/>
            <a:ext cx="10424160" cy="1554480"/>
          </a:xfrm>
          <a:prstGeom prst="rect">
            <a:avLst/>
          </a:prstGeom>
          <a:noFill/>
          <a:ln/>
        </p:spPr>
        <p:txBody>
          <a:bodyPr wrap="square" lIns="508" tIns="508" rIns="508" bIns="508" rtlCol="0" anchor="t">
            <a:normAutofit/>
          </a:bodyPr>
          <a:lstStyle/>
          <a:p>
            <a:r>
              <a:rPr lang="en-US" sz="1420" dirty="0">
                <a:solidFill>
                  <a:srgbClr val="111827"/>
                </a:solidFill>
              </a:rPr>
              <a:t>Chunk by semantic boundaries: headings, paragraphs, sections, tables, FAQs.
</a:t>
            </a:r>
            <a:endParaRPr lang="en-US" sz="1420" dirty="0"/>
          </a:p>
          <a:p>
            <a:r>
              <a:rPr lang="en-US" sz="1420" dirty="0">
                <a:solidFill>
                  <a:srgbClr val="111827"/>
                </a:solidFill>
              </a:rPr>
              <a:t>Use overlap when meaning flows across boundaries, but avoid excessive duplicate chunks.
</a:t>
            </a:r>
            <a:endParaRPr lang="en-US" sz="1420" dirty="0"/>
          </a:p>
          <a:p>
            <a:r>
              <a:rPr lang="en-US" sz="1420" dirty="0">
                <a:solidFill>
                  <a:srgbClr val="111827"/>
                </a:solidFill>
              </a:rPr>
              <a:t>Attach metadata: document title, heading path, page number, source URL, access policy.
</a:t>
            </a:r>
            <a:endParaRPr lang="en-US" sz="1420" dirty="0"/>
          </a:p>
          <a:p>
            <a:r>
              <a:rPr lang="en-US" sz="1420" dirty="0">
                <a:solidFill>
                  <a:srgbClr val="111827"/>
                </a:solidFill>
              </a:rPr>
              <a:t>Evaluate with real questions; do not tune chunk size blindly.</a:t>
            </a:r>
            <a:endParaRPr lang="en-US" sz="142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Embedding dimensions: 384 vs 768 vs 1536</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Dimensions are the length of the vector produced by an embedding model. Bigger is not automatically better.</a:t>
            </a:r>
            <a:endParaRPr lang="en-US" sz="1150" dirty="0"/>
          </a:p>
        </p:txBody>
      </p:sp>
      <p:sp>
        <p:nvSpPr>
          <p:cNvPr id="4" name="Shape 2"/>
          <p:cNvSpPr/>
          <p:nvPr/>
        </p:nvSpPr>
        <p:spPr>
          <a:xfrm>
            <a:off x="1280160" y="4206240"/>
            <a:ext cx="1371600" cy="502920"/>
          </a:xfrm>
          <a:prstGeom prst="rect">
            <a:avLst/>
          </a:prstGeom>
          <a:solidFill>
            <a:srgbClr val="DBEAFE"/>
          </a:solidFill>
          <a:ln w="12700">
            <a:solidFill>
              <a:srgbClr val="2563EB"/>
            </a:solidFill>
            <a:prstDash val="solid"/>
          </a:ln>
        </p:spPr>
      </p:sp>
      <p:sp>
        <p:nvSpPr>
          <p:cNvPr id="5" name="Text 3"/>
          <p:cNvSpPr/>
          <p:nvPr/>
        </p:nvSpPr>
        <p:spPr>
          <a:xfrm>
            <a:off x="1600200" y="4800600"/>
            <a:ext cx="731520" cy="182880"/>
          </a:xfrm>
          <a:prstGeom prst="rect">
            <a:avLst/>
          </a:prstGeom>
          <a:noFill/>
          <a:ln/>
        </p:spPr>
        <p:txBody>
          <a:bodyPr wrap="square" lIns="381" tIns="381" rIns="381" bIns="381" rtlCol="0" anchor="ctr">
            <a:normAutofit/>
          </a:bodyPr>
          <a:lstStyle/>
          <a:p>
            <a:pPr algn="ctr" indent="0" marL="0">
              <a:buNone/>
            </a:pPr>
            <a:r>
              <a:rPr lang="en-US" sz="1200" b="1" dirty="0">
                <a:solidFill>
                  <a:srgbClr val="2563EB"/>
                </a:solidFill>
              </a:rPr>
              <a:t>384</a:t>
            </a:r>
            <a:endParaRPr lang="en-US" sz="1200" dirty="0"/>
          </a:p>
        </p:txBody>
      </p:sp>
      <p:sp>
        <p:nvSpPr>
          <p:cNvPr id="6" name="Shape 4"/>
          <p:cNvSpPr/>
          <p:nvPr/>
        </p:nvSpPr>
        <p:spPr>
          <a:xfrm>
            <a:off x="3886200" y="3474720"/>
            <a:ext cx="1371600" cy="1234440"/>
          </a:xfrm>
          <a:prstGeom prst="rect">
            <a:avLst/>
          </a:prstGeom>
          <a:solidFill>
            <a:srgbClr val="EDE9FE"/>
          </a:solidFill>
          <a:ln w="12700">
            <a:solidFill>
              <a:srgbClr val="7C3AED"/>
            </a:solidFill>
            <a:prstDash val="solid"/>
          </a:ln>
        </p:spPr>
      </p:sp>
      <p:sp>
        <p:nvSpPr>
          <p:cNvPr id="7" name="Text 5"/>
          <p:cNvSpPr/>
          <p:nvPr/>
        </p:nvSpPr>
        <p:spPr>
          <a:xfrm>
            <a:off x="4206240" y="4800600"/>
            <a:ext cx="731520" cy="182880"/>
          </a:xfrm>
          <a:prstGeom prst="rect">
            <a:avLst/>
          </a:prstGeom>
          <a:noFill/>
          <a:ln/>
        </p:spPr>
        <p:txBody>
          <a:bodyPr wrap="square" lIns="381" tIns="381" rIns="381" bIns="381" rtlCol="0" anchor="ctr">
            <a:normAutofit/>
          </a:bodyPr>
          <a:lstStyle/>
          <a:p>
            <a:pPr algn="ctr" indent="0" marL="0">
              <a:buNone/>
            </a:pPr>
            <a:r>
              <a:rPr lang="en-US" sz="1200" b="1" dirty="0">
                <a:solidFill>
                  <a:srgbClr val="7C3AED"/>
                </a:solidFill>
              </a:rPr>
              <a:t>768</a:t>
            </a:r>
            <a:endParaRPr lang="en-US" sz="1200" dirty="0"/>
          </a:p>
        </p:txBody>
      </p:sp>
      <p:sp>
        <p:nvSpPr>
          <p:cNvPr id="8" name="Shape 6"/>
          <p:cNvSpPr/>
          <p:nvPr/>
        </p:nvSpPr>
        <p:spPr>
          <a:xfrm>
            <a:off x="6492240" y="2331720"/>
            <a:ext cx="1371600" cy="2377440"/>
          </a:xfrm>
          <a:prstGeom prst="rect">
            <a:avLst/>
          </a:prstGeom>
          <a:solidFill>
            <a:srgbClr val="D1FAE5"/>
          </a:solidFill>
          <a:ln w="12700">
            <a:solidFill>
              <a:srgbClr val="059669"/>
            </a:solidFill>
            <a:prstDash val="solid"/>
          </a:ln>
        </p:spPr>
      </p:sp>
      <p:sp>
        <p:nvSpPr>
          <p:cNvPr id="9" name="Text 7"/>
          <p:cNvSpPr/>
          <p:nvPr/>
        </p:nvSpPr>
        <p:spPr>
          <a:xfrm>
            <a:off x="6784848" y="4800600"/>
            <a:ext cx="777240" cy="182880"/>
          </a:xfrm>
          <a:prstGeom prst="rect">
            <a:avLst/>
          </a:prstGeom>
          <a:noFill/>
          <a:ln/>
        </p:spPr>
        <p:txBody>
          <a:bodyPr wrap="square" lIns="381" tIns="381" rIns="381" bIns="381" rtlCol="0" anchor="ctr">
            <a:normAutofit/>
          </a:bodyPr>
          <a:lstStyle/>
          <a:p>
            <a:pPr algn="ctr" indent="0" marL="0">
              <a:buNone/>
            </a:pPr>
            <a:r>
              <a:rPr lang="en-US" sz="1200" b="1" dirty="0">
                <a:solidFill>
                  <a:srgbClr val="059669"/>
                </a:solidFill>
              </a:rPr>
              <a:t>1536</a:t>
            </a:r>
            <a:endParaRPr lang="en-US" sz="1200" dirty="0"/>
          </a:p>
        </p:txBody>
      </p:sp>
      <p:sp>
        <p:nvSpPr>
          <p:cNvPr id="10" name="Text 8"/>
          <p:cNvSpPr/>
          <p:nvPr/>
        </p:nvSpPr>
        <p:spPr>
          <a:xfrm>
            <a:off x="8641080" y="1554480"/>
            <a:ext cx="2926080" cy="2743200"/>
          </a:xfrm>
          <a:prstGeom prst="rect">
            <a:avLst/>
          </a:prstGeom>
          <a:noFill/>
          <a:ln/>
        </p:spPr>
        <p:txBody>
          <a:bodyPr wrap="square" lIns="508" tIns="508" rIns="508" bIns="508" rtlCol="0" anchor="t">
            <a:normAutofit/>
          </a:bodyPr>
          <a:lstStyle/>
          <a:p>
            <a:r>
              <a:rPr lang="en-US" sz="1320" dirty="0">
                <a:solidFill>
                  <a:srgbClr val="111827"/>
                </a:solidFill>
              </a:rPr>
              <a:t>Higher dimensions can carry richer signals, but increase storage, memory bandwidth, and index size.
</a:t>
            </a:r>
            <a:endParaRPr lang="en-US" sz="1320" dirty="0"/>
          </a:p>
          <a:p>
            <a:r>
              <a:rPr lang="en-US" sz="1320" dirty="0">
                <a:solidFill>
                  <a:srgbClr val="111827"/>
                </a:solidFill>
              </a:rPr>
              <a:t>Use the dimension required by the chosen embedding model; the database index must match it.
</a:t>
            </a:r>
            <a:endParaRPr lang="en-US" sz="1320" dirty="0"/>
          </a:p>
          <a:p>
            <a:r>
              <a:rPr lang="en-US" sz="1320" dirty="0">
                <a:solidFill>
                  <a:srgbClr val="111827"/>
                </a:solidFill>
              </a:rPr>
              <a:t>Evaluate on your retrieval task: recall, precision, latency, cost, and multilingual/domain performance.</a:t>
            </a:r>
            <a:endParaRPr lang="en-US" sz="1320" dirty="0"/>
          </a:p>
        </p:txBody>
      </p:sp>
      <p:sp>
        <p:nvSpPr>
          <p:cNvPr id="11" name="Text 9"/>
          <p:cNvSpPr/>
          <p:nvPr/>
        </p:nvSpPr>
        <p:spPr>
          <a:xfrm>
            <a:off x="960120" y="5486400"/>
            <a:ext cx="9966960" cy="411480"/>
          </a:xfrm>
          <a:prstGeom prst="rect">
            <a:avLst/>
          </a:prstGeom>
          <a:noFill/>
          <a:ln/>
        </p:spPr>
        <p:txBody>
          <a:bodyPr wrap="square" lIns="254" tIns="254" rIns="254" bIns="254" rtlCol="0" anchor="ctr"/>
          <a:lstStyle/>
          <a:p>
            <a:pPr algn="ctr" indent="0" marL="0">
              <a:buNone/>
            </a:pPr>
            <a:r>
              <a:rPr lang="en-US" sz="1700" b="1" dirty="0">
                <a:solidFill>
                  <a:srgbClr val="111827"/>
                </a:solidFill>
              </a:rPr>
              <a:t>Rule: choose the model first, then design storage and index around its vector size.</a:t>
            </a:r>
            <a:endParaRPr lang="en-US" sz="17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Dense vs sparse embeddings</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Dense vectors capture semantic meaning; sparse vectors capture exact lexical evidence.</a:t>
            </a:r>
            <a:endParaRPr lang="en-US" sz="1150" dirty="0"/>
          </a:p>
        </p:txBody>
      </p:sp>
      <p:sp>
        <p:nvSpPr>
          <p:cNvPr id="4" name="Text 2"/>
          <p:cNvSpPr/>
          <p:nvPr/>
        </p:nvSpPr>
        <p:spPr>
          <a:xfrm>
            <a:off x="868680" y="1234440"/>
            <a:ext cx="4572000" cy="301752"/>
          </a:xfrm>
          <a:prstGeom prst="rect">
            <a:avLst/>
          </a:prstGeom>
          <a:solidFill>
            <a:srgbClr val="EDE9FE"/>
          </a:solidFill>
          <a:ln>
            <a:solidFill>
              <a:srgbClr val="EDE9FE"/>
            </a:solidFill>
          </a:ln>
        </p:spPr>
        <p:txBody>
          <a:bodyPr wrap="square" lIns="381" tIns="381" rIns="381" bIns="381" rtlCol="0" anchor="ctr"/>
          <a:lstStyle/>
          <a:p>
            <a:pPr algn="ctr" indent="0" marL="0">
              <a:buNone/>
            </a:pPr>
            <a:r>
              <a:rPr lang="en-US" sz="1250" b="1" dirty="0">
                <a:solidFill>
                  <a:srgbClr val="7C3AED"/>
                </a:solidFill>
              </a:rPr>
              <a:t>Dense vector</a:t>
            </a:r>
            <a:endParaRPr lang="en-US" sz="1250" dirty="0"/>
          </a:p>
        </p:txBody>
      </p:sp>
      <p:sp>
        <p:nvSpPr>
          <p:cNvPr id="5" name="Text 3"/>
          <p:cNvSpPr/>
          <p:nvPr/>
        </p:nvSpPr>
        <p:spPr>
          <a:xfrm>
            <a:off x="6446520" y="1234440"/>
            <a:ext cx="4572000" cy="301752"/>
          </a:xfrm>
          <a:prstGeom prst="rect">
            <a:avLst/>
          </a:prstGeom>
          <a:solidFill>
            <a:srgbClr val="DBEAFE"/>
          </a:solidFill>
          <a:ln>
            <a:solidFill>
              <a:srgbClr val="DBEAFE"/>
            </a:solidFill>
          </a:ln>
        </p:spPr>
        <p:txBody>
          <a:bodyPr wrap="square" lIns="381" tIns="381" rIns="381" bIns="381" rtlCol="0" anchor="ctr"/>
          <a:lstStyle/>
          <a:p>
            <a:pPr algn="ctr" indent="0" marL="0">
              <a:buNone/>
            </a:pPr>
            <a:r>
              <a:rPr lang="en-US" sz="1250" b="1" dirty="0">
                <a:solidFill>
                  <a:srgbClr val="2563EB"/>
                </a:solidFill>
              </a:rPr>
              <a:t>Sparse vector</a:t>
            </a:r>
            <a:endParaRPr lang="en-US" sz="1250" dirty="0"/>
          </a:p>
        </p:txBody>
      </p:sp>
      <p:sp>
        <p:nvSpPr>
          <p:cNvPr id="6" name="Text 4"/>
          <p:cNvSpPr/>
          <p:nvPr/>
        </p:nvSpPr>
        <p:spPr>
          <a:xfrm>
            <a:off x="1143000" y="2148840"/>
            <a:ext cx="3931920" cy="320040"/>
          </a:xfrm>
          <a:prstGeom prst="rect">
            <a:avLst/>
          </a:prstGeom>
          <a:noFill/>
          <a:ln/>
        </p:spPr>
        <p:txBody>
          <a:bodyPr wrap="square" lIns="0" tIns="0" rIns="0" bIns="0" rtlCol="0" anchor="ctr"/>
          <a:lstStyle/>
          <a:p>
            <a:pPr algn="ctr" indent="0" marL="0">
              <a:buNone/>
            </a:pPr>
            <a:r>
              <a:rPr lang="en-US" sz="1500" b="1" dirty="0">
                <a:solidFill>
                  <a:srgbClr val="111827"/>
                </a:solidFill>
              </a:rPr>
              <a:t>[0.12, -0.44, 0.08, 0.91, ...]</a:t>
            </a:r>
            <a:endParaRPr lang="en-US" sz="1500" dirty="0"/>
          </a:p>
        </p:txBody>
      </p:sp>
      <p:sp>
        <p:nvSpPr>
          <p:cNvPr id="7" name="Text 5"/>
          <p:cNvSpPr/>
          <p:nvPr/>
        </p:nvSpPr>
        <p:spPr>
          <a:xfrm>
            <a:off x="6629400" y="2148840"/>
            <a:ext cx="4206240" cy="320040"/>
          </a:xfrm>
          <a:prstGeom prst="rect">
            <a:avLst/>
          </a:prstGeom>
          <a:noFill/>
          <a:ln/>
        </p:spPr>
        <p:txBody>
          <a:bodyPr wrap="square" lIns="0" tIns="0" rIns="0" bIns="0" rtlCol="0" anchor="ctr"/>
          <a:lstStyle/>
          <a:p>
            <a:pPr algn="ctr" indent="0" marL="0">
              <a:buNone/>
            </a:pPr>
            <a:r>
              <a:rPr lang="en-US" sz="1450" b="1" dirty="0">
                <a:solidFill>
                  <a:srgbClr val="111827"/>
                </a:solidFill>
              </a:rPr>
              <a:t>{refund: 2.1, policy: 1.8, invoice: 0.7}</a:t>
            </a:r>
            <a:endParaRPr lang="en-US" sz="1450" dirty="0"/>
          </a:p>
        </p:txBody>
      </p:sp>
      <p:sp>
        <p:nvSpPr>
          <p:cNvPr id="8" name="Text 6"/>
          <p:cNvSpPr/>
          <p:nvPr/>
        </p:nvSpPr>
        <p:spPr>
          <a:xfrm>
            <a:off x="1005840" y="3703320"/>
            <a:ext cx="10149840" cy="1143000"/>
          </a:xfrm>
          <a:prstGeom prst="rect">
            <a:avLst/>
          </a:prstGeom>
          <a:noFill/>
          <a:ln/>
        </p:spPr>
        <p:txBody>
          <a:bodyPr wrap="square" lIns="508" tIns="508" rIns="508" bIns="508" rtlCol="0" anchor="t">
            <a:normAutofit/>
          </a:bodyPr>
          <a:lstStyle/>
          <a:p>
            <a:r>
              <a:rPr lang="en-US" sz="1450" dirty="0">
                <a:solidFill>
                  <a:srgbClr val="111827"/>
                </a:solidFill>
              </a:rPr>
              <a:t>Dense: good for synonyms, paraphrases, concepts, and cross-language search.
</a:t>
            </a:r>
            <a:endParaRPr lang="en-US" sz="1450" dirty="0"/>
          </a:p>
          <a:p>
            <a:r>
              <a:rPr lang="en-US" sz="1450" dirty="0">
                <a:solidFill>
                  <a:srgbClr val="111827"/>
                </a:solidFill>
              </a:rPr>
              <a:t>Sparse: good for exact terms, IDs, rare words, error codes, names, and legal/technical terminology.
</a:t>
            </a:r>
            <a:endParaRPr lang="en-US" sz="1450" dirty="0"/>
          </a:p>
          <a:p>
            <a:r>
              <a:rPr lang="en-US" sz="1450" dirty="0">
                <a:solidFill>
                  <a:srgbClr val="111827"/>
                </a:solidFill>
              </a:rPr>
              <a:t>Hybrid search combines both to reduce misses.</a:t>
            </a:r>
            <a:endParaRPr lang="en-US" sz="145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Hybrid Search: BM25 + Vector Search</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Hybrid search balances exact keyword evidence with semantic meaning.</a:t>
            </a:r>
            <a:endParaRPr lang="en-US" sz="1150" dirty="0"/>
          </a:p>
        </p:txBody>
      </p:sp>
      <p:sp>
        <p:nvSpPr>
          <p:cNvPr id="4" name="Text 2"/>
          <p:cNvSpPr/>
          <p:nvPr/>
        </p:nvSpPr>
        <p:spPr>
          <a:xfrm>
            <a:off x="1097280" y="1874520"/>
            <a:ext cx="1920240" cy="777240"/>
          </a:xfrm>
          <a:prstGeom prst="rect">
            <a:avLst/>
          </a:prstGeom>
          <a:solidFill>
            <a:srgbClr val="DBEAFE"/>
          </a:solidFill>
          <a:ln w="13970">
            <a:solidFill>
              <a:srgbClr val="2563EB"/>
            </a:solidFill>
          </a:ln>
        </p:spPr>
        <p:txBody>
          <a:bodyPr wrap="square" lIns="1016" tIns="1016" rIns="1016" bIns="1016" rtlCol="0" anchor="ctr">
            <a:normAutofit/>
          </a:bodyPr>
          <a:lstStyle/>
          <a:p>
            <a:pPr algn="ctr" indent="0" marL="0">
              <a:buNone/>
            </a:pPr>
            <a:r>
              <a:rPr lang="en-US" sz="1300" b="1" dirty="0">
                <a:solidFill>
                  <a:srgbClr val="111827"/>
                </a:solidFill>
              </a:rPr>
              <a:t>BM25</a:t>
            </a:r>
            <a:endParaRPr lang="en-US" sz="1300" dirty="0"/>
          </a:p>
          <a:p>
            <a:pPr algn="ctr" indent="0" marL="0">
              <a:buNone/>
            </a:pPr>
            <a:r>
              <a:rPr lang="en-US" sz="1300" b="1" dirty="0">
                <a:solidFill>
                  <a:srgbClr val="111827"/>
                </a:solidFill>
              </a:rPr>
              <a:t>keyword score</a:t>
            </a:r>
            <a:endParaRPr lang="en-US" sz="1300" dirty="0"/>
          </a:p>
        </p:txBody>
      </p:sp>
      <p:sp>
        <p:nvSpPr>
          <p:cNvPr id="5" name="Text 3"/>
          <p:cNvSpPr/>
          <p:nvPr/>
        </p:nvSpPr>
        <p:spPr>
          <a:xfrm>
            <a:off x="1097280" y="3337560"/>
            <a:ext cx="1920240" cy="777240"/>
          </a:xfrm>
          <a:prstGeom prst="rect">
            <a:avLst/>
          </a:prstGeom>
          <a:solidFill>
            <a:srgbClr val="EDE9FE"/>
          </a:solidFill>
          <a:ln w="13970">
            <a:solidFill>
              <a:srgbClr val="7C3AED"/>
            </a:solidFill>
          </a:ln>
        </p:spPr>
        <p:txBody>
          <a:bodyPr wrap="square" lIns="1016" tIns="1016" rIns="1016" bIns="1016" rtlCol="0" anchor="ctr">
            <a:normAutofit/>
          </a:bodyPr>
          <a:lstStyle/>
          <a:p>
            <a:pPr algn="ctr" indent="0" marL="0">
              <a:buNone/>
            </a:pPr>
            <a:r>
              <a:rPr lang="en-US" sz="1300" b="1" dirty="0">
                <a:solidFill>
                  <a:srgbClr val="111827"/>
                </a:solidFill>
              </a:rPr>
              <a:t>Vector</a:t>
            </a:r>
            <a:endParaRPr lang="en-US" sz="1300" dirty="0"/>
          </a:p>
          <a:p>
            <a:pPr algn="ctr" indent="0" marL="0">
              <a:buNone/>
            </a:pPr>
            <a:r>
              <a:rPr lang="en-US" sz="1300" b="1" dirty="0">
                <a:solidFill>
                  <a:srgbClr val="111827"/>
                </a:solidFill>
              </a:rPr>
              <a:t>similarity score</a:t>
            </a:r>
            <a:endParaRPr lang="en-US" sz="1300" dirty="0"/>
          </a:p>
        </p:txBody>
      </p:sp>
      <p:sp>
        <p:nvSpPr>
          <p:cNvPr id="6" name="Shape 4"/>
          <p:cNvSpPr/>
          <p:nvPr/>
        </p:nvSpPr>
        <p:spPr>
          <a:xfrm>
            <a:off x="3246120" y="2258568"/>
            <a:ext cx="1920240" cy="621792"/>
          </a:xfrm>
          <a:prstGeom prst="line">
            <a:avLst/>
          </a:prstGeom>
          <a:solidFill>
            <a:srgbClr val="FFFFFF">
              <a:alpha val="0"/>
            </a:srgbClr>
          </a:solidFill>
          <a:ln w="15240">
            <a:solidFill>
              <a:srgbClr val="CBD5E1"/>
            </a:solidFill>
            <a:prstDash val="solid"/>
            <a:headEnd type="none"/>
            <a:tailEnd type="triangle"/>
          </a:ln>
        </p:spPr>
      </p:sp>
      <p:sp>
        <p:nvSpPr>
          <p:cNvPr id="7" name="Shape 5"/>
          <p:cNvSpPr/>
          <p:nvPr/>
        </p:nvSpPr>
        <p:spPr>
          <a:xfrm>
            <a:off x="3246120" y="3730752"/>
            <a:ext cx="1920240" cy="-667512"/>
          </a:xfrm>
          <a:prstGeom prst="line">
            <a:avLst/>
          </a:prstGeom>
          <a:solidFill>
            <a:srgbClr val="FFFFFF">
              <a:alpha val="0"/>
            </a:srgbClr>
          </a:solidFill>
          <a:ln w="15240">
            <a:solidFill>
              <a:srgbClr val="CBD5E1"/>
            </a:solidFill>
            <a:prstDash val="solid"/>
            <a:headEnd type="none"/>
            <a:tailEnd type="triangle"/>
          </a:ln>
        </p:spPr>
      </p:sp>
      <p:sp>
        <p:nvSpPr>
          <p:cNvPr id="8" name="Text 6"/>
          <p:cNvSpPr/>
          <p:nvPr/>
        </p:nvSpPr>
        <p:spPr>
          <a:xfrm>
            <a:off x="5349240" y="2560320"/>
            <a:ext cx="2011680" cy="868680"/>
          </a:xfrm>
          <a:prstGeom prst="rect">
            <a:avLst/>
          </a:prstGeom>
          <a:solidFill>
            <a:srgbClr val="D1FAE5"/>
          </a:solidFill>
          <a:ln w="13970">
            <a:solidFill>
              <a:srgbClr val="059669"/>
            </a:solidFill>
          </a:ln>
        </p:spPr>
        <p:txBody>
          <a:bodyPr wrap="square" lIns="1016" tIns="1016" rIns="1016" bIns="1016" rtlCol="0" anchor="ctr">
            <a:normAutofit/>
          </a:bodyPr>
          <a:lstStyle/>
          <a:p>
            <a:pPr algn="ctr" indent="0" marL="0">
              <a:buNone/>
            </a:pPr>
            <a:r>
              <a:rPr lang="en-US" sz="1300" b="1" dirty="0">
                <a:solidFill>
                  <a:srgbClr val="111827"/>
                </a:solidFill>
              </a:rPr>
              <a:t>Score fusion</a:t>
            </a:r>
            <a:endParaRPr lang="en-US" sz="1300" dirty="0"/>
          </a:p>
          <a:p>
            <a:pPr algn="ctr" indent="0" marL="0">
              <a:buNone/>
            </a:pPr>
            <a:r>
              <a:rPr lang="en-US" sz="1300" b="1" dirty="0">
                <a:solidFill>
                  <a:srgbClr val="111827"/>
                </a:solidFill>
              </a:rPr>
              <a:t>/ reranking</a:t>
            </a:r>
            <a:endParaRPr lang="en-US" sz="1300" dirty="0"/>
          </a:p>
        </p:txBody>
      </p:sp>
      <p:sp>
        <p:nvSpPr>
          <p:cNvPr id="9" name="Shape 7"/>
          <p:cNvSpPr/>
          <p:nvPr/>
        </p:nvSpPr>
        <p:spPr>
          <a:xfrm>
            <a:off x="7543800" y="2971800"/>
            <a:ext cx="1371600" cy="0"/>
          </a:xfrm>
          <a:prstGeom prst="line">
            <a:avLst/>
          </a:prstGeom>
          <a:solidFill>
            <a:srgbClr val="FFFFFF">
              <a:alpha val="0"/>
            </a:srgbClr>
          </a:solidFill>
          <a:ln w="15240">
            <a:solidFill>
              <a:srgbClr val="CBD5E1"/>
            </a:solidFill>
            <a:prstDash val="solid"/>
            <a:headEnd type="none"/>
            <a:tailEnd type="triangle"/>
          </a:ln>
        </p:spPr>
      </p:sp>
      <p:sp>
        <p:nvSpPr>
          <p:cNvPr id="10" name="Text 8"/>
          <p:cNvSpPr/>
          <p:nvPr/>
        </p:nvSpPr>
        <p:spPr>
          <a:xfrm>
            <a:off x="9098280" y="2606040"/>
            <a:ext cx="1965960" cy="777240"/>
          </a:xfrm>
          <a:prstGeom prst="rect">
            <a:avLst/>
          </a:prstGeom>
          <a:solidFill>
            <a:srgbClr val="FFEDD5"/>
          </a:solidFill>
          <a:ln w="13970">
            <a:solidFill>
              <a:srgbClr val="EA580C"/>
            </a:solidFill>
          </a:ln>
        </p:spPr>
        <p:txBody>
          <a:bodyPr wrap="square" lIns="1016" tIns="1016" rIns="1016" bIns="1016" rtlCol="0" anchor="ctr">
            <a:normAutofit/>
          </a:bodyPr>
          <a:lstStyle/>
          <a:p>
            <a:pPr algn="ctr" indent="0" marL="0">
              <a:buNone/>
            </a:pPr>
            <a:r>
              <a:rPr lang="en-US" sz="1300" b="1" dirty="0">
                <a:solidFill>
                  <a:srgbClr val="111827"/>
                </a:solidFill>
              </a:rPr>
              <a:t>Final ranked</a:t>
            </a:r>
            <a:endParaRPr lang="en-US" sz="1300" dirty="0"/>
          </a:p>
          <a:p>
            <a:pPr algn="ctr" indent="0" marL="0">
              <a:buNone/>
            </a:pPr>
            <a:r>
              <a:rPr lang="en-US" sz="1300" b="1" dirty="0">
                <a:solidFill>
                  <a:srgbClr val="111827"/>
                </a:solidFill>
              </a:rPr>
              <a:t>results</a:t>
            </a:r>
            <a:endParaRPr lang="en-US" sz="1300" dirty="0"/>
          </a:p>
        </p:txBody>
      </p:sp>
      <p:sp>
        <p:nvSpPr>
          <p:cNvPr id="11" name="Text 9"/>
          <p:cNvSpPr/>
          <p:nvPr/>
        </p:nvSpPr>
        <p:spPr>
          <a:xfrm>
            <a:off x="1005840" y="4709160"/>
            <a:ext cx="10058400" cy="914400"/>
          </a:xfrm>
          <a:prstGeom prst="rect">
            <a:avLst/>
          </a:prstGeom>
          <a:noFill/>
          <a:ln/>
        </p:spPr>
        <p:txBody>
          <a:bodyPr wrap="square" lIns="508" tIns="508" rIns="508" bIns="508" rtlCol="0" anchor="t">
            <a:normAutofit/>
          </a:bodyPr>
          <a:lstStyle/>
          <a:p>
            <a:r>
              <a:rPr lang="en-US" sz="1380" dirty="0">
                <a:solidFill>
                  <a:srgbClr val="111827"/>
                </a:solidFill>
              </a:rPr>
              <a:t>BM25 helps when important exact words must appear.
</a:t>
            </a:r>
            <a:endParaRPr lang="en-US" sz="1380" dirty="0"/>
          </a:p>
          <a:p>
            <a:r>
              <a:rPr lang="en-US" sz="1380" dirty="0">
                <a:solidFill>
                  <a:srgbClr val="111827"/>
                </a:solidFill>
              </a:rPr>
              <a:t>Vector search helps when user vocabulary differs from document vocabulary.
</a:t>
            </a:r>
            <a:endParaRPr lang="en-US" sz="1380" dirty="0"/>
          </a:p>
          <a:p>
            <a:r>
              <a:rPr lang="en-US" sz="1380" dirty="0">
                <a:solidFill>
                  <a:srgbClr val="111827"/>
                </a:solidFill>
              </a:rPr>
              <a:t>Rerankers can improve final order by scoring query-document pairs more deeply.</a:t>
            </a:r>
            <a:endParaRPr lang="en-US" sz="138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How embeddings are trained</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Embedding models learn to place related items closer and unrelated items farther apart.</a:t>
            </a:r>
            <a:endParaRPr lang="en-US" sz="1150" dirty="0"/>
          </a:p>
        </p:txBody>
      </p:sp>
      <p:sp>
        <p:nvSpPr>
          <p:cNvPr id="4" name="Text 2"/>
          <p:cNvSpPr/>
          <p:nvPr/>
        </p:nvSpPr>
        <p:spPr>
          <a:xfrm>
            <a:off x="914400" y="1600200"/>
            <a:ext cx="2011680" cy="777240"/>
          </a:xfrm>
          <a:prstGeom prst="rect">
            <a:avLst/>
          </a:prstGeom>
          <a:solidFill>
            <a:srgbClr val="D1FAE5"/>
          </a:solidFill>
          <a:ln w="13970">
            <a:solidFill>
              <a:srgbClr val="059669"/>
            </a:solidFill>
          </a:ln>
        </p:spPr>
        <p:txBody>
          <a:bodyPr wrap="square" lIns="1016" tIns="1016" rIns="1016" bIns="1016" rtlCol="0" anchor="ctr">
            <a:normAutofit/>
          </a:bodyPr>
          <a:lstStyle/>
          <a:p>
            <a:pPr algn="ctr" indent="0" marL="0">
              <a:buNone/>
            </a:pPr>
            <a:r>
              <a:rPr lang="en-US" sz="1200" b="1" dirty="0">
                <a:solidFill>
                  <a:srgbClr val="111827"/>
                </a:solidFill>
              </a:rPr>
              <a:t>Positive pairs</a:t>
            </a:r>
            <a:endParaRPr lang="en-US" sz="1200" dirty="0"/>
          </a:p>
          <a:p>
            <a:pPr algn="ctr" indent="0" marL="0">
              <a:buNone/>
            </a:pPr>
            <a:r>
              <a:rPr lang="en-US" sz="1200" b="1" dirty="0">
                <a:solidFill>
                  <a:srgbClr val="111827"/>
                </a:solidFill>
              </a:rPr>
              <a:t>(question, answer)</a:t>
            </a:r>
            <a:endParaRPr lang="en-US" sz="1200" dirty="0"/>
          </a:p>
        </p:txBody>
      </p:sp>
      <p:sp>
        <p:nvSpPr>
          <p:cNvPr id="5" name="Text 3"/>
          <p:cNvSpPr/>
          <p:nvPr/>
        </p:nvSpPr>
        <p:spPr>
          <a:xfrm>
            <a:off x="914400" y="2971800"/>
            <a:ext cx="2011680" cy="777240"/>
          </a:xfrm>
          <a:prstGeom prst="rect">
            <a:avLst/>
          </a:prstGeom>
          <a:solidFill>
            <a:srgbClr val="FEE2E2"/>
          </a:solidFill>
          <a:ln w="13970">
            <a:solidFill>
              <a:srgbClr val="DC2626"/>
            </a:solidFill>
          </a:ln>
        </p:spPr>
        <p:txBody>
          <a:bodyPr wrap="square" lIns="1016" tIns="1016" rIns="1016" bIns="1016" rtlCol="0" anchor="ctr">
            <a:normAutofit/>
          </a:bodyPr>
          <a:lstStyle/>
          <a:p>
            <a:pPr algn="ctr" indent="0" marL="0">
              <a:buNone/>
            </a:pPr>
            <a:r>
              <a:rPr lang="en-US" sz="1140" b="1" dirty="0">
                <a:solidFill>
                  <a:srgbClr val="111827"/>
                </a:solidFill>
              </a:rPr>
              <a:t>Negative pairs</a:t>
            </a:r>
            <a:endParaRPr lang="en-US" sz="1140" dirty="0"/>
          </a:p>
          <a:p>
            <a:pPr algn="ctr" indent="0" marL="0">
              <a:buNone/>
            </a:pPr>
            <a:r>
              <a:rPr lang="en-US" sz="1140" b="1" dirty="0">
                <a:solidFill>
                  <a:srgbClr val="111827"/>
                </a:solidFill>
              </a:rPr>
              <a:t>(question, wrong answer)</a:t>
            </a:r>
            <a:endParaRPr lang="en-US" sz="1140" dirty="0"/>
          </a:p>
        </p:txBody>
      </p:sp>
      <p:sp>
        <p:nvSpPr>
          <p:cNvPr id="6" name="Shape 4"/>
          <p:cNvSpPr/>
          <p:nvPr/>
        </p:nvSpPr>
        <p:spPr>
          <a:xfrm>
            <a:off x="3154680" y="1975104"/>
            <a:ext cx="1508760" cy="630936"/>
          </a:xfrm>
          <a:prstGeom prst="line">
            <a:avLst/>
          </a:prstGeom>
          <a:solidFill>
            <a:srgbClr val="FFFFFF">
              <a:alpha val="0"/>
            </a:srgbClr>
          </a:solidFill>
          <a:ln w="15240">
            <a:solidFill>
              <a:srgbClr val="CBD5E1"/>
            </a:solidFill>
            <a:prstDash val="solid"/>
            <a:headEnd type="none"/>
            <a:tailEnd type="triangle"/>
          </a:ln>
        </p:spPr>
      </p:sp>
      <p:sp>
        <p:nvSpPr>
          <p:cNvPr id="7" name="Shape 5"/>
          <p:cNvSpPr/>
          <p:nvPr/>
        </p:nvSpPr>
        <p:spPr>
          <a:xfrm>
            <a:off x="3154680" y="3346704"/>
            <a:ext cx="1508760" cy="-557784"/>
          </a:xfrm>
          <a:prstGeom prst="line">
            <a:avLst/>
          </a:prstGeom>
          <a:solidFill>
            <a:srgbClr val="FFFFFF">
              <a:alpha val="0"/>
            </a:srgbClr>
          </a:solidFill>
          <a:ln w="15240">
            <a:solidFill>
              <a:srgbClr val="CBD5E1"/>
            </a:solidFill>
            <a:prstDash val="solid"/>
            <a:headEnd type="none"/>
            <a:tailEnd type="triangle"/>
          </a:ln>
        </p:spPr>
      </p:sp>
      <p:sp>
        <p:nvSpPr>
          <p:cNvPr id="8" name="Text 6"/>
          <p:cNvSpPr/>
          <p:nvPr/>
        </p:nvSpPr>
        <p:spPr>
          <a:xfrm>
            <a:off x="4846320" y="2331720"/>
            <a:ext cx="2286000" cy="868680"/>
          </a:xfrm>
          <a:prstGeom prst="rect">
            <a:avLst/>
          </a:prstGeom>
          <a:solidFill>
            <a:srgbClr val="EDE9FE"/>
          </a:solidFill>
          <a:ln w="13970">
            <a:solidFill>
              <a:srgbClr val="7C3AED"/>
            </a:solidFill>
          </a:ln>
        </p:spPr>
        <p:txBody>
          <a:bodyPr wrap="square" lIns="1016" tIns="1016" rIns="1016" bIns="1016" rtlCol="0" anchor="ctr">
            <a:normAutofit/>
          </a:bodyPr>
          <a:lstStyle/>
          <a:p>
            <a:pPr algn="ctr" indent="0" marL="0">
              <a:buNone/>
            </a:pPr>
            <a:r>
              <a:rPr lang="en-US" sz="1200" b="1" dirty="0">
                <a:solidFill>
                  <a:srgbClr val="111827"/>
                </a:solidFill>
              </a:rPr>
              <a:t>Training objective</a:t>
            </a:r>
            <a:endParaRPr lang="en-US" sz="1200" dirty="0"/>
          </a:p>
          <a:p>
            <a:pPr algn="ctr" indent="0" marL="0">
              <a:buNone/>
            </a:pPr>
            <a:r>
              <a:rPr lang="en-US" sz="1200" b="1" dirty="0">
                <a:solidFill>
                  <a:srgbClr val="111827"/>
                </a:solidFill>
              </a:rPr>
              <a:t>contrastive / ranking loss</a:t>
            </a:r>
            <a:endParaRPr lang="en-US" sz="1200" dirty="0"/>
          </a:p>
        </p:txBody>
      </p:sp>
      <p:sp>
        <p:nvSpPr>
          <p:cNvPr id="9" name="Shape 7"/>
          <p:cNvSpPr/>
          <p:nvPr/>
        </p:nvSpPr>
        <p:spPr>
          <a:xfrm>
            <a:off x="7315200" y="2761488"/>
            <a:ext cx="1234440" cy="0"/>
          </a:xfrm>
          <a:prstGeom prst="line">
            <a:avLst/>
          </a:prstGeom>
          <a:solidFill>
            <a:srgbClr val="FFFFFF">
              <a:alpha val="0"/>
            </a:srgbClr>
          </a:solidFill>
          <a:ln w="15240">
            <a:solidFill>
              <a:srgbClr val="CBD5E1"/>
            </a:solidFill>
            <a:prstDash val="solid"/>
            <a:headEnd type="none"/>
            <a:tailEnd type="triangle"/>
          </a:ln>
        </p:spPr>
      </p:sp>
      <p:sp>
        <p:nvSpPr>
          <p:cNvPr id="10" name="Text 8"/>
          <p:cNvSpPr/>
          <p:nvPr/>
        </p:nvSpPr>
        <p:spPr>
          <a:xfrm>
            <a:off x="8732520" y="2331720"/>
            <a:ext cx="2286000" cy="868680"/>
          </a:xfrm>
          <a:prstGeom prst="rect">
            <a:avLst/>
          </a:prstGeom>
          <a:solidFill>
            <a:srgbClr val="DBEAFE"/>
          </a:solidFill>
          <a:ln w="13970">
            <a:solidFill>
              <a:srgbClr val="2563EB"/>
            </a:solidFill>
          </a:ln>
        </p:spPr>
        <p:txBody>
          <a:bodyPr wrap="square" lIns="1016" tIns="1016" rIns="1016" bIns="1016" rtlCol="0" anchor="ctr">
            <a:normAutofit/>
          </a:bodyPr>
          <a:lstStyle/>
          <a:p>
            <a:pPr algn="ctr" indent="0" marL="0">
              <a:buNone/>
            </a:pPr>
            <a:r>
              <a:rPr lang="en-US" sz="1200" b="1" dirty="0">
                <a:solidFill>
                  <a:srgbClr val="111827"/>
                </a:solidFill>
              </a:rPr>
              <a:t>Embedding space</a:t>
            </a:r>
            <a:endParaRPr lang="en-US" sz="1200" dirty="0"/>
          </a:p>
          <a:p>
            <a:pPr algn="ctr" indent="0" marL="0">
              <a:buNone/>
            </a:pPr>
            <a:r>
              <a:rPr lang="en-US" sz="1200" b="1" dirty="0">
                <a:solidFill>
                  <a:srgbClr val="111827"/>
                </a:solidFill>
              </a:rPr>
              <a:t>clusters by meaning</a:t>
            </a:r>
            <a:endParaRPr lang="en-US" sz="1200" dirty="0"/>
          </a:p>
        </p:txBody>
      </p:sp>
      <p:sp>
        <p:nvSpPr>
          <p:cNvPr id="11" name="Text 9"/>
          <p:cNvSpPr/>
          <p:nvPr/>
        </p:nvSpPr>
        <p:spPr>
          <a:xfrm>
            <a:off x="914400" y="4709160"/>
            <a:ext cx="10241280" cy="914400"/>
          </a:xfrm>
          <a:prstGeom prst="rect">
            <a:avLst/>
          </a:prstGeom>
          <a:noFill/>
          <a:ln/>
        </p:spPr>
        <p:txBody>
          <a:bodyPr wrap="square" lIns="508" tIns="508" rIns="508" bIns="508" rtlCol="0" anchor="t">
            <a:normAutofit/>
          </a:bodyPr>
          <a:lstStyle/>
          <a:p>
            <a:r>
              <a:rPr lang="en-US" sz="1340" dirty="0">
                <a:solidFill>
                  <a:srgbClr val="111827"/>
                </a:solidFill>
              </a:rPr>
              <a:t>Training data teaches which items should be close: sentence pairs, click logs, labels, captions, code/doc pairs, etc.
</a:t>
            </a:r>
            <a:endParaRPr lang="en-US" sz="1340" dirty="0"/>
          </a:p>
          <a:p>
            <a:r>
              <a:rPr lang="en-US" sz="1340" dirty="0">
                <a:solidFill>
                  <a:srgbClr val="111827"/>
                </a:solidFill>
              </a:rPr>
              <a:t>The model updates its internal weights so similar examples have higher similarity scores.
</a:t>
            </a:r>
            <a:endParaRPr lang="en-US" sz="1340" dirty="0"/>
          </a:p>
          <a:p>
            <a:r>
              <a:rPr lang="en-US" sz="1340" dirty="0">
                <a:solidFill>
                  <a:srgbClr val="111827"/>
                </a:solidFill>
              </a:rPr>
              <a:t>Domain-specific fine-tuning can help when generic meaning is not enough.</a:t>
            </a:r>
            <a:endParaRPr lang="en-US" sz="134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How embeddings are used in AI models and RAG</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RAG uses vector search to bring relevant knowledge into the model prompt.</a:t>
            </a:r>
            <a:endParaRPr lang="en-US" sz="1150" dirty="0"/>
          </a:p>
        </p:txBody>
      </p:sp>
      <p:sp>
        <p:nvSpPr>
          <p:cNvPr id="4" name="Text 2"/>
          <p:cNvSpPr/>
          <p:nvPr/>
        </p:nvSpPr>
        <p:spPr>
          <a:xfrm>
            <a:off x="777240" y="2103120"/>
            <a:ext cx="1554480" cy="685800"/>
          </a:xfrm>
          <a:prstGeom prst="rect">
            <a:avLst/>
          </a:prstGeom>
          <a:solidFill>
            <a:srgbClr val="DBEAFE"/>
          </a:solidFill>
          <a:ln w="13970">
            <a:solidFill>
              <a:srgbClr val="2563EB"/>
            </a:solidFill>
          </a:ln>
        </p:spPr>
        <p:txBody>
          <a:bodyPr wrap="square" lIns="1016" tIns="1016" rIns="1016" bIns="1016" rtlCol="0" anchor="ctr">
            <a:normAutofit/>
          </a:bodyPr>
          <a:lstStyle/>
          <a:p>
            <a:pPr algn="ctr" indent="0" marL="0">
              <a:buNone/>
            </a:pPr>
            <a:r>
              <a:rPr lang="en-US" sz="1250" b="1" dirty="0">
                <a:solidFill>
                  <a:srgbClr val="111827"/>
                </a:solidFill>
              </a:rPr>
              <a:t>User question</a:t>
            </a:r>
            <a:endParaRPr lang="en-US" sz="1250" dirty="0"/>
          </a:p>
        </p:txBody>
      </p:sp>
      <p:sp>
        <p:nvSpPr>
          <p:cNvPr id="5" name="Shape 3"/>
          <p:cNvSpPr/>
          <p:nvPr/>
        </p:nvSpPr>
        <p:spPr>
          <a:xfrm>
            <a:off x="2514600" y="2450592"/>
            <a:ext cx="960120" cy="0"/>
          </a:xfrm>
          <a:prstGeom prst="line">
            <a:avLst/>
          </a:prstGeom>
          <a:solidFill>
            <a:srgbClr val="FFFFFF">
              <a:alpha val="0"/>
            </a:srgbClr>
          </a:solidFill>
          <a:ln w="15240">
            <a:solidFill>
              <a:srgbClr val="CBD5E1"/>
            </a:solidFill>
            <a:prstDash val="solid"/>
            <a:headEnd type="none"/>
            <a:tailEnd type="triangle"/>
          </a:ln>
        </p:spPr>
      </p:sp>
      <p:sp>
        <p:nvSpPr>
          <p:cNvPr id="6" name="Text 4"/>
          <p:cNvSpPr/>
          <p:nvPr/>
        </p:nvSpPr>
        <p:spPr>
          <a:xfrm>
            <a:off x="3657600" y="2103120"/>
            <a:ext cx="1554480" cy="685800"/>
          </a:xfrm>
          <a:prstGeom prst="rect">
            <a:avLst/>
          </a:prstGeom>
          <a:solidFill>
            <a:srgbClr val="EDE9FE"/>
          </a:solidFill>
          <a:ln w="13970">
            <a:solidFill>
              <a:srgbClr val="7C3AED"/>
            </a:solidFill>
          </a:ln>
        </p:spPr>
        <p:txBody>
          <a:bodyPr wrap="square" lIns="1016" tIns="1016" rIns="1016" bIns="1016" rtlCol="0" anchor="ctr">
            <a:normAutofit/>
          </a:bodyPr>
          <a:lstStyle/>
          <a:p>
            <a:pPr algn="ctr" indent="0" marL="0">
              <a:buNone/>
            </a:pPr>
            <a:r>
              <a:rPr lang="en-US" sz="1250" b="1" dirty="0">
                <a:solidFill>
                  <a:srgbClr val="111827"/>
                </a:solidFill>
              </a:rPr>
              <a:t>Embed query</a:t>
            </a:r>
            <a:endParaRPr lang="en-US" sz="1250" dirty="0"/>
          </a:p>
        </p:txBody>
      </p:sp>
      <p:sp>
        <p:nvSpPr>
          <p:cNvPr id="7" name="Shape 5"/>
          <p:cNvSpPr/>
          <p:nvPr/>
        </p:nvSpPr>
        <p:spPr>
          <a:xfrm>
            <a:off x="5394960" y="2450592"/>
            <a:ext cx="960120" cy="0"/>
          </a:xfrm>
          <a:prstGeom prst="line">
            <a:avLst/>
          </a:prstGeom>
          <a:solidFill>
            <a:srgbClr val="FFFFFF">
              <a:alpha val="0"/>
            </a:srgbClr>
          </a:solidFill>
          <a:ln w="15240">
            <a:solidFill>
              <a:srgbClr val="CBD5E1"/>
            </a:solidFill>
            <a:prstDash val="solid"/>
            <a:headEnd type="none"/>
            <a:tailEnd type="triangle"/>
          </a:ln>
        </p:spPr>
      </p:sp>
      <p:sp>
        <p:nvSpPr>
          <p:cNvPr id="8" name="Text 6"/>
          <p:cNvSpPr/>
          <p:nvPr/>
        </p:nvSpPr>
        <p:spPr>
          <a:xfrm>
            <a:off x="6537960" y="2103120"/>
            <a:ext cx="1691640" cy="685800"/>
          </a:xfrm>
          <a:prstGeom prst="rect">
            <a:avLst/>
          </a:prstGeom>
          <a:solidFill>
            <a:srgbClr val="D1FAE5"/>
          </a:solidFill>
          <a:ln w="13970">
            <a:solidFill>
              <a:srgbClr val="059669"/>
            </a:solidFill>
          </a:ln>
        </p:spPr>
        <p:txBody>
          <a:bodyPr wrap="square" lIns="1016" tIns="1016" rIns="1016" bIns="1016" rtlCol="0" anchor="ctr">
            <a:normAutofit/>
          </a:bodyPr>
          <a:lstStyle/>
          <a:p>
            <a:pPr algn="ctr" indent="0" marL="0">
              <a:buNone/>
            </a:pPr>
            <a:r>
              <a:rPr lang="en-US" sz="1250" b="1" dirty="0">
                <a:solidFill>
                  <a:srgbClr val="111827"/>
                </a:solidFill>
              </a:rPr>
              <a:t>Retrieve chunks</a:t>
            </a:r>
            <a:endParaRPr lang="en-US" sz="1250" dirty="0"/>
          </a:p>
        </p:txBody>
      </p:sp>
      <p:sp>
        <p:nvSpPr>
          <p:cNvPr id="9" name="Shape 7"/>
          <p:cNvSpPr/>
          <p:nvPr/>
        </p:nvSpPr>
        <p:spPr>
          <a:xfrm>
            <a:off x="8412480" y="2450592"/>
            <a:ext cx="960120" cy="0"/>
          </a:xfrm>
          <a:prstGeom prst="line">
            <a:avLst/>
          </a:prstGeom>
          <a:solidFill>
            <a:srgbClr val="FFFFFF">
              <a:alpha val="0"/>
            </a:srgbClr>
          </a:solidFill>
          <a:ln w="15240">
            <a:solidFill>
              <a:srgbClr val="CBD5E1"/>
            </a:solidFill>
            <a:prstDash val="solid"/>
            <a:headEnd type="none"/>
            <a:tailEnd type="triangle"/>
          </a:ln>
        </p:spPr>
      </p:sp>
      <p:sp>
        <p:nvSpPr>
          <p:cNvPr id="10" name="Text 8"/>
          <p:cNvSpPr/>
          <p:nvPr/>
        </p:nvSpPr>
        <p:spPr>
          <a:xfrm>
            <a:off x="9555480" y="2011680"/>
            <a:ext cx="1828800" cy="822960"/>
          </a:xfrm>
          <a:prstGeom prst="rect">
            <a:avLst/>
          </a:prstGeom>
          <a:solidFill>
            <a:srgbClr val="FFEDD5"/>
          </a:solidFill>
          <a:ln w="13970">
            <a:solidFill>
              <a:srgbClr val="EA580C"/>
            </a:solidFill>
          </a:ln>
        </p:spPr>
        <p:txBody>
          <a:bodyPr wrap="square" lIns="1016" tIns="1016" rIns="1016" bIns="1016" rtlCol="0" anchor="ctr">
            <a:normAutofit/>
          </a:bodyPr>
          <a:lstStyle/>
          <a:p>
            <a:pPr algn="ctr" indent="0" marL="0">
              <a:buNone/>
            </a:pPr>
            <a:r>
              <a:rPr lang="en-US" sz="1230" b="1" dirty="0">
                <a:solidFill>
                  <a:srgbClr val="111827"/>
                </a:solidFill>
              </a:rPr>
              <a:t>LLM answer</a:t>
            </a:r>
            <a:endParaRPr lang="en-US" sz="1230" dirty="0"/>
          </a:p>
          <a:p>
            <a:pPr algn="ctr" indent="0" marL="0">
              <a:buNone/>
            </a:pPr>
            <a:r>
              <a:rPr lang="en-US" sz="1230" b="1" dirty="0">
                <a:solidFill>
                  <a:srgbClr val="111827"/>
                </a:solidFill>
              </a:rPr>
              <a:t>with context</a:t>
            </a:r>
            <a:endParaRPr lang="en-US" sz="1230" dirty="0"/>
          </a:p>
        </p:txBody>
      </p:sp>
      <p:sp>
        <p:nvSpPr>
          <p:cNvPr id="11" name="Text 9"/>
          <p:cNvSpPr/>
          <p:nvPr/>
        </p:nvSpPr>
        <p:spPr>
          <a:xfrm>
            <a:off x="960120" y="4023360"/>
            <a:ext cx="10149840" cy="1097280"/>
          </a:xfrm>
          <a:prstGeom prst="rect">
            <a:avLst/>
          </a:prstGeom>
          <a:noFill/>
          <a:ln/>
        </p:spPr>
        <p:txBody>
          <a:bodyPr wrap="square" lIns="508" tIns="508" rIns="508" bIns="508" rtlCol="0" anchor="t">
            <a:normAutofit/>
          </a:bodyPr>
          <a:lstStyle/>
          <a:p>
            <a:r>
              <a:rPr lang="en-US" sz="1400" dirty="0">
                <a:solidFill>
                  <a:srgbClr val="111827"/>
                </a:solidFill>
              </a:rPr>
              <a:t>RAG reduces hallucination risk by grounding answers in retrieved content.
</a:t>
            </a:r>
            <a:endParaRPr lang="en-US" sz="1400" dirty="0"/>
          </a:p>
          <a:p>
            <a:r>
              <a:rPr lang="en-US" sz="1400" dirty="0">
                <a:solidFill>
                  <a:srgbClr val="111827"/>
                </a:solidFill>
              </a:rPr>
              <a:t>Embeddings can also power recommendations, deduplication, clustering, anomaly detection, and semantic routing.
</a:t>
            </a:r>
            <a:endParaRPr lang="en-US" sz="1400" dirty="0"/>
          </a:p>
          <a:p>
            <a:r>
              <a:rPr lang="en-US" sz="1400" dirty="0">
                <a:solidFill>
                  <a:srgbClr val="111827"/>
                </a:solidFill>
              </a:rPr>
              <a:t>Quality depends on retrieval: the LLM cannot use context that was never retrieved.</a:t>
            </a:r>
            <a:endParaRPr lang="en-US" sz="14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How vector DBs help build RAG applications</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A vector DB is the retrieval backbone behind scalable enterprise RAG.</a:t>
            </a:r>
            <a:endParaRPr lang="en-US" sz="1150" dirty="0"/>
          </a:p>
        </p:txBody>
      </p:sp>
      <p:sp>
        <p:nvSpPr>
          <p:cNvPr id="4" name="Text 2"/>
          <p:cNvSpPr/>
          <p:nvPr/>
        </p:nvSpPr>
        <p:spPr>
          <a:xfrm>
            <a:off x="822960" y="1234440"/>
            <a:ext cx="3383280" cy="301752"/>
          </a:xfrm>
          <a:prstGeom prst="rect">
            <a:avLst/>
          </a:prstGeom>
          <a:solidFill>
            <a:srgbClr val="DBEAFE"/>
          </a:solidFill>
          <a:ln>
            <a:solidFill>
              <a:srgbClr val="DBEAFE"/>
            </a:solidFill>
          </a:ln>
        </p:spPr>
        <p:txBody>
          <a:bodyPr wrap="square" lIns="381" tIns="381" rIns="381" bIns="381" rtlCol="0" anchor="ctr"/>
          <a:lstStyle/>
          <a:p>
            <a:pPr algn="ctr" indent="0" marL="0">
              <a:buNone/>
            </a:pPr>
            <a:r>
              <a:rPr lang="en-US" sz="1250" b="1" dirty="0">
                <a:solidFill>
                  <a:srgbClr val="2563EB"/>
                </a:solidFill>
              </a:rPr>
              <a:t>Capabilities</a:t>
            </a:r>
            <a:endParaRPr lang="en-US" sz="1250" dirty="0"/>
          </a:p>
        </p:txBody>
      </p:sp>
      <p:sp>
        <p:nvSpPr>
          <p:cNvPr id="5" name="Text 3"/>
          <p:cNvSpPr/>
          <p:nvPr/>
        </p:nvSpPr>
        <p:spPr>
          <a:xfrm>
            <a:off x="4572000" y="1234440"/>
            <a:ext cx="6629400" cy="301752"/>
          </a:xfrm>
          <a:prstGeom prst="rect">
            <a:avLst/>
          </a:prstGeom>
          <a:solidFill>
            <a:srgbClr val="D1FAE5"/>
          </a:solidFill>
          <a:ln>
            <a:solidFill>
              <a:srgbClr val="D1FAE5"/>
            </a:solidFill>
          </a:ln>
        </p:spPr>
        <p:txBody>
          <a:bodyPr wrap="square" lIns="381" tIns="381" rIns="381" bIns="381" rtlCol="0" anchor="ctr"/>
          <a:lstStyle/>
          <a:p>
            <a:pPr algn="ctr" indent="0" marL="0">
              <a:buNone/>
            </a:pPr>
            <a:r>
              <a:rPr lang="en-US" sz="1250" b="1" dirty="0">
                <a:solidFill>
                  <a:srgbClr val="059669"/>
                </a:solidFill>
              </a:rPr>
              <a:t>Why it matters for RAG</a:t>
            </a:r>
            <a:endParaRPr lang="en-US" sz="1250" dirty="0"/>
          </a:p>
        </p:txBody>
      </p:sp>
      <p:sp>
        <p:nvSpPr>
          <p:cNvPr id="6" name="Text 4"/>
          <p:cNvSpPr/>
          <p:nvPr/>
        </p:nvSpPr>
        <p:spPr>
          <a:xfrm>
            <a:off x="1005840" y="1828800"/>
            <a:ext cx="2926080" cy="256032"/>
          </a:xfrm>
          <a:prstGeom prst="rect">
            <a:avLst/>
          </a:prstGeom>
          <a:noFill/>
          <a:ln/>
        </p:spPr>
        <p:txBody>
          <a:bodyPr wrap="square" lIns="381" tIns="381" rIns="381" bIns="381" rtlCol="0" anchor="ctr">
            <a:normAutofit/>
          </a:bodyPr>
          <a:lstStyle/>
          <a:p>
            <a:pPr algn="l" indent="0" marL="0">
              <a:buNone/>
            </a:pPr>
            <a:r>
              <a:rPr lang="en-US" sz="1250" b="1" dirty="0">
                <a:solidFill>
                  <a:srgbClr val="4B5563"/>
                </a:solidFill>
              </a:rPr>
              <a:t>Fast top-K search</a:t>
            </a:r>
            <a:endParaRPr lang="en-US" sz="1250" dirty="0"/>
          </a:p>
        </p:txBody>
      </p:sp>
      <p:sp>
        <p:nvSpPr>
          <p:cNvPr id="7" name="Text 5"/>
          <p:cNvSpPr/>
          <p:nvPr/>
        </p:nvSpPr>
        <p:spPr>
          <a:xfrm>
            <a:off x="4800600" y="1828800"/>
            <a:ext cx="5852160" cy="256032"/>
          </a:xfrm>
          <a:prstGeom prst="rect">
            <a:avLst/>
          </a:prstGeom>
          <a:noFill/>
          <a:ln/>
        </p:spPr>
        <p:txBody>
          <a:bodyPr wrap="square" lIns="381" tIns="381" rIns="381" bIns="381" rtlCol="0" anchor="ctr">
            <a:normAutofit/>
          </a:bodyPr>
          <a:lstStyle/>
          <a:p>
            <a:pPr algn="l" indent="0" marL="0">
              <a:buNone/>
            </a:pPr>
            <a:r>
              <a:rPr lang="en-US" sz="1230" dirty="0">
                <a:solidFill>
                  <a:srgbClr val="4B5563"/>
                </a:solidFill>
              </a:rPr>
              <a:t>Keeps answer latency acceptable even as content grows.</a:t>
            </a:r>
            <a:endParaRPr lang="en-US" sz="1230" dirty="0"/>
          </a:p>
        </p:txBody>
      </p:sp>
      <p:sp>
        <p:nvSpPr>
          <p:cNvPr id="8" name="Text 6"/>
          <p:cNvSpPr/>
          <p:nvPr/>
        </p:nvSpPr>
        <p:spPr>
          <a:xfrm>
            <a:off x="1005840" y="2606040"/>
            <a:ext cx="2926080" cy="256032"/>
          </a:xfrm>
          <a:prstGeom prst="rect">
            <a:avLst/>
          </a:prstGeom>
          <a:noFill/>
          <a:ln/>
        </p:spPr>
        <p:txBody>
          <a:bodyPr wrap="square" lIns="381" tIns="381" rIns="381" bIns="381" rtlCol="0" anchor="ctr">
            <a:normAutofit/>
          </a:bodyPr>
          <a:lstStyle/>
          <a:p>
            <a:pPr algn="l" indent="0" marL="0">
              <a:buNone/>
            </a:pPr>
            <a:r>
              <a:rPr lang="en-US" sz="1250" b="1" dirty="0">
                <a:solidFill>
                  <a:srgbClr val="4B5563"/>
                </a:solidFill>
              </a:rPr>
              <a:t>Metadata filters</a:t>
            </a:r>
            <a:endParaRPr lang="en-US" sz="1250" dirty="0"/>
          </a:p>
        </p:txBody>
      </p:sp>
      <p:sp>
        <p:nvSpPr>
          <p:cNvPr id="9" name="Text 7"/>
          <p:cNvSpPr/>
          <p:nvPr/>
        </p:nvSpPr>
        <p:spPr>
          <a:xfrm>
            <a:off x="4800600" y="2606040"/>
            <a:ext cx="5852160" cy="256032"/>
          </a:xfrm>
          <a:prstGeom prst="rect">
            <a:avLst/>
          </a:prstGeom>
          <a:noFill/>
          <a:ln/>
        </p:spPr>
        <p:txBody>
          <a:bodyPr wrap="square" lIns="381" tIns="381" rIns="381" bIns="381" rtlCol="0" anchor="ctr">
            <a:normAutofit/>
          </a:bodyPr>
          <a:lstStyle/>
          <a:p>
            <a:pPr algn="l" indent="0" marL="0">
              <a:buNone/>
            </a:pPr>
            <a:r>
              <a:rPr lang="en-US" sz="1230" dirty="0">
                <a:solidFill>
                  <a:srgbClr val="4B5563"/>
                </a:solidFill>
              </a:rPr>
              <a:t>Enforces product, region, tenant, and permission constraints.</a:t>
            </a:r>
            <a:endParaRPr lang="en-US" sz="1230" dirty="0"/>
          </a:p>
        </p:txBody>
      </p:sp>
      <p:sp>
        <p:nvSpPr>
          <p:cNvPr id="10" name="Text 8"/>
          <p:cNvSpPr/>
          <p:nvPr/>
        </p:nvSpPr>
        <p:spPr>
          <a:xfrm>
            <a:off x="1005840" y="3383280"/>
            <a:ext cx="2926080" cy="256032"/>
          </a:xfrm>
          <a:prstGeom prst="rect">
            <a:avLst/>
          </a:prstGeom>
          <a:noFill/>
          <a:ln/>
        </p:spPr>
        <p:txBody>
          <a:bodyPr wrap="square" lIns="381" tIns="381" rIns="381" bIns="381" rtlCol="0" anchor="ctr">
            <a:normAutofit/>
          </a:bodyPr>
          <a:lstStyle/>
          <a:p>
            <a:pPr algn="l" indent="0" marL="0">
              <a:buNone/>
            </a:pPr>
            <a:r>
              <a:rPr lang="en-US" sz="1250" b="1" dirty="0">
                <a:solidFill>
                  <a:srgbClr val="4B5563"/>
                </a:solidFill>
              </a:rPr>
              <a:t>Incremental updates</a:t>
            </a:r>
            <a:endParaRPr lang="en-US" sz="1250" dirty="0"/>
          </a:p>
        </p:txBody>
      </p:sp>
      <p:sp>
        <p:nvSpPr>
          <p:cNvPr id="11" name="Text 9"/>
          <p:cNvSpPr/>
          <p:nvPr/>
        </p:nvSpPr>
        <p:spPr>
          <a:xfrm>
            <a:off x="4800600" y="3383280"/>
            <a:ext cx="5852160" cy="256032"/>
          </a:xfrm>
          <a:prstGeom prst="rect">
            <a:avLst/>
          </a:prstGeom>
          <a:noFill/>
          <a:ln/>
        </p:spPr>
        <p:txBody>
          <a:bodyPr wrap="square" lIns="381" tIns="381" rIns="381" bIns="381" rtlCol="0" anchor="ctr">
            <a:normAutofit/>
          </a:bodyPr>
          <a:lstStyle/>
          <a:p>
            <a:pPr algn="l" indent="0" marL="0">
              <a:buNone/>
            </a:pPr>
            <a:r>
              <a:rPr lang="en-US" sz="1230" dirty="0">
                <a:solidFill>
                  <a:srgbClr val="4B5563"/>
                </a:solidFill>
              </a:rPr>
              <a:t>New documents can be indexed without rebuilding everything in many systems.</a:t>
            </a:r>
            <a:endParaRPr lang="en-US" sz="1230" dirty="0"/>
          </a:p>
        </p:txBody>
      </p:sp>
      <p:sp>
        <p:nvSpPr>
          <p:cNvPr id="12" name="Text 10"/>
          <p:cNvSpPr/>
          <p:nvPr/>
        </p:nvSpPr>
        <p:spPr>
          <a:xfrm>
            <a:off x="1005840" y="4160520"/>
            <a:ext cx="2926080" cy="256032"/>
          </a:xfrm>
          <a:prstGeom prst="rect">
            <a:avLst/>
          </a:prstGeom>
          <a:noFill/>
          <a:ln/>
        </p:spPr>
        <p:txBody>
          <a:bodyPr wrap="square" lIns="381" tIns="381" rIns="381" bIns="381" rtlCol="0" anchor="ctr">
            <a:normAutofit/>
          </a:bodyPr>
          <a:lstStyle/>
          <a:p>
            <a:pPr algn="l" indent="0" marL="0">
              <a:buNone/>
            </a:pPr>
            <a:r>
              <a:rPr lang="en-US" sz="1250" b="1" dirty="0">
                <a:solidFill>
                  <a:srgbClr val="4B5563"/>
                </a:solidFill>
              </a:rPr>
              <a:t>Hybrid and reranking</a:t>
            </a:r>
            <a:endParaRPr lang="en-US" sz="1250" dirty="0"/>
          </a:p>
        </p:txBody>
      </p:sp>
      <p:sp>
        <p:nvSpPr>
          <p:cNvPr id="13" name="Text 11"/>
          <p:cNvSpPr/>
          <p:nvPr/>
        </p:nvSpPr>
        <p:spPr>
          <a:xfrm>
            <a:off x="4800600" y="4160520"/>
            <a:ext cx="5852160" cy="256032"/>
          </a:xfrm>
          <a:prstGeom prst="rect">
            <a:avLst/>
          </a:prstGeom>
          <a:noFill/>
          <a:ln/>
        </p:spPr>
        <p:txBody>
          <a:bodyPr wrap="square" lIns="381" tIns="381" rIns="381" bIns="381" rtlCol="0" anchor="ctr">
            <a:normAutofit/>
          </a:bodyPr>
          <a:lstStyle/>
          <a:p>
            <a:pPr algn="l" indent="0" marL="0">
              <a:buNone/>
            </a:pPr>
            <a:r>
              <a:rPr lang="en-US" sz="1230" dirty="0">
                <a:solidFill>
                  <a:srgbClr val="4B5563"/>
                </a:solidFill>
              </a:rPr>
              <a:t>Improves recall and ordering for mixed keyword + semantic queries.</a:t>
            </a:r>
            <a:endParaRPr lang="en-US" sz="1230" dirty="0"/>
          </a:p>
        </p:txBody>
      </p:sp>
      <p:sp>
        <p:nvSpPr>
          <p:cNvPr id="14" name="Text 12"/>
          <p:cNvSpPr/>
          <p:nvPr/>
        </p:nvSpPr>
        <p:spPr>
          <a:xfrm>
            <a:off x="1097280" y="5349240"/>
            <a:ext cx="9692640" cy="411480"/>
          </a:xfrm>
          <a:prstGeom prst="rect">
            <a:avLst/>
          </a:prstGeom>
          <a:noFill/>
          <a:ln/>
        </p:spPr>
        <p:txBody>
          <a:bodyPr wrap="square" lIns="254" tIns="254" rIns="254" bIns="254" rtlCol="0" anchor="ctr"/>
          <a:lstStyle/>
          <a:p>
            <a:pPr algn="ctr" indent="0" marL="0">
              <a:buNone/>
            </a:pPr>
            <a:r>
              <a:rPr lang="en-US" sz="1700" b="1" dirty="0">
                <a:solidFill>
                  <a:srgbClr val="111827"/>
                </a:solidFill>
              </a:rPr>
              <a:t>RAG success = ingestion quality × retrieval quality × generation quality × governance.</a:t>
            </a:r>
            <a:endParaRPr lang="en-US" sz="17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Evaluation: how to know search is good</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Measure retrieval using realistic queries and expected results.</a:t>
            </a:r>
            <a:endParaRPr lang="en-US" sz="1150" dirty="0"/>
          </a:p>
        </p:txBody>
      </p:sp>
      <p:sp>
        <p:nvSpPr>
          <p:cNvPr id="4" name="Text 2"/>
          <p:cNvSpPr/>
          <p:nvPr/>
        </p:nvSpPr>
        <p:spPr>
          <a:xfrm>
            <a:off x="914400" y="1920240"/>
            <a:ext cx="1920240" cy="777240"/>
          </a:xfrm>
          <a:prstGeom prst="rect">
            <a:avLst/>
          </a:prstGeom>
          <a:solidFill>
            <a:srgbClr val="DBEAFE"/>
          </a:solidFill>
          <a:ln w="13970">
            <a:solidFill>
              <a:srgbClr val="2563EB"/>
            </a:solidFill>
          </a:ln>
        </p:spPr>
        <p:txBody>
          <a:bodyPr wrap="square" lIns="1016" tIns="1016" rIns="1016" bIns="1016" rtlCol="0" anchor="ctr">
            <a:normAutofit/>
          </a:bodyPr>
          <a:lstStyle/>
          <a:p>
            <a:pPr algn="ctr" indent="0" marL="0">
              <a:buNone/>
            </a:pPr>
            <a:r>
              <a:rPr lang="en-US" sz="1200" b="1" dirty="0">
                <a:solidFill>
                  <a:srgbClr val="111827"/>
                </a:solidFill>
              </a:rPr>
              <a:t>Query set</a:t>
            </a:r>
            <a:endParaRPr lang="en-US" sz="1200" dirty="0"/>
          </a:p>
          <a:p>
            <a:pPr algn="ctr" indent="0" marL="0">
              <a:buNone/>
            </a:pPr>
            <a:r>
              <a:rPr lang="en-US" sz="1200" b="1" dirty="0">
                <a:solidFill>
                  <a:srgbClr val="111827"/>
                </a:solidFill>
              </a:rPr>
              <a:t>real user questions</a:t>
            </a:r>
            <a:endParaRPr lang="en-US" sz="1200" dirty="0"/>
          </a:p>
        </p:txBody>
      </p:sp>
      <p:sp>
        <p:nvSpPr>
          <p:cNvPr id="5" name="Shape 3"/>
          <p:cNvSpPr/>
          <p:nvPr/>
        </p:nvSpPr>
        <p:spPr>
          <a:xfrm>
            <a:off x="3035808" y="2304288"/>
            <a:ext cx="1124712" cy="0"/>
          </a:xfrm>
          <a:prstGeom prst="line">
            <a:avLst/>
          </a:prstGeom>
          <a:solidFill>
            <a:srgbClr val="FFFFFF">
              <a:alpha val="0"/>
            </a:srgbClr>
          </a:solidFill>
          <a:ln w="15240">
            <a:solidFill>
              <a:srgbClr val="CBD5E1"/>
            </a:solidFill>
            <a:prstDash val="solid"/>
            <a:headEnd type="none"/>
            <a:tailEnd type="triangle"/>
          </a:ln>
        </p:spPr>
      </p:sp>
      <p:sp>
        <p:nvSpPr>
          <p:cNvPr id="6" name="Text 4"/>
          <p:cNvSpPr/>
          <p:nvPr/>
        </p:nvSpPr>
        <p:spPr>
          <a:xfrm>
            <a:off x="4343400" y="1920240"/>
            <a:ext cx="2011680" cy="777240"/>
          </a:xfrm>
          <a:prstGeom prst="rect">
            <a:avLst/>
          </a:prstGeom>
          <a:solidFill>
            <a:srgbClr val="D1FAE5"/>
          </a:solidFill>
          <a:ln w="13970">
            <a:solidFill>
              <a:srgbClr val="059669"/>
            </a:solidFill>
          </a:ln>
        </p:spPr>
        <p:txBody>
          <a:bodyPr wrap="square" lIns="1016" tIns="1016" rIns="1016" bIns="1016" rtlCol="0" anchor="ctr">
            <a:normAutofit/>
          </a:bodyPr>
          <a:lstStyle/>
          <a:p>
            <a:pPr algn="ctr" indent="0" marL="0">
              <a:buNone/>
            </a:pPr>
            <a:r>
              <a:rPr lang="en-US" sz="1200" b="1" dirty="0">
                <a:solidFill>
                  <a:srgbClr val="111827"/>
                </a:solidFill>
              </a:rPr>
              <a:t>Ground truth</a:t>
            </a:r>
            <a:endParaRPr lang="en-US" sz="1200" dirty="0"/>
          </a:p>
          <a:p>
            <a:pPr algn="ctr" indent="0" marL="0">
              <a:buNone/>
            </a:pPr>
            <a:r>
              <a:rPr lang="en-US" sz="1200" b="1" dirty="0">
                <a:solidFill>
                  <a:srgbClr val="111827"/>
                </a:solidFill>
              </a:rPr>
              <a:t>relevant docs/chunks</a:t>
            </a:r>
            <a:endParaRPr lang="en-US" sz="1200" dirty="0"/>
          </a:p>
        </p:txBody>
      </p:sp>
      <p:sp>
        <p:nvSpPr>
          <p:cNvPr id="7" name="Shape 5"/>
          <p:cNvSpPr/>
          <p:nvPr/>
        </p:nvSpPr>
        <p:spPr>
          <a:xfrm>
            <a:off x="6537960" y="2304288"/>
            <a:ext cx="1097280" cy="0"/>
          </a:xfrm>
          <a:prstGeom prst="line">
            <a:avLst/>
          </a:prstGeom>
          <a:solidFill>
            <a:srgbClr val="FFFFFF">
              <a:alpha val="0"/>
            </a:srgbClr>
          </a:solidFill>
          <a:ln w="15240">
            <a:solidFill>
              <a:srgbClr val="CBD5E1"/>
            </a:solidFill>
            <a:prstDash val="solid"/>
            <a:headEnd type="none"/>
            <a:tailEnd type="triangle"/>
          </a:ln>
        </p:spPr>
      </p:sp>
      <p:sp>
        <p:nvSpPr>
          <p:cNvPr id="8" name="Text 6"/>
          <p:cNvSpPr/>
          <p:nvPr/>
        </p:nvSpPr>
        <p:spPr>
          <a:xfrm>
            <a:off x="7818120" y="1920240"/>
            <a:ext cx="1828800" cy="777240"/>
          </a:xfrm>
          <a:prstGeom prst="rect">
            <a:avLst/>
          </a:prstGeom>
          <a:solidFill>
            <a:srgbClr val="EDE9FE"/>
          </a:solidFill>
          <a:ln w="13970">
            <a:solidFill>
              <a:srgbClr val="7C3AED"/>
            </a:solidFill>
          </a:ln>
        </p:spPr>
        <p:txBody>
          <a:bodyPr wrap="square" lIns="1016" tIns="1016" rIns="1016" bIns="1016" rtlCol="0" anchor="ctr">
            <a:normAutofit/>
          </a:bodyPr>
          <a:lstStyle/>
          <a:p>
            <a:pPr algn="ctr" indent="0" marL="0">
              <a:buNone/>
            </a:pPr>
            <a:r>
              <a:rPr lang="en-US" sz="1200" b="1" dirty="0">
                <a:solidFill>
                  <a:srgbClr val="111827"/>
                </a:solidFill>
              </a:rPr>
              <a:t>Measure</a:t>
            </a:r>
            <a:endParaRPr lang="en-US" sz="1200" dirty="0"/>
          </a:p>
          <a:p>
            <a:pPr algn="ctr" indent="0" marL="0">
              <a:buNone/>
            </a:pPr>
            <a:r>
              <a:rPr lang="en-US" sz="1200" b="1" dirty="0">
                <a:solidFill>
                  <a:srgbClr val="111827"/>
                </a:solidFill>
              </a:rPr>
              <a:t>Recall@K / MRR</a:t>
            </a:r>
            <a:endParaRPr lang="en-US" sz="1200" dirty="0"/>
          </a:p>
        </p:txBody>
      </p:sp>
      <p:sp>
        <p:nvSpPr>
          <p:cNvPr id="9" name="Shape 7"/>
          <p:cNvSpPr/>
          <p:nvPr/>
        </p:nvSpPr>
        <p:spPr>
          <a:xfrm>
            <a:off x="9829800" y="2304288"/>
            <a:ext cx="685800" cy="0"/>
          </a:xfrm>
          <a:prstGeom prst="line">
            <a:avLst/>
          </a:prstGeom>
          <a:solidFill>
            <a:srgbClr val="FFFFFF">
              <a:alpha val="0"/>
            </a:srgbClr>
          </a:solidFill>
          <a:ln w="15240">
            <a:solidFill>
              <a:srgbClr val="CBD5E1"/>
            </a:solidFill>
            <a:prstDash val="solid"/>
            <a:headEnd type="none"/>
            <a:tailEnd type="triangle"/>
          </a:ln>
        </p:spPr>
      </p:sp>
      <p:sp>
        <p:nvSpPr>
          <p:cNvPr id="10" name="Text 8"/>
          <p:cNvSpPr/>
          <p:nvPr/>
        </p:nvSpPr>
        <p:spPr>
          <a:xfrm>
            <a:off x="10698480" y="1920240"/>
            <a:ext cx="914400" cy="777240"/>
          </a:xfrm>
          <a:prstGeom prst="rect">
            <a:avLst/>
          </a:prstGeom>
          <a:solidFill>
            <a:srgbClr val="FFEDD5"/>
          </a:solidFill>
          <a:ln w="13970">
            <a:solidFill>
              <a:srgbClr val="EA580C"/>
            </a:solidFill>
          </a:ln>
        </p:spPr>
        <p:txBody>
          <a:bodyPr wrap="square" lIns="1016" tIns="1016" rIns="1016" bIns="1016" rtlCol="0" anchor="ctr">
            <a:normAutofit/>
          </a:bodyPr>
          <a:lstStyle/>
          <a:p>
            <a:pPr algn="ctr" indent="0" marL="0">
              <a:buNone/>
            </a:pPr>
            <a:r>
              <a:rPr lang="en-US" sz="1000" b="1" dirty="0">
                <a:solidFill>
                  <a:srgbClr val="111827"/>
                </a:solidFill>
              </a:rPr>
              <a:t>Tune</a:t>
            </a:r>
            <a:endParaRPr lang="en-US" sz="1000" dirty="0"/>
          </a:p>
          <a:p>
            <a:pPr algn="ctr" indent="0" marL="0">
              <a:buNone/>
            </a:pPr>
            <a:r>
              <a:rPr lang="en-US" sz="1000" b="1" dirty="0">
                <a:solidFill>
                  <a:srgbClr val="111827"/>
                </a:solidFill>
              </a:rPr>
              <a:t>model + index</a:t>
            </a:r>
            <a:endParaRPr lang="en-US" sz="1000" dirty="0"/>
          </a:p>
        </p:txBody>
      </p:sp>
      <p:sp>
        <p:nvSpPr>
          <p:cNvPr id="11" name="Text 9"/>
          <p:cNvSpPr/>
          <p:nvPr/>
        </p:nvSpPr>
        <p:spPr>
          <a:xfrm>
            <a:off x="914400" y="3794760"/>
            <a:ext cx="10241280" cy="1234440"/>
          </a:xfrm>
          <a:prstGeom prst="rect">
            <a:avLst/>
          </a:prstGeom>
          <a:noFill/>
          <a:ln/>
        </p:spPr>
        <p:txBody>
          <a:bodyPr wrap="square" lIns="508" tIns="508" rIns="508" bIns="508" rtlCol="0" anchor="t">
            <a:normAutofit/>
          </a:bodyPr>
          <a:lstStyle/>
          <a:p>
            <a:r>
              <a:rPr lang="en-US" sz="1400" dirty="0">
                <a:solidFill>
                  <a:srgbClr val="111827"/>
                </a:solidFill>
              </a:rPr>
              <a:t>Recall@K: did the right content appear in the top K?
</a:t>
            </a:r>
            <a:endParaRPr lang="en-US" sz="1400" dirty="0"/>
          </a:p>
          <a:p>
            <a:r>
              <a:rPr lang="en-US" sz="1400" dirty="0">
                <a:solidFill>
                  <a:srgbClr val="111827"/>
                </a:solidFill>
              </a:rPr>
              <a:t>MRR/NDCG: did the best answer appear near the top?
</a:t>
            </a:r>
            <a:endParaRPr lang="en-US" sz="1400" dirty="0"/>
          </a:p>
          <a:p>
            <a:r>
              <a:rPr lang="en-US" sz="1400" dirty="0">
                <a:solidFill>
                  <a:srgbClr val="111827"/>
                </a:solidFill>
              </a:rPr>
              <a:t>Latency/cost: can the system meet production SLAs?
</a:t>
            </a:r>
            <a:endParaRPr lang="en-US" sz="1400" dirty="0"/>
          </a:p>
          <a:p>
            <a:r>
              <a:rPr lang="en-US" sz="1400" dirty="0">
                <a:solidFill>
                  <a:srgbClr val="111827"/>
                </a:solidFill>
              </a:rPr>
              <a:t>A/B and human review: does it actually help users complete tasks?</a:t>
            </a:r>
            <a:endParaRPr lang="en-US" sz="14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Operational checklist</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The practical concerns that decide whether a vector-search system survives production.</a:t>
            </a:r>
            <a:endParaRPr lang="en-US" sz="1150" dirty="0"/>
          </a:p>
        </p:txBody>
      </p:sp>
      <p:sp>
        <p:nvSpPr>
          <p:cNvPr id="4" name="Text 2"/>
          <p:cNvSpPr/>
          <p:nvPr/>
        </p:nvSpPr>
        <p:spPr>
          <a:xfrm>
            <a:off x="868680" y="1417320"/>
            <a:ext cx="1920240" cy="438912"/>
          </a:xfrm>
          <a:prstGeom prst="rect">
            <a:avLst/>
          </a:prstGeom>
          <a:solidFill>
            <a:srgbClr val="DBEAFE"/>
          </a:solidFill>
          <a:ln w="13970">
            <a:solidFill>
              <a:srgbClr val="2563EB"/>
            </a:solidFill>
          </a:ln>
        </p:spPr>
        <p:txBody>
          <a:bodyPr wrap="square" lIns="1016" tIns="1016" rIns="1016" bIns="1016" rtlCol="0" anchor="ctr">
            <a:normAutofit/>
          </a:bodyPr>
          <a:lstStyle/>
          <a:p>
            <a:pPr algn="ctr" indent="0" marL="0">
              <a:buNone/>
            </a:pPr>
            <a:r>
              <a:rPr lang="en-US" sz="1200" b="1" dirty="0">
                <a:solidFill>
                  <a:srgbClr val="111827"/>
                </a:solidFill>
              </a:rPr>
              <a:t>Freshness</a:t>
            </a:r>
            <a:endParaRPr lang="en-US" sz="1200" dirty="0"/>
          </a:p>
        </p:txBody>
      </p:sp>
      <p:sp>
        <p:nvSpPr>
          <p:cNvPr id="5" name="Text 3"/>
          <p:cNvSpPr/>
          <p:nvPr/>
        </p:nvSpPr>
        <p:spPr>
          <a:xfrm>
            <a:off x="914400" y="2029968"/>
            <a:ext cx="1828800" cy="438912"/>
          </a:xfrm>
          <a:prstGeom prst="rect">
            <a:avLst/>
          </a:prstGeom>
          <a:noFill/>
          <a:ln/>
        </p:spPr>
        <p:txBody>
          <a:bodyPr wrap="square" lIns="381" tIns="381" rIns="381" bIns="381" rtlCol="0" anchor="ctr">
            <a:normAutofit/>
          </a:bodyPr>
          <a:lstStyle/>
          <a:p>
            <a:pPr algn="ctr" indent="0" marL="0">
              <a:buNone/>
            </a:pPr>
            <a:r>
              <a:rPr lang="en-US" sz="930" dirty="0">
                <a:solidFill>
                  <a:srgbClr val="4B5563"/>
                </a:solidFill>
              </a:rPr>
              <a:t>How quickly new/changed content becomes searchable</a:t>
            </a:r>
            <a:endParaRPr lang="en-US" sz="930" dirty="0"/>
          </a:p>
        </p:txBody>
      </p:sp>
      <p:sp>
        <p:nvSpPr>
          <p:cNvPr id="6" name="Text 4"/>
          <p:cNvSpPr/>
          <p:nvPr/>
        </p:nvSpPr>
        <p:spPr>
          <a:xfrm>
            <a:off x="4617720" y="1417320"/>
            <a:ext cx="1920240" cy="438912"/>
          </a:xfrm>
          <a:prstGeom prst="rect">
            <a:avLst/>
          </a:prstGeom>
          <a:solidFill>
            <a:srgbClr val="D1FAE5"/>
          </a:solidFill>
          <a:ln w="13970">
            <a:solidFill>
              <a:srgbClr val="059669"/>
            </a:solidFill>
          </a:ln>
        </p:spPr>
        <p:txBody>
          <a:bodyPr wrap="square" lIns="1016" tIns="1016" rIns="1016" bIns="1016" rtlCol="0" anchor="ctr">
            <a:normAutofit/>
          </a:bodyPr>
          <a:lstStyle/>
          <a:p>
            <a:pPr algn="ctr" indent="0" marL="0">
              <a:buNone/>
            </a:pPr>
            <a:r>
              <a:rPr lang="en-US" sz="1200" b="1" dirty="0">
                <a:solidFill>
                  <a:srgbClr val="111827"/>
                </a:solidFill>
              </a:rPr>
              <a:t>Security</a:t>
            </a:r>
            <a:endParaRPr lang="en-US" sz="1200" dirty="0"/>
          </a:p>
        </p:txBody>
      </p:sp>
      <p:sp>
        <p:nvSpPr>
          <p:cNvPr id="7" name="Text 5"/>
          <p:cNvSpPr/>
          <p:nvPr/>
        </p:nvSpPr>
        <p:spPr>
          <a:xfrm>
            <a:off x="4663440" y="2029968"/>
            <a:ext cx="1828800" cy="438912"/>
          </a:xfrm>
          <a:prstGeom prst="rect">
            <a:avLst/>
          </a:prstGeom>
          <a:noFill/>
          <a:ln/>
        </p:spPr>
        <p:txBody>
          <a:bodyPr wrap="square" lIns="381" tIns="381" rIns="381" bIns="381" rtlCol="0" anchor="ctr">
            <a:normAutofit/>
          </a:bodyPr>
          <a:lstStyle/>
          <a:p>
            <a:pPr algn="ctr" indent="0" marL="0">
              <a:buNone/>
            </a:pPr>
            <a:r>
              <a:rPr lang="en-US" sz="930" dirty="0">
                <a:solidFill>
                  <a:srgbClr val="4B5563"/>
                </a:solidFill>
              </a:rPr>
              <a:t>Permission-aware retrieval and auditability</a:t>
            </a:r>
            <a:endParaRPr lang="en-US" sz="930" dirty="0"/>
          </a:p>
        </p:txBody>
      </p:sp>
      <p:sp>
        <p:nvSpPr>
          <p:cNvPr id="8" name="Text 6"/>
          <p:cNvSpPr/>
          <p:nvPr/>
        </p:nvSpPr>
        <p:spPr>
          <a:xfrm>
            <a:off x="8366760" y="1417320"/>
            <a:ext cx="1920240" cy="438912"/>
          </a:xfrm>
          <a:prstGeom prst="rect">
            <a:avLst/>
          </a:prstGeom>
          <a:solidFill>
            <a:srgbClr val="EDE9FE"/>
          </a:solidFill>
          <a:ln w="13970">
            <a:solidFill>
              <a:srgbClr val="7C3AED"/>
            </a:solidFill>
          </a:ln>
        </p:spPr>
        <p:txBody>
          <a:bodyPr wrap="square" lIns="1016" tIns="1016" rIns="1016" bIns="1016" rtlCol="0" anchor="ctr">
            <a:normAutofit/>
          </a:bodyPr>
          <a:lstStyle/>
          <a:p>
            <a:pPr algn="ctr" indent="0" marL="0">
              <a:buNone/>
            </a:pPr>
            <a:r>
              <a:rPr lang="en-US" sz="1200" b="1" dirty="0">
                <a:solidFill>
                  <a:srgbClr val="111827"/>
                </a:solidFill>
              </a:rPr>
              <a:t>Scale</a:t>
            </a:r>
            <a:endParaRPr lang="en-US" sz="1200" dirty="0"/>
          </a:p>
        </p:txBody>
      </p:sp>
      <p:sp>
        <p:nvSpPr>
          <p:cNvPr id="9" name="Text 7"/>
          <p:cNvSpPr/>
          <p:nvPr/>
        </p:nvSpPr>
        <p:spPr>
          <a:xfrm>
            <a:off x="8412480" y="2029968"/>
            <a:ext cx="1828800" cy="438912"/>
          </a:xfrm>
          <a:prstGeom prst="rect">
            <a:avLst/>
          </a:prstGeom>
          <a:noFill/>
          <a:ln/>
        </p:spPr>
        <p:txBody>
          <a:bodyPr wrap="square" lIns="381" tIns="381" rIns="381" bIns="381" rtlCol="0" anchor="ctr">
            <a:normAutofit/>
          </a:bodyPr>
          <a:lstStyle/>
          <a:p>
            <a:pPr algn="ctr" indent="0" marL="0">
              <a:buNone/>
            </a:pPr>
            <a:r>
              <a:rPr lang="en-US" sz="930" dirty="0">
                <a:solidFill>
                  <a:srgbClr val="4B5563"/>
                </a:solidFill>
              </a:rPr>
              <a:t>Memory, storage, shard/replica strategy, query rate</a:t>
            </a:r>
            <a:endParaRPr lang="en-US" sz="930" dirty="0"/>
          </a:p>
        </p:txBody>
      </p:sp>
      <p:sp>
        <p:nvSpPr>
          <p:cNvPr id="10" name="Text 8"/>
          <p:cNvSpPr/>
          <p:nvPr/>
        </p:nvSpPr>
        <p:spPr>
          <a:xfrm>
            <a:off x="868680" y="3291840"/>
            <a:ext cx="1920240" cy="438912"/>
          </a:xfrm>
          <a:prstGeom prst="rect">
            <a:avLst/>
          </a:prstGeom>
          <a:solidFill>
            <a:srgbClr val="FFEDD5"/>
          </a:solidFill>
          <a:ln w="13970">
            <a:solidFill>
              <a:srgbClr val="EA580C"/>
            </a:solidFill>
          </a:ln>
        </p:spPr>
        <p:txBody>
          <a:bodyPr wrap="square" lIns="1016" tIns="1016" rIns="1016" bIns="1016" rtlCol="0" anchor="ctr">
            <a:normAutofit/>
          </a:bodyPr>
          <a:lstStyle/>
          <a:p>
            <a:pPr algn="ctr" indent="0" marL="0">
              <a:buNone/>
            </a:pPr>
            <a:r>
              <a:rPr lang="en-US" sz="1200" b="1" dirty="0">
                <a:solidFill>
                  <a:srgbClr val="111827"/>
                </a:solidFill>
              </a:rPr>
              <a:t>Observability</a:t>
            </a:r>
            <a:endParaRPr lang="en-US" sz="1200" dirty="0"/>
          </a:p>
        </p:txBody>
      </p:sp>
      <p:sp>
        <p:nvSpPr>
          <p:cNvPr id="11" name="Text 9"/>
          <p:cNvSpPr/>
          <p:nvPr/>
        </p:nvSpPr>
        <p:spPr>
          <a:xfrm>
            <a:off x="914400" y="3904488"/>
            <a:ext cx="1828800" cy="438912"/>
          </a:xfrm>
          <a:prstGeom prst="rect">
            <a:avLst/>
          </a:prstGeom>
          <a:noFill/>
          <a:ln/>
        </p:spPr>
        <p:txBody>
          <a:bodyPr wrap="square" lIns="381" tIns="381" rIns="381" bIns="381" rtlCol="0" anchor="ctr">
            <a:normAutofit/>
          </a:bodyPr>
          <a:lstStyle/>
          <a:p>
            <a:pPr algn="ctr" indent="0" marL="0">
              <a:buNone/>
            </a:pPr>
            <a:r>
              <a:rPr lang="en-US" sz="930" dirty="0">
                <a:solidFill>
                  <a:srgbClr val="4B5563"/>
                </a:solidFill>
              </a:rPr>
              <a:t>Latency, recall checks, empty-result rate, drift</a:t>
            </a:r>
            <a:endParaRPr lang="en-US" sz="930" dirty="0"/>
          </a:p>
        </p:txBody>
      </p:sp>
      <p:sp>
        <p:nvSpPr>
          <p:cNvPr id="12" name="Text 10"/>
          <p:cNvSpPr/>
          <p:nvPr/>
        </p:nvSpPr>
        <p:spPr>
          <a:xfrm>
            <a:off x="4617720" y="3291840"/>
            <a:ext cx="1920240" cy="438912"/>
          </a:xfrm>
          <a:prstGeom prst="rect">
            <a:avLst/>
          </a:prstGeom>
          <a:solidFill>
            <a:srgbClr val="FEE2E2"/>
          </a:solidFill>
          <a:ln w="13970">
            <a:solidFill>
              <a:srgbClr val="DC2626"/>
            </a:solidFill>
          </a:ln>
        </p:spPr>
        <p:txBody>
          <a:bodyPr wrap="square" lIns="1016" tIns="1016" rIns="1016" bIns="1016" rtlCol="0" anchor="ctr">
            <a:normAutofit/>
          </a:bodyPr>
          <a:lstStyle/>
          <a:p>
            <a:pPr algn="ctr" indent="0" marL="0">
              <a:buNone/>
            </a:pPr>
            <a:r>
              <a:rPr lang="en-US" sz="1200" b="1" dirty="0">
                <a:solidFill>
                  <a:srgbClr val="111827"/>
                </a:solidFill>
              </a:rPr>
              <a:t>Lifecycle</a:t>
            </a:r>
            <a:endParaRPr lang="en-US" sz="1200" dirty="0"/>
          </a:p>
        </p:txBody>
      </p:sp>
      <p:sp>
        <p:nvSpPr>
          <p:cNvPr id="13" name="Text 11"/>
          <p:cNvSpPr/>
          <p:nvPr/>
        </p:nvSpPr>
        <p:spPr>
          <a:xfrm>
            <a:off x="4663440" y="3904488"/>
            <a:ext cx="1828800" cy="438912"/>
          </a:xfrm>
          <a:prstGeom prst="rect">
            <a:avLst/>
          </a:prstGeom>
          <a:noFill/>
          <a:ln/>
        </p:spPr>
        <p:txBody>
          <a:bodyPr wrap="square" lIns="381" tIns="381" rIns="381" bIns="381" rtlCol="0" anchor="ctr">
            <a:normAutofit/>
          </a:bodyPr>
          <a:lstStyle/>
          <a:p>
            <a:pPr algn="ctr" indent="0" marL="0">
              <a:buNone/>
            </a:pPr>
            <a:r>
              <a:rPr lang="en-US" sz="930" dirty="0">
                <a:solidFill>
                  <a:srgbClr val="4B5563"/>
                </a:solidFill>
              </a:rPr>
              <a:t>Deletes, versioning, compaction, re-embedding migrations</a:t>
            </a:r>
            <a:endParaRPr lang="en-US" sz="930" dirty="0"/>
          </a:p>
        </p:txBody>
      </p:sp>
      <p:sp>
        <p:nvSpPr>
          <p:cNvPr id="14" name="Text 12"/>
          <p:cNvSpPr/>
          <p:nvPr/>
        </p:nvSpPr>
        <p:spPr>
          <a:xfrm>
            <a:off x="8366760" y="3291840"/>
            <a:ext cx="1920240" cy="438912"/>
          </a:xfrm>
          <a:prstGeom prst="rect">
            <a:avLst/>
          </a:prstGeom>
          <a:solidFill>
            <a:srgbClr val="CFFAFE"/>
          </a:solidFill>
          <a:ln w="13970">
            <a:solidFill>
              <a:srgbClr val="0891B2"/>
            </a:solidFill>
          </a:ln>
        </p:spPr>
        <p:txBody>
          <a:bodyPr wrap="square" lIns="1016" tIns="1016" rIns="1016" bIns="1016" rtlCol="0" anchor="ctr">
            <a:normAutofit/>
          </a:bodyPr>
          <a:lstStyle/>
          <a:p>
            <a:pPr algn="ctr" indent="0" marL="0">
              <a:buNone/>
            </a:pPr>
            <a:r>
              <a:rPr lang="en-US" sz="1200" b="1" dirty="0">
                <a:solidFill>
                  <a:srgbClr val="111827"/>
                </a:solidFill>
              </a:rPr>
              <a:t>Cost</a:t>
            </a:r>
            <a:endParaRPr lang="en-US" sz="1200" dirty="0"/>
          </a:p>
        </p:txBody>
      </p:sp>
      <p:sp>
        <p:nvSpPr>
          <p:cNvPr id="15" name="Text 13"/>
          <p:cNvSpPr/>
          <p:nvPr/>
        </p:nvSpPr>
        <p:spPr>
          <a:xfrm>
            <a:off x="8412480" y="3904488"/>
            <a:ext cx="1828800" cy="438912"/>
          </a:xfrm>
          <a:prstGeom prst="rect">
            <a:avLst/>
          </a:prstGeom>
          <a:noFill/>
          <a:ln/>
        </p:spPr>
        <p:txBody>
          <a:bodyPr wrap="square" lIns="381" tIns="381" rIns="381" bIns="381" rtlCol="0" anchor="ctr">
            <a:normAutofit/>
          </a:bodyPr>
          <a:lstStyle/>
          <a:p>
            <a:pPr algn="ctr" indent="0" marL="0">
              <a:buNone/>
            </a:pPr>
            <a:r>
              <a:rPr lang="en-US" sz="930" dirty="0">
                <a:solidFill>
                  <a:srgbClr val="4B5563"/>
                </a:solidFill>
              </a:rPr>
              <a:t>Embedding cost, index memory, reranker/model cost</a:t>
            </a:r>
            <a:endParaRPr lang="en-US" sz="930" dirty="0"/>
          </a:p>
        </p:txBody>
      </p:sp>
      <p:sp>
        <p:nvSpPr>
          <p:cNvPr id="16" name="Text 14"/>
          <p:cNvSpPr/>
          <p:nvPr/>
        </p:nvSpPr>
        <p:spPr>
          <a:xfrm>
            <a:off x="1097280" y="5486400"/>
            <a:ext cx="9875520" cy="411480"/>
          </a:xfrm>
          <a:prstGeom prst="rect">
            <a:avLst/>
          </a:prstGeom>
          <a:noFill/>
          <a:ln/>
        </p:spPr>
        <p:txBody>
          <a:bodyPr wrap="square" lIns="381" tIns="381" rIns="381" bIns="381" rtlCol="0" anchor="ctr">
            <a:normAutofit/>
          </a:bodyPr>
          <a:lstStyle/>
          <a:p>
            <a:pPr algn="ctr" indent="0" marL="0">
              <a:buNone/>
            </a:pPr>
            <a:r>
              <a:rPr lang="en-US" sz="1550" b="1" dirty="0">
                <a:solidFill>
                  <a:srgbClr val="111827"/>
                </a:solidFill>
              </a:rPr>
              <a:t>Most failures are not caused by cosine similarity; they are caused by data quality, filters, updates, evaluation gaps, and governance.</a:t>
            </a:r>
            <a:endParaRPr lang="en-US" sz="155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66928"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Key takeaways</a:t>
            </a:r>
            <a:endParaRPr lang="en-US" sz="2400" dirty="0"/>
          </a:p>
        </p:txBody>
      </p:sp>
      <p:sp>
        <p:nvSpPr>
          <p:cNvPr id="3" name="Text 1"/>
          <p:cNvSpPr/>
          <p:nvPr/>
        </p:nvSpPr>
        <p:spPr>
          <a:xfrm>
            <a:off x="585216" y="804672"/>
            <a:ext cx="9875520" cy="292608"/>
          </a:xfrm>
          <a:prstGeom prst="rect">
            <a:avLst/>
          </a:prstGeom>
          <a:noFill/>
          <a:ln/>
        </p:spPr>
        <p:txBody>
          <a:bodyPr wrap="square" lIns="0" tIns="0" rIns="0" bIns="0" rtlCol="0" anchor="ctr"/>
          <a:lstStyle/>
          <a:p>
            <a:pPr indent="0" marL="0">
              <a:buNone/>
            </a:pPr>
            <a:r>
              <a:rPr lang="en-US" sz="1150" dirty="0">
                <a:solidFill>
                  <a:srgbClr val="4B5563"/>
                </a:solidFill>
              </a:rPr>
              <a:t>A concise ending the audience can remember.</a:t>
            </a:r>
            <a:endParaRPr lang="en-US" sz="1150" dirty="0"/>
          </a:p>
        </p:txBody>
      </p:sp>
      <p:sp>
        <p:nvSpPr>
          <p:cNvPr id="4" name="Text 2"/>
          <p:cNvSpPr/>
          <p:nvPr/>
        </p:nvSpPr>
        <p:spPr>
          <a:xfrm>
            <a:off x="1051560" y="1508760"/>
            <a:ext cx="9966960" cy="2194560"/>
          </a:xfrm>
          <a:prstGeom prst="rect">
            <a:avLst/>
          </a:prstGeom>
          <a:noFill/>
          <a:ln/>
        </p:spPr>
        <p:txBody>
          <a:bodyPr wrap="square" lIns="508" tIns="508" rIns="508" bIns="508" rtlCol="0" anchor="t">
            <a:normAutofit/>
          </a:bodyPr>
          <a:lstStyle/>
          <a:p>
            <a:r>
              <a:rPr lang="en-US" sz="1600" dirty="0">
                <a:solidFill>
                  <a:srgbClr val="111827"/>
                </a:solidFill>
              </a:rPr>
              <a:t>Vector databases search by meaning, not only exact words.
</a:t>
            </a:r>
            <a:endParaRPr lang="en-US" sz="1600" dirty="0"/>
          </a:p>
          <a:p>
            <a:r>
              <a:rPr lang="en-US" sz="1600" dirty="0">
                <a:solidFill>
                  <a:srgbClr val="111827"/>
                </a:solidFill>
              </a:rPr>
              <a:t>Embeddings are learned numerical representations; use one model and metric consistently.
</a:t>
            </a:r>
            <a:endParaRPr lang="en-US" sz="1600" dirty="0"/>
          </a:p>
          <a:p>
            <a:r>
              <a:rPr lang="en-US" sz="1600" dirty="0">
                <a:solidFill>
                  <a:srgbClr val="111827"/>
                </a:solidFill>
              </a:rPr>
              <a:t>ANN indexes such as HNSW and IVF make nearest-neighbor search fast enough for production.
</a:t>
            </a:r>
            <a:endParaRPr lang="en-US" sz="1600" dirty="0"/>
          </a:p>
          <a:p>
            <a:r>
              <a:rPr lang="en-US" sz="1600" dirty="0">
                <a:solidFill>
                  <a:srgbClr val="111827"/>
                </a:solidFill>
              </a:rPr>
              <a:t>Metadata, chunking, hybrid search, and evaluation are as important as the index algorithm.
</a:t>
            </a:r>
            <a:endParaRPr lang="en-US" sz="1600" dirty="0"/>
          </a:p>
          <a:p>
            <a:r>
              <a:rPr lang="en-US" sz="1600" dirty="0">
                <a:solidFill>
                  <a:srgbClr val="111827"/>
                </a:solidFill>
              </a:rPr>
              <a:t>RAG quality depends on retrieving the right context before asking the LLM to answer.</a:t>
            </a:r>
            <a:endParaRPr lang="en-US" sz="1600" dirty="0"/>
          </a:p>
        </p:txBody>
      </p:sp>
      <p:sp>
        <p:nvSpPr>
          <p:cNvPr id="5" name="Text 3"/>
          <p:cNvSpPr/>
          <p:nvPr/>
        </p:nvSpPr>
        <p:spPr>
          <a:xfrm>
            <a:off x="1097280" y="5029200"/>
            <a:ext cx="9784080" cy="502920"/>
          </a:xfrm>
          <a:prstGeom prst="rect">
            <a:avLst/>
          </a:prstGeom>
          <a:noFill/>
          <a:ln/>
        </p:spPr>
        <p:txBody>
          <a:bodyPr wrap="square" lIns="254" tIns="254" rIns="254" bIns="254" rtlCol="0" anchor="ctr">
            <a:normAutofit/>
          </a:bodyPr>
          <a:lstStyle/>
          <a:p>
            <a:pPr algn="ctr" indent="0" marL="0">
              <a:buNone/>
            </a:pPr>
            <a:r>
              <a:rPr lang="en-US" sz="1800" b="1" dirty="0">
                <a:solidFill>
                  <a:srgbClr val="2563EB"/>
                </a:solidFill>
              </a:rPr>
              <a:t>Suggested Q&amp;A prompt: “Which part of our current search problem is lexical, semantic, filtering, or governance?”</a:t>
            </a:r>
            <a:endParaRPr lang="en-US" sz="18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latin typeface="Aptos"/>
                <a:ea typeface="Aptos"/>
                <a:cs typeface="Aptos"/>
              </a:defRPr>
            </a:lvl1pPr>
          </a:lstStyle>
          <a:p>
            <a:pPr algn="l"/>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Vector Databases: From Vectors to RAG</dc:title>
  <dc:subject>Vector Databases Presentation</dc:subject>
  <dc:creator>OpenAI</dc:creator>
  <cp:lastModifiedBy>OpenAI</cp:lastModifiedBy>
  <cp:revision>1</cp:revision>
  <dcterms:created xsi:type="dcterms:W3CDTF">2026-09-23T10:56:26Z</dcterms:created>
  <dcterms:modified xsi:type="dcterms:W3CDTF">2026-09-23T10:56:26Z</dcterms:modified>
</cp:coreProperties>
</file>